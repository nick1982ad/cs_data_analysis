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56" r:id="rId2"/>
    <p:sldId id="357" r:id="rId3"/>
    <p:sldId id="426" r:id="rId4"/>
    <p:sldId id="338" r:id="rId5"/>
    <p:sldId id="410" r:id="rId6"/>
    <p:sldId id="420" r:id="rId7"/>
    <p:sldId id="421" r:id="rId8"/>
    <p:sldId id="411" r:id="rId9"/>
    <p:sldId id="412" r:id="rId10"/>
    <p:sldId id="413" r:id="rId11"/>
    <p:sldId id="414" r:id="rId12"/>
    <p:sldId id="415" r:id="rId13"/>
    <p:sldId id="416" r:id="rId14"/>
    <p:sldId id="417" r:id="rId15"/>
    <p:sldId id="418" r:id="rId16"/>
    <p:sldId id="419" r:id="rId17"/>
    <p:sldId id="422" r:id="rId18"/>
    <p:sldId id="423" r:id="rId19"/>
    <p:sldId id="425" r:id="rId20"/>
    <p:sldId id="424" r:id="rId21"/>
    <p:sldId id="428" r:id="rId22"/>
    <p:sldId id="429" r:id="rId23"/>
    <p:sldId id="431" r:id="rId24"/>
    <p:sldId id="430" r:id="rId25"/>
    <p:sldId id="432" r:id="rId26"/>
    <p:sldId id="434" r:id="rId27"/>
    <p:sldId id="436" r:id="rId28"/>
    <p:sldId id="435" r:id="rId29"/>
    <p:sldId id="437" r:id="rId30"/>
    <p:sldId id="438" r:id="rId31"/>
    <p:sldId id="439" r:id="rId32"/>
    <p:sldId id="440" r:id="rId33"/>
    <p:sldId id="441" r:id="rId34"/>
    <p:sldId id="427" r:id="rId35"/>
    <p:sldId id="442" r:id="rId36"/>
    <p:sldId id="443" r:id="rId37"/>
    <p:sldId id="444" r:id="rId38"/>
    <p:sldId id="445" r:id="rId39"/>
    <p:sldId id="446" r:id="rId40"/>
    <p:sldId id="447" r:id="rId41"/>
    <p:sldId id="448" r:id="rId42"/>
    <p:sldId id="449" r:id="rId43"/>
    <p:sldId id="456" r:id="rId44"/>
    <p:sldId id="450" r:id="rId45"/>
    <p:sldId id="457" r:id="rId46"/>
    <p:sldId id="455" r:id="rId47"/>
    <p:sldId id="458" r:id="rId48"/>
    <p:sldId id="459" r:id="rId49"/>
    <p:sldId id="460" r:id="rId50"/>
    <p:sldId id="451" r:id="rId51"/>
    <p:sldId id="462" r:id="rId52"/>
    <p:sldId id="461" r:id="rId53"/>
    <p:sldId id="453" r:id="rId54"/>
    <p:sldId id="463" r:id="rId55"/>
    <p:sldId id="465" r:id="rId56"/>
    <p:sldId id="466" r:id="rId57"/>
    <p:sldId id="464" r:id="rId58"/>
    <p:sldId id="470" r:id="rId59"/>
    <p:sldId id="468" r:id="rId60"/>
    <p:sldId id="469" r:id="rId61"/>
    <p:sldId id="454" r:id="rId62"/>
    <p:sldId id="472" r:id="rId63"/>
    <p:sldId id="471" r:id="rId64"/>
    <p:sldId id="473" r:id="rId65"/>
    <p:sldId id="452" r:id="rId66"/>
    <p:sldId id="475" r:id="rId67"/>
    <p:sldId id="476" r:id="rId68"/>
    <p:sldId id="478" r:id="rId69"/>
    <p:sldId id="479" r:id="rId70"/>
    <p:sldId id="480" r:id="rId71"/>
    <p:sldId id="481" r:id="rId72"/>
    <p:sldId id="318" r:id="rId7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C4F4"/>
    <a:srgbClr val="FF7474"/>
    <a:srgbClr val="7030A0"/>
    <a:srgbClr val="556F43"/>
    <a:srgbClr val="FFC000"/>
    <a:srgbClr val="8DBA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15" autoAdjust="0"/>
    <p:restoredTop sz="90465" autoAdjust="0"/>
  </p:normalViewPr>
  <p:slideViewPr>
    <p:cSldViewPr snapToGrid="0">
      <p:cViewPr varScale="1">
        <p:scale>
          <a:sx n="102" d="100"/>
          <a:sy n="102" d="100"/>
        </p:scale>
        <p:origin x="6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67A74-FEEF-45B0-ABD3-14EA22804807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A7E3A-ADC7-4226-B3BF-DCB7408A14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084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772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107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54D55-07DB-988F-71B9-634976D6E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37459CF-6A8D-E2D8-E7B4-8895AFCA9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AEAA11B-7F01-F540-9D0C-9BF2CA5E6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C2D3678-DCB4-B23E-F67C-630DD2309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118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9F552-BB49-C52A-9B0A-AFEA9AC33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5863F18-0E7E-7678-4D4D-992A3F672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BD4B677-209F-927E-E13B-17FB51244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5489AC-8F45-0902-D2B6-11FF281C9A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548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74BD4-1AFF-3C9B-FB0B-A3A2F448A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3456976-65BB-5162-D064-5264D1545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60501FA-EC34-3E8E-0A96-B4DA39748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F03073-7159-E6BF-D1AB-03EC538F4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702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70016-90D6-D395-AC48-4EBF2E070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E71AB16-BE99-80CA-23C3-A132335F8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E6B63D7-1A25-D622-45AE-4A6D73800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DD2B1A-A4A6-D3A1-EB6B-5887BABE4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6717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4EDBC-CCEF-457A-6355-41869A5B3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65692C4-2C05-0A1B-66CA-1E17DEBE2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75B1E36-7F2D-E74C-2FC2-ADBC07A75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92C4A5-C95E-72E5-6785-172249711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601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FF8B-A522-AB72-0AAA-404002619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122CACB-E4AA-07EA-D449-F09012832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5419C24-3E65-3791-B377-5655A5164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6CAFB2-B616-C426-AA0A-C56AA9C63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107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88620-3D63-863F-64CD-051EDA1EE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2AC51FC-4426-9B45-A244-0D3825991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B58E1F7-9646-D080-63E3-9548C2672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6DE236-C527-B58F-7F9F-78CA871B2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094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F23B3-1E58-0078-813A-1CFF0BE3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C70670F-A7E7-D76F-0898-32FDAF461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A67BF67-6C47-8B6F-989B-A3FBBEFD9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0CAE82-FD51-C3DC-65FE-71A8DFF42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304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F5F21-144B-EFE3-3056-3789A80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5303DBA-1A2B-C443-F316-E3A486715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BCB6A34-F050-20A4-C80B-B17150E6B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EEFE6B-DB05-8EB9-A1B9-DBBF75903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235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2D07-2C8F-5301-D1A4-0169CE266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C98809-2B8E-48B2-33DA-33FECAFBA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941BFD0-213F-1392-20FC-E21D335CA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D69E54-F2E6-EE46-8E9B-8E34640D3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99243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B51EE-8F7A-E61C-677C-418564763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FDAA97C-31BA-355A-5CFA-427E0653F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9C4D33-D0BB-EA91-C22D-98A12789E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714A29-9776-ED01-B6F0-1F35AAF6FE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391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C2FED-6D3B-BB83-1550-CFFDDB2C0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1EEF686-AF1A-B1A3-0A92-ABC5499AA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D43B979-0442-F7A3-ACA1-AC39D1DD2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08837F-2ECB-B5AC-CB8A-DEC06324F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1370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B768B-1BD0-235B-37B1-0D637EDB0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9601E64-6EE9-BD4D-67B1-797BA7BA2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68801CB-73B9-28F2-075F-25FC3329D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1634B0-EDF3-E6A1-1C20-1C9536DEF2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4255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D4D88-66D4-9848-735F-40D456DFE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DD3EEA8-E713-5DEE-E08A-A9A25F094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40F9E6F-CB23-660C-8C47-2085966C5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EB0E38-2EC1-D741-7507-85C7BF96D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0283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75A1-8A9A-D933-FCEA-F567623DE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D55FADE-66C3-812A-8CEF-3D9208437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ABD1E9D-DF35-BA6C-A538-44C2A17A5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BDE403-2EDF-4621-048B-CB59389C1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7021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2B8A6-19B2-BB9E-003B-DF06C21B8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4F21CDA-A3FF-1665-190D-DC87C9237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BBFB3E1-268C-DBF0-668A-0E89B15A0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CCA4D2-A9D3-C744-A28E-44A8FD984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915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063CA-466E-B420-DB20-1D7C4CBD8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E5EAE86-014B-E0A4-786D-2CDD2E8C2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C0643C2-AB6E-6AFB-E5D0-D92069618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A3E61A-3234-D2A1-133A-A77890501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35486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D7744-5D91-79A6-645E-01BCF0065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89C1A2C-0A11-3941-7D8C-8F2977BEC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1BDB232-81AA-5FF9-A541-E5FF62026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E6F57D-D48A-2DD0-2AA5-D1645EE02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3738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2BA0F-7ADC-F93E-F4EC-BBAF82E91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C3EFB72-D2F0-9A7D-89ED-95A043B2C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4AE7233-C740-D5BB-9E72-C4E09FE16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7CB3C5-B804-A7B3-151E-6241A67BD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4406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3992E-8B6E-17EA-8DD9-F5973E6A4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6FBEEB2-DE16-9888-E080-E599EFDE0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3FA92BF-265F-37F5-0641-9C91C6D00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059EB3-E2C7-9182-D258-785408A10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742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AE706-C52B-354A-0252-6FE2F8097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27D6301-1C24-45E2-A153-FFBE4644D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264E262-9DF4-C730-D46B-787243A95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AFFC7A-AD7C-6FC8-8136-13FCC8496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3936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E1F27-58A4-7141-2DAB-826253BCA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6BACCBE-A191-8404-0181-AB63E903B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CD1D82-015C-FBC0-AB0B-7461232D9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645316-36B9-F44D-245F-9BBC76892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6421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30BAE-8D90-3EC0-2C65-4021543AE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F66F0D1-686A-83FE-3713-FA7DEF184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8F33D2F-DE12-DEF1-7092-41453BBD2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9493C4-E75C-5D0A-4BB5-86E2FA9CA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4967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17635-BECC-0EF3-C629-09CB022AE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5292BED-8685-4F4C-72A8-D5428E016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D74D5FB-1C08-909F-1383-E31AA97B7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C9B8DE-FBC8-78AC-F507-A4A0BABEF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8787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5C93A-051B-563D-BE28-47A1C023B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E52292D-328B-F6A3-B569-3D3BBA732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D841203-8CEF-2670-7442-AFDC4A941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D6C47E-07DE-624B-092E-B8453F160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9544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BB460-EB9A-A7AE-2AA2-74DC419F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CB320DD-1BA0-265F-0088-E7A374EE5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CD0B9F8-B343-A4B6-8DEC-067D811D7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17E316-AE0D-A3F6-CAC7-437D8F62E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7754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88597-FDFB-1F4D-FBA6-4116F4C3B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985F700-C163-B2A6-5B66-B7DE0291F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05C916B-2C76-003A-8A33-B15084501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44CD46-BB83-753F-7282-7AFD59770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444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6A195-7146-F83E-3194-A1985C46D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E72519A-34AD-ECE8-B885-0D2221A92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08DF683-E3AA-9B08-8D49-E5C3125F7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8D4572-C96D-4309-D7A2-8B4A6FB07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2778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66969-5AF2-34DC-1AC2-3C5CAD5FE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F7D706A-12C7-8DB2-EA6F-4DA1A3BD9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287A047-39CC-CF77-3499-F46D72BB9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63CBF2-02D3-2B99-55A8-9418B8C9C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9810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9C33-A02C-BE7C-F7FD-F06B9BE11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7414C3A-B273-1061-A2BD-EEDD2C3DF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927B6A6-45D1-DC12-5B16-47887EFC0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AFFB7F-C2C1-A2FB-A3DA-912A1A274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5363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1C30A-CCBD-CAB0-7BB5-0746746A8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2FD3A2C-ACF8-8207-D2AE-BD141F743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B143BD8-933B-A4B5-AC9A-9A8D8B2A5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F58E7B-BA8F-3272-8B50-1777A21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6810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7AE1A-E833-9BB9-6230-0E3CC0819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282E543-9F72-4E1B-2D60-61EC8A697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6249CD2-A8DA-606C-990D-FCB6B25B9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4B4137-B420-FE12-766E-09B2336854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21447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3A86A-BB36-A71E-AF30-7A4346631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24CF00E-3EBB-97A6-6EC8-C30FA4F9C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D96FC11-2212-8305-E743-9E996FE1F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95C126-05C2-F6CD-21B4-870442218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6032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69DBA-9A84-420A-F1D5-3E8F883F6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19A1A93-83AA-C30F-D639-111ABDCC6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B4D588C-2530-01C1-34DA-11C5A2898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88363E-3DBB-127B-9458-4358C8940E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1229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EE9A8-B921-C140-45CF-E7DE12CD5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647201B-FCC5-A73D-944B-C1D9E0C91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144E383-5639-BAF5-958E-011DC5D6B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57AA4A-811E-28BD-B5BD-F90A7518E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04514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BCEA6-F535-58F7-E486-8C7709C8E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3385F87-6CFC-7184-BD0C-AEBFD05BB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AC314A4-0499-EBA9-EB9A-17537CC3B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7CEDAA-02A2-988B-3C9C-A72B779F37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86145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41FA0-2A70-BBAB-3BD7-6AB72BA49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853BC02-AB7A-6A5A-B2AF-D17C1CA1A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D087282-F8DB-9219-0D13-EF4E55994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33039E-C440-3A8A-80CE-EF8FA4445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934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D34D8-D993-13A4-9D44-47719FBB3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9D07754-038F-F30C-378F-36A2ECDEE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BEC4C04-9426-60D3-710A-A73BBEA74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E8E9AD-823C-C1AA-2E41-849A89715F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28788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16E69-F8F6-33BE-E251-3EF56D37F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0CDCB77-C0AD-7354-7469-137800709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51E4B23-3303-357E-1B5D-BACFD9E10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243C09-14F3-F049-7AD8-500C4050AF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14102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119F-FB0D-F203-C2A3-4BC9BB96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437FCB9-40AC-26D8-ABDA-CD24AEDB9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4111B5E-C714-E339-0D6A-0D2D8D932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10F119-DB60-51B2-9151-35BD05ED21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9825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A338F-555B-BBF8-5850-5595B2F6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2F8116B-3DB3-21E8-D962-2942E03152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31F466F-D15F-109E-E6B6-E1DBBE18A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3EA1DB-E337-73EF-0077-D26DB4D50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0606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6ED5D-2121-2727-B1A2-BCE99770F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E61AC2E-EDE5-93AE-29D8-DD858C533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448F041-884F-AB53-DBC3-CEDB52A30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D7A3C1-E581-3DA7-C379-2CAEFE454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831306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7FB01-C0C6-BC71-E0B7-1B71855D8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70B7CA2-2045-19D4-CAFD-47EBAEC85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D4CEA7D-8238-AE21-AFB4-12AD0B9AA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886635-D5F3-C67A-4AB2-0CD05F6D0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6534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4A86E-E045-65B7-3930-D50FB988D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434340D-76B7-8D40-6BFD-BE5ECEE66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1625A5E-19F6-FDF8-F493-0A430B0C4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92128F-1ABF-237B-2EE9-30FCDEE8FC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73133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24164-F1DD-4FAB-4EDB-D623A842E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DD42FB8-D698-5744-884D-80AB4ED81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41F7D00-8F8A-5125-9E8E-BCBFDFB69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325E9A-C9D0-45EC-2ED7-2E08CB79D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24704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F0840-FD68-55A1-26AF-49E7B7555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BA91654-265D-02CE-DFF8-137055B99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6EA892E-5CB1-83C6-0D38-13231C83A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33E718-4970-4E19-D154-A1F4AB8CD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30863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E4682-5074-10F6-4D4E-1D9546D57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8D69C03-500E-4185-51FE-06D9F604B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8A006E6-01D2-C185-5A1D-C2CAE02D3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EE4465-C715-9D34-58D3-1513BFC89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41249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39EE3-CED3-9D4D-604C-C45565CAE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6929A7C-3563-905E-C9AD-D5D5658AF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CB16748-7C29-84F9-406A-861313552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34E006-4D28-629B-90A2-AD97D63D6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7822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CA55E-8B32-5DAA-ADD2-EDB898840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9E98532-F40F-8563-E43F-4369CC248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72B080E-977D-0723-1EC3-66E610CE0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C8F370-5C3D-49AB-43FB-3FF342D4B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81073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C43C9-DE5D-36EE-6C38-086D61305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F7D6E13-F4AF-6221-A7BB-D16986AD1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C4A5DF6-ACD0-B769-C265-16486D31E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8E2267-5D31-7806-669B-BD64B1CD4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96836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3A624-0214-4FD6-421C-8AC8395F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E45AD2D-2EAA-2FF0-3EF6-C10125C00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776A493-FADB-3DE7-DF48-EC7DEEF75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9402BA-CBE8-EA02-2A72-3C3C8E52E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86983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48300-8536-734B-0237-F44ED10CC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07D9B86-72B4-5EC2-B07D-046D78B45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5B048B9-E2A1-676B-47C9-56802C817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AF8312-CBB8-65D9-E2C7-5AE616D3F2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1591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85AE5-2883-763E-7A8C-8F3FDEA7F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167663-A36D-3E02-CAD0-711418922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DB2FAAB-9C5C-1AB9-5013-30780A109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61FE42-CD18-F9C2-C547-B35EA1BA9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690350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6F625-49FD-D696-9135-E67D4F28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DF96626-B4F1-2BAA-2F57-165E3326B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90CBAAB-CC72-3E0D-BCD5-AAC63A991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2B9D0D-232E-4C87-00C3-18D81110D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836666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64F30-F6EF-80FF-C19E-122584A28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E71E369-7813-A767-878E-671D3C90D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F4BA32C-7E10-1DA4-20AF-E9E3CFA29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36096F-1984-2A77-ADB9-F97B43C3B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68961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D2C91-BB74-442A-76A8-378A66C00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7388863-D393-41E5-5427-C6EE24350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2FDA23-B15A-681B-549F-3A2463F82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FBF8FF-DF21-826E-E18E-2F8659C12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15134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965BB-1B8F-ABC9-D811-15D024EA0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0DFDD5B-2925-9D04-D9B5-04B1BCA04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40D6D70-64CE-A795-5293-70CA034EE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C96EE2-F7AE-8683-BC6F-79AFBAA06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6490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AED60-A236-86C5-4E4C-B93BD1947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DDF48F3-27B9-FC07-65C0-07CEB5374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1A99A82-74AA-8189-DC53-C6CECA5E4F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97CF7C-896C-80C9-02CB-948CE44129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63577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23990-F6C1-32BD-C3C8-72A43A58F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2A0C20C-18A8-F4B9-45DC-2F4E054B7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9556491-CB3C-E999-C8E5-60770A2D0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8FC78A-9946-D6CC-C305-0E5F1CCEB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23091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B13E3-F474-B095-D028-1E3CB7C00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4352D89-FB7E-14A3-70C8-42A170D32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53D82A-D744-431F-84B6-E2B11BE83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B873C9-484C-6AF4-E47B-8210B05FE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88716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FC58A-EC8D-05FE-0B08-9B9C969B9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8FDE6E7-E678-7A26-8316-E810AC452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547CB72-3A1B-3EA1-2ABC-3811D3375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5AB2B5-C3A7-8ACD-30E5-CF8C3849D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74579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0A5ED-C1CD-C151-DDA9-56EA1FFAD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5295E78-9161-5801-4694-DA8AED923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901BA7A-8774-E19D-C94A-29AF02593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BF28DE-CD6B-7077-F706-7B78A99B1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44120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6949A-9C83-78F2-97D4-522490E28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E723D2B-D055-62BB-50D8-00316BFF8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FFB8D5B-0505-8B16-0F85-C2543DCC7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747419-CEB2-3AC9-BC81-30527A19E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99064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A0B33-C141-3524-8282-9B82612BC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D86E7A5-4911-203D-02D6-27BF9FF88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1FCD4FA-BB30-EA1B-2057-CDB623175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2A8DD7-BF7A-ADDA-74F7-58C96632B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8763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807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690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45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160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788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13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388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769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49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055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770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C4E9E-3BE5-4665-BAE6-72CA507E865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592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png"/><Relationship Id="rId4" Type="http://schemas.openxmlformats.org/officeDocument/2006/relationships/image" Target="../media/image18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png"/><Relationship Id="rId4" Type="http://schemas.openxmlformats.org/officeDocument/2006/relationships/image" Target="../media/image18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png"/><Relationship Id="rId4" Type="http://schemas.openxmlformats.org/officeDocument/2006/relationships/image" Target="../media/image1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png"/><Relationship Id="rId4" Type="http://schemas.openxmlformats.org/officeDocument/2006/relationships/image" Target="../media/image18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png"/><Relationship Id="rId4" Type="http://schemas.openxmlformats.org/officeDocument/2006/relationships/image" Target="../media/image18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18.emf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18.emf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18.emf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18.emf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338" y="0"/>
            <a:ext cx="12200338" cy="6858000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037230" y="1784804"/>
            <a:ext cx="9379389" cy="345228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«Методы анализа данных»</a:t>
            </a:r>
            <a:endParaRPr lang="en-US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Лекция 3. Сбор, хранение и обработка данных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52052" y="5484010"/>
            <a:ext cx="787619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Домуховский Николай Анатольевич</a:t>
            </a:r>
          </a:p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Заместитель директора по проектной работе, УНЦ ИБ ИРИТ-РТФ УрФУ</a:t>
            </a:r>
            <a:b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N.A.Domukhovsky@urfu.ru, telegram: @Nick1982ad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B04525-F42B-0A4F-A843-6E85C99DDA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27061" r="44625" b="33918"/>
          <a:stretch/>
        </p:blipFill>
        <p:spPr>
          <a:xfrm>
            <a:off x="1037230" y="467642"/>
            <a:ext cx="2016631" cy="107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2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Напомню принципы работы на курсе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A8E330A-A21C-4139-889E-E71E5BC27371}"/>
              </a:ext>
            </a:extLst>
          </p:cNvPr>
          <p:cNvSpPr/>
          <p:nvPr/>
        </p:nvSpPr>
        <p:spPr>
          <a:xfrm>
            <a:off x="2303178" y="2526991"/>
            <a:ext cx="273136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ИНИЦИАТИВНОСТЬ</a:t>
            </a: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ЛЮБОПЫТСТВО</a:t>
            </a: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Прямоугольник 3">
            <a:extLst>
              <a:ext uri="{FF2B5EF4-FFF2-40B4-BE49-F238E27FC236}">
                <a16:creationId xmlns:a16="http://schemas.microsoft.com/office/drawing/2014/main" id="{A8F2BC51-42E3-FD97-A85C-3A82120DFBB6}"/>
              </a:ext>
            </a:extLst>
          </p:cNvPr>
          <p:cNvSpPr/>
          <p:nvPr/>
        </p:nvSpPr>
        <p:spPr>
          <a:xfrm>
            <a:off x="8249271" y="2526991"/>
            <a:ext cx="24688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БЕЗОПАСНАЯ СРЕДА</a:t>
            </a: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Прямоугольник 4">
            <a:extLst>
              <a:ext uri="{FF2B5EF4-FFF2-40B4-BE49-F238E27FC236}">
                <a16:creationId xmlns:a16="http://schemas.microsoft.com/office/drawing/2014/main" id="{28D72102-BE75-B3FB-A425-0D0A658E521B}"/>
              </a:ext>
            </a:extLst>
          </p:cNvPr>
          <p:cNvSpPr/>
          <p:nvPr/>
        </p:nvSpPr>
        <p:spPr>
          <a:xfrm>
            <a:off x="8215575" y="3817675"/>
            <a:ext cx="25362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ОТВЕТСТВЕННОСТЬ</a:t>
            </a:r>
          </a:p>
        </p:txBody>
      </p:sp>
      <p:pic>
        <p:nvPicPr>
          <p:cNvPr id="8" name="Рисунок 5">
            <a:extLst>
              <a:ext uri="{FF2B5EF4-FFF2-40B4-BE49-F238E27FC236}">
                <a16:creationId xmlns:a16="http://schemas.microsoft.com/office/drawing/2014/main" id="{62CFCEAE-2271-C5CA-854A-210CA3005D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422" y="2322017"/>
            <a:ext cx="1001265" cy="1001265"/>
          </a:xfrm>
          <a:prstGeom prst="rect">
            <a:avLst/>
          </a:prstGeom>
        </p:spPr>
      </p:pic>
      <p:pic>
        <p:nvPicPr>
          <p:cNvPr id="11" name="Рисунок 6">
            <a:extLst>
              <a:ext uri="{FF2B5EF4-FFF2-40B4-BE49-F238E27FC236}">
                <a16:creationId xmlns:a16="http://schemas.microsoft.com/office/drawing/2014/main" id="{3B2D323A-1547-5B2E-A8DA-7A522BC06D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691" y="3366644"/>
            <a:ext cx="1021487" cy="1023937"/>
          </a:xfrm>
          <a:prstGeom prst="rect">
            <a:avLst/>
          </a:prstGeom>
        </p:spPr>
      </p:pic>
      <p:pic>
        <p:nvPicPr>
          <p:cNvPr id="12" name="Рисунок 7">
            <a:extLst>
              <a:ext uri="{FF2B5EF4-FFF2-40B4-BE49-F238E27FC236}">
                <a16:creationId xmlns:a16="http://schemas.microsoft.com/office/drawing/2014/main" id="{980E08DA-B2CE-175E-A853-FBF181BA0B0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507" y="2364256"/>
            <a:ext cx="916788" cy="916788"/>
          </a:xfrm>
          <a:prstGeom prst="rect">
            <a:avLst/>
          </a:prstGeom>
        </p:spPr>
      </p:pic>
      <p:pic>
        <p:nvPicPr>
          <p:cNvPr id="13" name="Рисунок 8">
            <a:extLst>
              <a:ext uri="{FF2B5EF4-FFF2-40B4-BE49-F238E27FC236}">
                <a16:creationId xmlns:a16="http://schemas.microsoft.com/office/drawing/2014/main" id="{0AE441DB-6B7C-7E01-CAF0-FF567F10557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446" y="3470156"/>
            <a:ext cx="915216" cy="9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11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AA4E5-4B0A-5724-8F62-00F07516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9562FD5-ED39-7B77-5106-D6119EE4C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338" y="0"/>
            <a:ext cx="12200338" cy="685800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A853B87-440E-689C-967F-A2976E0A5E41}"/>
              </a:ext>
            </a:extLst>
          </p:cNvPr>
          <p:cNvSpPr txBox="1">
            <a:spLocks/>
          </p:cNvSpPr>
          <p:nvPr/>
        </p:nvSpPr>
        <p:spPr>
          <a:xfrm>
            <a:off x="2640093" y="2359598"/>
            <a:ext cx="6903475" cy="213880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Сбор, хранение и обработка данных в целом</a:t>
            </a:r>
          </a:p>
        </p:txBody>
      </p:sp>
    </p:spTree>
    <p:extLst>
      <p:ext uri="{BB962C8B-B14F-4D97-AF65-F5344CB8AC3E}">
        <p14:creationId xmlns:p14="http://schemas.microsoft.com/office/powerpoint/2010/main" val="487444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Сбор данных в единое хранилище - </a:t>
            </a:r>
            <a:r>
              <a:rPr lang="en-US" sz="2800" b="1" dirty="0">
                <a:solidFill>
                  <a:srgbClr val="FF0000"/>
                </a:solidFill>
              </a:rPr>
              <a:t>ETL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4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13DB605-01DE-7DB8-2AE5-BBF51E755823}"/>
              </a:ext>
            </a:extLst>
          </p:cNvPr>
          <p:cNvSpPr/>
          <p:nvPr/>
        </p:nvSpPr>
        <p:spPr>
          <a:xfrm>
            <a:off x="714469" y="1935241"/>
            <a:ext cx="1342931" cy="368588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Источники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63BC6D-E83F-671C-7B7B-1453B2F5D3D3}"/>
              </a:ext>
            </a:extLst>
          </p:cNvPr>
          <p:cNvSpPr/>
          <p:nvPr/>
        </p:nvSpPr>
        <p:spPr>
          <a:xfrm>
            <a:off x="3930579" y="1935240"/>
            <a:ext cx="3280925" cy="368588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Преобразование</a:t>
            </a:r>
            <a:r>
              <a:rPr lang="en-US" b="1" dirty="0">
                <a:solidFill>
                  <a:schemeClr val="tx1"/>
                </a:solidFill>
              </a:rPr>
              <a:t> (Transform)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222E2F-0B2C-694F-F533-F01902EABE57}"/>
              </a:ext>
            </a:extLst>
          </p:cNvPr>
          <p:cNvSpPr/>
          <p:nvPr/>
        </p:nvSpPr>
        <p:spPr>
          <a:xfrm>
            <a:off x="9188384" y="1935239"/>
            <a:ext cx="2394806" cy="368588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Хранилище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7DF24FA-E2B0-4FAB-E311-7C99EC5E43DA}"/>
              </a:ext>
            </a:extLst>
          </p:cNvPr>
          <p:cNvCxnSpPr>
            <a:cxnSpLocks/>
          </p:cNvCxnSpPr>
          <p:nvPr/>
        </p:nvCxnSpPr>
        <p:spPr>
          <a:xfrm>
            <a:off x="2057400" y="2724346"/>
            <a:ext cx="19884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90DF58-2913-703A-3741-93CA73D65D1D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2057400" y="4460449"/>
            <a:ext cx="19884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74F7B7-3B2A-2224-F48F-3003E507A24E}"/>
              </a:ext>
            </a:extLst>
          </p:cNvPr>
          <p:cNvCxnSpPr>
            <a:cxnSpLocks/>
          </p:cNvCxnSpPr>
          <p:nvPr/>
        </p:nvCxnSpPr>
        <p:spPr>
          <a:xfrm>
            <a:off x="7211504" y="2724346"/>
            <a:ext cx="1976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EBD1F0-5552-9FE9-2960-D68D27C8F593}"/>
              </a:ext>
            </a:extLst>
          </p:cNvPr>
          <p:cNvCxnSpPr>
            <a:cxnSpLocks/>
          </p:cNvCxnSpPr>
          <p:nvPr/>
        </p:nvCxnSpPr>
        <p:spPr>
          <a:xfrm>
            <a:off x="7211504" y="4460449"/>
            <a:ext cx="1976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E03D92A-A27E-890A-6036-D24EF22FC053}"/>
              </a:ext>
            </a:extLst>
          </p:cNvPr>
          <p:cNvSpPr txBox="1"/>
          <p:nvPr/>
        </p:nvSpPr>
        <p:spPr>
          <a:xfrm>
            <a:off x="2051965" y="1082879"/>
            <a:ext cx="1993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Извлечение (</a:t>
            </a:r>
            <a:r>
              <a:rPr lang="en-US" b="1" dirty="0"/>
              <a:t>Extraction)</a:t>
            </a:r>
            <a:endParaRPr lang="ru-RU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FB9264-6A45-9C83-08BC-DBA579EA8073}"/>
              </a:ext>
            </a:extLst>
          </p:cNvPr>
          <p:cNvSpPr txBox="1"/>
          <p:nvPr/>
        </p:nvSpPr>
        <p:spPr>
          <a:xfrm>
            <a:off x="7194484" y="1084540"/>
            <a:ext cx="1993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Сохранение (</a:t>
            </a:r>
            <a:r>
              <a:rPr lang="en-US" b="1" dirty="0"/>
              <a:t>Load)</a:t>
            </a:r>
            <a:endParaRPr lang="ru-RU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EDE0D2-41EE-73A3-3CE2-062F68F2C664}"/>
              </a:ext>
            </a:extLst>
          </p:cNvPr>
          <p:cNvSpPr txBox="1"/>
          <p:nvPr/>
        </p:nvSpPr>
        <p:spPr>
          <a:xfrm>
            <a:off x="1997040" y="2353353"/>
            <a:ext cx="1993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Данные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F9855E-6FE2-CCDF-9568-C4CF765E8E0E}"/>
              </a:ext>
            </a:extLst>
          </p:cNvPr>
          <p:cNvSpPr txBox="1"/>
          <p:nvPr/>
        </p:nvSpPr>
        <p:spPr>
          <a:xfrm>
            <a:off x="2006467" y="4091663"/>
            <a:ext cx="1993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Структуры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77B2D9-5732-FB70-0813-463FD9BF3099}"/>
              </a:ext>
            </a:extLst>
          </p:cNvPr>
          <p:cNvSpPr/>
          <p:nvPr/>
        </p:nvSpPr>
        <p:spPr>
          <a:xfrm>
            <a:off x="4045864" y="2353353"/>
            <a:ext cx="2977105" cy="12571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Преобразование типов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Сопоставление ключей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Привидение к общей схеме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8A89A5-2303-20D7-7C3E-2344B16E53D2}"/>
              </a:ext>
            </a:extLst>
          </p:cNvPr>
          <p:cNvSpPr/>
          <p:nvPr/>
        </p:nvSpPr>
        <p:spPr>
          <a:xfrm>
            <a:off x="4045864" y="4217916"/>
            <a:ext cx="2977105" cy="4850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Выделение метаданных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A5C989-F3A9-49E6-37A6-32F18C5CE8C8}"/>
              </a:ext>
            </a:extLst>
          </p:cNvPr>
          <p:cNvSpPr/>
          <p:nvPr/>
        </p:nvSpPr>
        <p:spPr>
          <a:xfrm>
            <a:off x="9294140" y="2480152"/>
            <a:ext cx="2183392" cy="4850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Данные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737B45-BC1E-A9C3-982D-C060D4CE21EC}"/>
              </a:ext>
            </a:extLst>
          </p:cNvPr>
          <p:cNvSpPr/>
          <p:nvPr/>
        </p:nvSpPr>
        <p:spPr>
          <a:xfrm>
            <a:off x="9294091" y="4217915"/>
            <a:ext cx="2183392" cy="4850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Метаданные</a:t>
            </a:r>
          </a:p>
        </p:txBody>
      </p:sp>
    </p:spTree>
    <p:extLst>
      <p:ext uri="{BB962C8B-B14F-4D97-AF65-F5344CB8AC3E}">
        <p14:creationId xmlns:p14="http://schemas.microsoft.com/office/powerpoint/2010/main" val="3612925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D86B6-6E32-5229-597A-B5F3D0D54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5A92FA5-A608-262D-B8CB-3BCB01DD00AE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7DA2361B-518B-A69F-DEB3-8990A61E54E1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Особенности </a:t>
            </a:r>
            <a:r>
              <a:rPr lang="en-US" sz="2800" b="1" dirty="0">
                <a:solidFill>
                  <a:srgbClr val="FF0000"/>
                </a:solidFill>
              </a:rPr>
              <a:t>ETL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05F3B8-D4FB-A707-C185-665AECBA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5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BF33DF4C-4BE7-6D0A-C47C-38BC1D3EA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Содержимое 2">
            <a:extLst>
              <a:ext uri="{FF2B5EF4-FFF2-40B4-BE49-F238E27FC236}">
                <a16:creationId xmlns:a16="http://schemas.microsoft.com/office/drawing/2014/main" id="{12375BF9-EB15-24F8-0452-4269BD8D6F70}"/>
              </a:ext>
            </a:extLst>
          </p:cNvPr>
          <p:cNvSpPr txBox="1">
            <a:spLocks/>
          </p:cNvSpPr>
          <p:nvPr/>
        </p:nvSpPr>
        <p:spPr>
          <a:xfrm>
            <a:off x="328760" y="1344651"/>
            <a:ext cx="11272690" cy="5011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b="1" dirty="0"/>
              <a:t>Извлечение</a:t>
            </a:r>
            <a:r>
              <a:rPr lang="en-US" altLang="ru-RU" sz="1800" b="1" dirty="0"/>
              <a:t>:</a:t>
            </a:r>
            <a:endParaRPr lang="ru-RU" altLang="ru-RU" sz="1800" b="1" dirty="0"/>
          </a:p>
          <a:p>
            <a:pPr lvl="1"/>
            <a:r>
              <a:rPr lang="ru-RU" altLang="ru-RU" sz="1800" dirty="0"/>
              <a:t>Как правило, в режиме </a:t>
            </a:r>
            <a:r>
              <a:rPr lang="en-US" altLang="ru-RU" sz="1800" dirty="0"/>
              <a:t>pull (</a:t>
            </a:r>
            <a:r>
              <a:rPr lang="ru-RU" altLang="ru-RU" sz="1800" dirty="0"/>
              <a:t>по расписанию)</a:t>
            </a:r>
            <a:endParaRPr lang="en-US" altLang="ru-RU" sz="1800" dirty="0"/>
          </a:p>
          <a:p>
            <a:pPr lvl="1"/>
            <a:r>
              <a:rPr lang="ru-RU" altLang="ru-RU" sz="1800" dirty="0"/>
              <a:t>Извлечение полного набора данных</a:t>
            </a:r>
          </a:p>
          <a:p>
            <a:pPr lvl="1"/>
            <a:r>
              <a:rPr lang="ru-RU" altLang="ru-RU" sz="1800" dirty="0"/>
              <a:t>Извлечение инкрементального набора (изменения с последней синхронизации)</a:t>
            </a:r>
          </a:p>
          <a:p>
            <a:pPr lvl="1"/>
            <a:r>
              <a:rPr lang="ru-RU" altLang="ru-RU" sz="1800" dirty="0"/>
              <a:t>Извлечение атомарных изменений (только то, что изменилось)</a:t>
            </a:r>
            <a:endParaRPr lang="en-US" altLang="ru-RU" sz="1800" dirty="0"/>
          </a:p>
          <a:p>
            <a:pPr marL="457200" lvl="1" indent="0">
              <a:buNone/>
            </a:pPr>
            <a:r>
              <a:rPr lang="ru-RU" altLang="ru-RU" sz="1800" b="1" dirty="0"/>
              <a:t>Преобразование</a:t>
            </a:r>
            <a:r>
              <a:rPr lang="en-US" altLang="ru-RU" sz="1800" b="1" dirty="0"/>
              <a:t>:</a:t>
            </a:r>
          </a:p>
          <a:p>
            <a:pPr lvl="1"/>
            <a:r>
              <a:rPr lang="ru-RU" altLang="ru-RU" sz="1800" dirty="0"/>
              <a:t>Самая дорогостоящая операция</a:t>
            </a:r>
          </a:p>
          <a:p>
            <a:pPr lvl="1"/>
            <a:r>
              <a:rPr lang="ru-RU" altLang="ru-RU" sz="1800" dirty="0"/>
              <a:t>Соотносятся данные из разных источников</a:t>
            </a:r>
          </a:p>
          <a:p>
            <a:pPr lvl="1"/>
            <a:r>
              <a:rPr lang="ru-RU" altLang="ru-RU" sz="1800" dirty="0"/>
              <a:t>Проводятся дополнительные вычисления (агрегация, нормализация, маскирование)</a:t>
            </a:r>
          </a:p>
          <a:p>
            <a:pPr lvl="1"/>
            <a:r>
              <a:rPr lang="ru-RU" altLang="ru-RU" sz="1800" dirty="0"/>
              <a:t>Обработка конфликтов данных</a:t>
            </a:r>
          </a:p>
          <a:p>
            <a:pPr marL="457200" lvl="1" indent="0">
              <a:buNone/>
            </a:pPr>
            <a:r>
              <a:rPr lang="ru-RU" altLang="ru-RU" sz="1800" b="1" dirty="0"/>
              <a:t>Сохранение</a:t>
            </a:r>
            <a:r>
              <a:rPr lang="en-US" altLang="ru-RU" sz="1800" b="1" dirty="0"/>
              <a:t>:</a:t>
            </a:r>
          </a:p>
          <a:p>
            <a:pPr lvl="1"/>
            <a:r>
              <a:rPr lang="ru-RU" altLang="ru-RU" sz="1800" dirty="0"/>
              <a:t>Должно быть быстрым (</a:t>
            </a:r>
            <a:r>
              <a:rPr lang="en-US" altLang="ru-RU" sz="1800" dirty="0"/>
              <a:t>SQL DML </a:t>
            </a:r>
            <a:r>
              <a:rPr lang="ru-RU" altLang="ru-RU" sz="1800" dirty="0"/>
              <a:t>слишком медленный)</a:t>
            </a:r>
          </a:p>
          <a:p>
            <a:pPr lvl="1"/>
            <a:r>
              <a:rPr lang="ru-RU" altLang="ru-RU" sz="1800" dirty="0"/>
              <a:t>Полная перезапись обновленными данными</a:t>
            </a:r>
          </a:p>
          <a:p>
            <a:pPr lvl="1"/>
            <a:r>
              <a:rPr lang="ru-RU" altLang="ru-RU" sz="1800" dirty="0"/>
              <a:t>Адаптивные методы (</a:t>
            </a:r>
            <a:r>
              <a:rPr lang="ru-RU" altLang="ru-RU" sz="1800" dirty="0" err="1"/>
              <a:t>дозапись</a:t>
            </a:r>
            <a:r>
              <a:rPr lang="en-US" altLang="ru-RU" sz="1800" dirty="0"/>
              <a:t>/</a:t>
            </a:r>
            <a:r>
              <a:rPr lang="ru-RU" altLang="ru-RU" sz="1800" dirty="0"/>
              <a:t>обновление)</a:t>
            </a:r>
          </a:p>
          <a:p>
            <a:pPr lvl="1"/>
            <a:endParaRPr lang="en-US" altLang="ru-RU" sz="1800" dirty="0"/>
          </a:p>
        </p:txBody>
      </p:sp>
    </p:spTree>
    <p:extLst>
      <p:ext uri="{BB962C8B-B14F-4D97-AF65-F5344CB8AC3E}">
        <p14:creationId xmlns:p14="http://schemas.microsoft.com/office/powerpoint/2010/main" val="1825261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FB566-CB3B-8DAB-9B93-DB9576422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F5897A5-D157-F656-5E8C-791FD0DAC5EF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B5CB8F6-7669-9FB2-2A89-231F99F1F22C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Альтернативы </a:t>
            </a:r>
            <a:r>
              <a:rPr lang="en-US" sz="2800" b="1" dirty="0">
                <a:solidFill>
                  <a:srgbClr val="FF0000"/>
                </a:solidFill>
              </a:rPr>
              <a:t>ETL: ELT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4A716D-50E6-9364-1C5D-ABBA52CE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6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91790F44-094E-FCAD-F7CA-F4F8E853B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53D5AB-D49C-E8CF-22CA-607374EE094D}"/>
              </a:ext>
            </a:extLst>
          </p:cNvPr>
          <p:cNvSpPr/>
          <p:nvPr/>
        </p:nvSpPr>
        <p:spPr>
          <a:xfrm>
            <a:off x="714469" y="1801891"/>
            <a:ext cx="1342931" cy="29294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Источники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ACAA2B-0770-3AB6-AC88-1EEDFBD05CC8}"/>
              </a:ext>
            </a:extLst>
          </p:cNvPr>
          <p:cNvSpPr/>
          <p:nvPr/>
        </p:nvSpPr>
        <p:spPr>
          <a:xfrm>
            <a:off x="8072875" y="1801891"/>
            <a:ext cx="3280925" cy="29294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Преобразование</a:t>
            </a:r>
            <a:r>
              <a:rPr lang="en-US" b="1" dirty="0">
                <a:solidFill>
                  <a:schemeClr val="tx1"/>
                </a:solidFill>
              </a:rPr>
              <a:t> (Transform)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E77E5D-87A0-C410-8B16-44D84F0F5047}"/>
              </a:ext>
            </a:extLst>
          </p:cNvPr>
          <p:cNvSpPr/>
          <p:nvPr/>
        </p:nvSpPr>
        <p:spPr>
          <a:xfrm>
            <a:off x="4045864" y="1801891"/>
            <a:ext cx="2394806" cy="29294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Хранилище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AB7E50-FDDA-D629-1AB6-3F683C20EB25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2057400" y="2589337"/>
            <a:ext cx="2094220" cy="1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01FD98-75E5-9010-096A-2476C2F2D46D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057400" y="4327100"/>
            <a:ext cx="2094171" cy="9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673572E-94AE-3712-C7D9-40EC82393124}"/>
              </a:ext>
            </a:extLst>
          </p:cNvPr>
          <p:cNvSpPr txBox="1"/>
          <p:nvPr/>
        </p:nvSpPr>
        <p:spPr>
          <a:xfrm>
            <a:off x="2051965" y="1082879"/>
            <a:ext cx="1993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Извлечение (</a:t>
            </a:r>
            <a:r>
              <a:rPr lang="en-US" b="1" dirty="0"/>
              <a:t>Extraction)</a:t>
            </a:r>
            <a:endParaRPr lang="ru-RU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A3ED5A-F252-99F5-6CD6-A2D41D256238}"/>
              </a:ext>
            </a:extLst>
          </p:cNvPr>
          <p:cNvSpPr txBox="1"/>
          <p:nvPr/>
        </p:nvSpPr>
        <p:spPr>
          <a:xfrm>
            <a:off x="4246317" y="1082879"/>
            <a:ext cx="1993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Сохранение (</a:t>
            </a:r>
            <a:r>
              <a:rPr lang="en-US" b="1" dirty="0"/>
              <a:t>Load)</a:t>
            </a:r>
            <a:endParaRPr lang="ru-RU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74E5FC-176F-F7B1-026A-98C375482B8F}"/>
              </a:ext>
            </a:extLst>
          </p:cNvPr>
          <p:cNvSpPr txBox="1"/>
          <p:nvPr/>
        </p:nvSpPr>
        <p:spPr>
          <a:xfrm>
            <a:off x="1997040" y="2220003"/>
            <a:ext cx="1993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Данные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78FCAB-E722-627D-5944-CD61B35A1E61}"/>
              </a:ext>
            </a:extLst>
          </p:cNvPr>
          <p:cNvSpPr txBox="1"/>
          <p:nvPr/>
        </p:nvSpPr>
        <p:spPr>
          <a:xfrm>
            <a:off x="2006467" y="3958313"/>
            <a:ext cx="1993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Структуры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990C9F-AA90-40C0-6CDA-14B145C0F8EF}"/>
              </a:ext>
            </a:extLst>
          </p:cNvPr>
          <p:cNvSpPr/>
          <p:nvPr/>
        </p:nvSpPr>
        <p:spPr>
          <a:xfrm>
            <a:off x="8188160" y="2220004"/>
            <a:ext cx="2977105" cy="12571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Преобразование типов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Сопоставление ключей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Привидение к общей схеме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D3251-7D58-B636-795B-46989DC34C2D}"/>
              </a:ext>
            </a:extLst>
          </p:cNvPr>
          <p:cNvSpPr/>
          <p:nvPr/>
        </p:nvSpPr>
        <p:spPr>
          <a:xfrm>
            <a:off x="8188160" y="4084567"/>
            <a:ext cx="2977105" cy="4850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Выделение метаданных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1E765E-310C-4406-241F-DCF9F17645B7}"/>
              </a:ext>
            </a:extLst>
          </p:cNvPr>
          <p:cNvSpPr/>
          <p:nvPr/>
        </p:nvSpPr>
        <p:spPr>
          <a:xfrm>
            <a:off x="4151620" y="2346804"/>
            <a:ext cx="2183392" cy="4850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Данные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8DE396-C9F4-B30D-65B1-B5DFF84531AC}"/>
              </a:ext>
            </a:extLst>
          </p:cNvPr>
          <p:cNvSpPr/>
          <p:nvPr/>
        </p:nvSpPr>
        <p:spPr>
          <a:xfrm>
            <a:off x="4151571" y="4084567"/>
            <a:ext cx="2183392" cy="4850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Метаданные</a:t>
            </a:r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4FAF66A0-BD37-CCAC-D7B2-A6EC6A31DC88}"/>
              </a:ext>
            </a:extLst>
          </p:cNvPr>
          <p:cNvSpPr/>
          <p:nvPr/>
        </p:nvSpPr>
        <p:spPr>
          <a:xfrm>
            <a:off x="6423335" y="3152775"/>
            <a:ext cx="1666875" cy="931792"/>
          </a:xfrm>
          <a:prstGeom prst="left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одержимое 2">
            <a:extLst>
              <a:ext uri="{FF2B5EF4-FFF2-40B4-BE49-F238E27FC236}">
                <a16:creationId xmlns:a16="http://schemas.microsoft.com/office/drawing/2014/main" id="{24A60392-34C0-253C-C6CC-89961025FC7B}"/>
              </a:ext>
            </a:extLst>
          </p:cNvPr>
          <p:cNvSpPr txBox="1">
            <a:spLocks/>
          </p:cNvSpPr>
          <p:nvPr/>
        </p:nvSpPr>
        <p:spPr>
          <a:xfrm>
            <a:off x="200025" y="4985896"/>
            <a:ext cx="11272690" cy="1603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u-RU" altLang="ru-RU" sz="1800" dirty="0"/>
              <a:t>Сохранение без преобразования проще и быстрее, но накладывает дополнительные требования к хранилищу</a:t>
            </a:r>
          </a:p>
          <a:p>
            <a:pPr lvl="1"/>
            <a:r>
              <a:rPr lang="ru-RU" altLang="ru-RU" sz="1800" dirty="0"/>
              <a:t>Преобразование можно выполнять в периоды меньшей нагрузки (снижение требований к вычислительным ресурсам)</a:t>
            </a:r>
          </a:p>
          <a:p>
            <a:pPr lvl="1"/>
            <a:r>
              <a:rPr lang="ru-RU" altLang="ru-RU" sz="1800" dirty="0"/>
              <a:t>Могут быть нарушения требований по хранению – не выполняется маскировка данных</a:t>
            </a:r>
            <a:endParaRPr lang="en-US" altLang="ru-RU" sz="1800" dirty="0"/>
          </a:p>
        </p:txBody>
      </p:sp>
    </p:spTree>
    <p:extLst>
      <p:ext uri="{BB962C8B-B14F-4D97-AF65-F5344CB8AC3E}">
        <p14:creationId xmlns:p14="http://schemas.microsoft.com/office/powerpoint/2010/main" val="1367342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AB1EF-EE39-83B5-7199-9A53E5ADD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838A956-941F-CB13-B971-0120BD2356C8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EB51B1AD-A9AA-9103-7070-90E1AE417E96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Альтернативы </a:t>
            </a:r>
            <a:r>
              <a:rPr lang="en-US" sz="2800" b="1" dirty="0">
                <a:solidFill>
                  <a:srgbClr val="FF0000"/>
                </a:solidFill>
              </a:rPr>
              <a:t>ETL: </a:t>
            </a:r>
            <a:r>
              <a:rPr lang="en-US" sz="2800" b="1" dirty="0" err="1">
                <a:solidFill>
                  <a:srgbClr val="FF0000"/>
                </a:solidFill>
              </a:rPr>
              <a:t>pubsub</a:t>
            </a:r>
            <a:r>
              <a:rPr lang="en-US" sz="2800" b="1" dirty="0">
                <a:solidFill>
                  <a:srgbClr val="FF0000"/>
                </a:solidFill>
              </a:rPr>
              <a:t> (</a:t>
            </a:r>
            <a:r>
              <a:rPr lang="ru-RU" sz="2800" b="1" dirty="0">
                <a:solidFill>
                  <a:srgbClr val="FF0000"/>
                </a:solidFill>
              </a:rPr>
              <a:t>шина данных)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B22792-87ED-4DA5-0AA2-E9E3178CC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7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FFB0BF35-2658-612F-77AC-7BA29944B5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A505E96-2221-EEAC-902B-378960AE436A}"/>
              </a:ext>
            </a:extLst>
          </p:cNvPr>
          <p:cNvSpPr/>
          <p:nvPr/>
        </p:nvSpPr>
        <p:spPr>
          <a:xfrm>
            <a:off x="714469" y="1801891"/>
            <a:ext cx="1342931" cy="29294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Источники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799C8D-5EAB-2F43-CA12-91A7DC640284}"/>
              </a:ext>
            </a:extLst>
          </p:cNvPr>
          <p:cNvSpPr/>
          <p:nvPr/>
        </p:nvSpPr>
        <p:spPr>
          <a:xfrm>
            <a:off x="8072875" y="1801891"/>
            <a:ext cx="3280925" cy="29294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Хранилище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9C5732-9D65-E386-E074-F7ECCDFEDD98}"/>
              </a:ext>
            </a:extLst>
          </p:cNvPr>
          <p:cNvSpPr/>
          <p:nvPr/>
        </p:nvSpPr>
        <p:spPr>
          <a:xfrm>
            <a:off x="4045864" y="1801891"/>
            <a:ext cx="2394806" cy="29294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Шина данных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36C47C-AC1B-F02F-B5EF-DF526BF66D69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 flipV="1">
            <a:off x="2057400" y="3266633"/>
            <a:ext cx="20942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0166A0E-CDE7-892D-F84A-1DEAFB5A6F0C}"/>
              </a:ext>
            </a:extLst>
          </p:cNvPr>
          <p:cNvSpPr txBox="1"/>
          <p:nvPr/>
        </p:nvSpPr>
        <p:spPr>
          <a:xfrm>
            <a:off x="1959450" y="2897301"/>
            <a:ext cx="1993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Сообщение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52DEDA-7B7C-79FD-BBC1-FC5DF548355A}"/>
              </a:ext>
            </a:extLst>
          </p:cNvPr>
          <p:cNvSpPr/>
          <p:nvPr/>
        </p:nvSpPr>
        <p:spPr>
          <a:xfrm>
            <a:off x="4151620" y="2281035"/>
            <a:ext cx="2183392" cy="197119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Очередь сообщений</a:t>
            </a:r>
          </a:p>
        </p:txBody>
      </p:sp>
      <p:sp>
        <p:nvSpPr>
          <p:cNvPr id="25" name="Содержимое 2">
            <a:extLst>
              <a:ext uri="{FF2B5EF4-FFF2-40B4-BE49-F238E27FC236}">
                <a16:creationId xmlns:a16="http://schemas.microsoft.com/office/drawing/2014/main" id="{332F9A6F-1CC5-EF49-1718-09D5FC285D54}"/>
              </a:ext>
            </a:extLst>
          </p:cNvPr>
          <p:cNvSpPr txBox="1">
            <a:spLocks/>
          </p:cNvSpPr>
          <p:nvPr/>
        </p:nvSpPr>
        <p:spPr>
          <a:xfrm>
            <a:off x="200025" y="4985896"/>
            <a:ext cx="11272690" cy="1603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u-RU" altLang="ru-RU" sz="1800" dirty="0"/>
              <a:t>Форматы сообщений определяют структуру и типизацию данных</a:t>
            </a:r>
          </a:p>
          <a:p>
            <a:pPr lvl="1"/>
            <a:r>
              <a:rPr lang="ru-RU" altLang="ru-RU" sz="1800" dirty="0"/>
              <a:t>Модель </a:t>
            </a:r>
            <a:r>
              <a:rPr lang="en-US" altLang="ru-RU" sz="1800" dirty="0"/>
              <a:t>push (</a:t>
            </a:r>
            <a:r>
              <a:rPr lang="ru-RU" altLang="ru-RU" sz="1800" dirty="0"/>
              <a:t>изменения передаются от источника в реальном времени)</a:t>
            </a:r>
          </a:p>
          <a:p>
            <a:pPr lvl="1"/>
            <a:r>
              <a:rPr lang="ru-RU" altLang="ru-RU" sz="1800" dirty="0"/>
              <a:t>Хранилище получает обновления по подписке (практически мгновенно)</a:t>
            </a:r>
          </a:p>
          <a:p>
            <a:pPr lvl="1"/>
            <a:r>
              <a:rPr lang="ru-RU" altLang="ru-RU" sz="1800" dirty="0"/>
              <a:t>Необходимы традиционные </a:t>
            </a:r>
            <a:r>
              <a:rPr lang="en-US" altLang="ru-RU" sz="1800" dirty="0"/>
              <a:t>ETL </a:t>
            </a:r>
            <a:r>
              <a:rPr lang="ru-RU" altLang="ru-RU" sz="1800" dirty="0"/>
              <a:t>решения для унаследованных систем (не поддерживающих общую шину)</a:t>
            </a:r>
            <a:endParaRPr lang="en-US" altLang="ru-RU" sz="18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85797B2-17A7-9CC3-2402-0BCBE55C5FF8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6358283" y="3266634"/>
            <a:ext cx="17145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6C8F9DF-20AA-26AB-5BAB-8573992BA751}"/>
              </a:ext>
            </a:extLst>
          </p:cNvPr>
          <p:cNvSpPr txBox="1"/>
          <p:nvPr/>
        </p:nvSpPr>
        <p:spPr>
          <a:xfrm>
            <a:off x="6259823" y="2896082"/>
            <a:ext cx="1993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Сообщение</a:t>
            </a:r>
          </a:p>
        </p:txBody>
      </p:sp>
    </p:spTree>
    <p:extLst>
      <p:ext uri="{BB962C8B-B14F-4D97-AF65-F5344CB8AC3E}">
        <p14:creationId xmlns:p14="http://schemas.microsoft.com/office/powerpoint/2010/main" val="3989111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E6F1D-74B7-D151-C7DB-313B9E20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861AC4-49ED-2634-4669-B86BBC0F1480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2C65C16-BCED-C125-6600-DEA5437D481A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Модель хранилища данных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FEE873-F55E-F54E-30E0-FBBEDEAAF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8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5D09B007-4D2B-320E-2A9D-626BFC8D4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F0C5528D-B0CC-626A-06D9-18BC3F02C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565" y="1189309"/>
            <a:ext cx="9571235" cy="497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251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91093-6C67-2208-586C-C75C79835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0C489CF-94C3-C2DA-A03A-8414AD835184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FF8605A-1CF3-986C-FE2F-5FC78C18FDA5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</a:rPr>
              <a:t>Data lake vs Data warehouse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4EF823-B817-9649-BC31-A6B505254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9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102DFE0-61B1-CF70-9AAD-44A125455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3074" name="Picture 2" descr="Data Lake vs Data Warehouse: 6 Key Differences | Qlik">
            <a:extLst>
              <a:ext uri="{FF2B5EF4-FFF2-40B4-BE49-F238E27FC236}">
                <a16:creationId xmlns:a16="http://schemas.microsoft.com/office/drawing/2014/main" id="{D4EC85F8-E8C9-66DC-B3B7-ADAB97FEA6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5" t="16156" r="13978" b="18888"/>
          <a:stretch>
            <a:fillRect/>
          </a:stretch>
        </p:blipFill>
        <p:spPr bwMode="auto">
          <a:xfrm>
            <a:off x="3092450" y="1483185"/>
            <a:ext cx="6007100" cy="445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Содержимое 2">
            <a:extLst>
              <a:ext uri="{FF2B5EF4-FFF2-40B4-BE49-F238E27FC236}">
                <a16:creationId xmlns:a16="http://schemas.microsoft.com/office/drawing/2014/main" id="{5B0C3B46-2A42-A4DE-F179-B660BE3AD5B1}"/>
              </a:ext>
            </a:extLst>
          </p:cNvPr>
          <p:cNvSpPr txBox="1">
            <a:spLocks/>
          </p:cNvSpPr>
          <p:nvPr/>
        </p:nvSpPr>
        <p:spPr>
          <a:xfrm>
            <a:off x="0" y="1483185"/>
            <a:ext cx="2892425" cy="1603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u-RU" altLang="ru-RU" sz="1800" dirty="0"/>
              <a:t>Быстро и дешево хранить</a:t>
            </a:r>
          </a:p>
          <a:p>
            <a:pPr lvl="1"/>
            <a:r>
              <a:rPr lang="ru-RU" altLang="ru-RU" sz="1800" dirty="0"/>
              <a:t>Долго и дорого искать</a:t>
            </a:r>
          </a:p>
          <a:p>
            <a:pPr lvl="1"/>
            <a:r>
              <a:rPr lang="ru-RU" altLang="ru-RU" sz="1800" dirty="0"/>
              <a:t>Данные не структурированы</a:t>
            </a:r>
          </a:p>
          <a:p>
            <a:pPr lvl="1"/>
            <a:r>
              <a:rPr lang="ru-RU" altLang="ru-RU" sz="1800" dirty="0"/>
              <a:t>Универсальное хранилище (например, объектное)</a:t>
            </a:r>
          </a:p>
          <a:p>
            <a:pPr lvl="1"/>
            <a:endParaRPr lang="en-US" altLang="ru-RU" sz="1800" dirty="0"/>
          </a:p>
        </p:txBody>
      </p:sp>
      <p:sp>
        <p:nvSpPr>
          <p:cNvPr id="5" name="Содержимое 2">
            <a:extLst>
              <a:ext uri="{FF2B5EF4-FFF2-40B4-BE49-F238E27FC236}">
                <a16:creationId xmlns:a16="http://schemas.microsoft.com/office/drawing/2014/main" id="{71FD4FAF-FEE2-A3BA-05D3-7E9A8BECAF33}"/>
              </a:ext>
            </a:extLst>
          </p:cNvPr>
          <p:cNvSpPr txBox="1">
            <a:spLocks/>
          </p:cNvSpPr>
          <p:nvPr/>
        </p:nvSpPr>
        <p:spPr>
          <a:xfrm>
            <a:off x="9099550" y="3547090"/>
            <a:ext cx="2892425" cy="1603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u-RU" altLang="ru-RU" sz="1800" dirty="0"/>
              <a:t>Медленно и дорого хранить</a:t>
            </a:r>
          </a:p>
          <a:p>
            <a:pPr lvl="1"/>
            <a:r>
              <a:rPr lang="ru-RU" altLang="ru-RU" sz="1800" dirty="0"/>
              <a:t>Быстро и дешево искать</a:t>
            </a:r>
          </a:p>
          <a:p>
            <a:pPr lvl="1"/>
            <a:r>
              <a:rPr lang="ru-RU" altLang="ru-RU" sz="1800" dirty="0"/>
              <a:t>Данные с четкой структурой</a:t>
            </a:r>
          </a:p>
          <a:p>
            <a:pPr lvl="1"/>
            <a:r>
              <a:rPr lang="ru-RU" altLang="ru-RU" sz="1800" dirty="0"/>
              <a:t>Особое хранилище, например, реляционная БД</a:t>
            </a:r>
          </a:p>
          <a:p>
            <a:pPr lvl="1"/>
            <a:endParaRPr lang="en-US" altLang="ru-RU" sz="1800" dirty="0"/>
          </a:p>
        </p:txBody>
      </p:sp>
    </p:spTree>
    <p:extLst>
      <p:ext uri="{BB962C8B-B14F-4D97-AF65-F5344CB8AC3E}">
        <p14:creationId xmlns:p14="http://schemas.microsoft.com/office/powerpoint/2010/main" val="4139873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BB502-ACD8-7150-3757-1E88AD990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752951F-21C0-DBA9-AE8A-966AEA5DC5C0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B699EA07-C0B9-E443-3A38-F25F0C59E71A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БД, СУБД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5E3D9E-76ED-9E58-AA8E-F0296F7D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10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158F92DF-D25E-706E-009A-CBEE73A79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5380CA4B-4C69-6DE5-E634-F385A714082D}"/>
              </a:ext>
            </a:extLst>
          </p:cNvPr>
          <p:cNvSpPr/>
          <p:nvPr/>
        </p:nvSpPr>
        <p:spPr>
          <a:xfrm>
            <a:off x="501227" y="1491413"/>
            <a:ext cx="1119632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 dirty="0">
                <a:solidFill>
                  <a:srgbClr val="FF0000"/>
                </a:solidFill>
              </a:rPr>
              <a:t>База данных (БД) </a:t>
            </a:r>
            <a:r>
              <a:rPr lang="ru-RU" sz="3200" dirty="0"/>
              <a:t>— это набор данных, хранящиеся в </a:t>
            </a:r>
            <a:r>
              <a:rPr lang="ru-RU" sz="3200" b="1" dirty="0"/>
              <a:t>структурированном</a:t>
            </a:r>
            <a:r>
              <a:rPr lang="ru-RU" sz="3200" dirty="0"/>
              <a:t> виде</a:t>
            </a:r>
          </a:p>
          <a:p>
            <a:pPr>
              <a:defRPr/>
            </a:pPr>
            <a:r>
              <a:rPr lang="ru-RU" sz="3200" b="1" dirty="0">
                <a:solidFill>
                  <a:srgbClr val="FF0000"/>
                </a:solidFill>
              </a:rPr>
              <a:t>Система управления базами данных </a:t>
            </a:r>
            <a:r>
              <a:rPr lang="ru-RU" sz="3200" dirty="0"/>
              <a:t>(СУБД) — это совокупность языковых и программных средств, которая осуществляет доступ к данным, позволяет их создавать, менять и удалять, обеспечивает безопасность данных и т.д.</a:t>
            </a:r>
          </a:p>
        </p:txBody>
      </p:sp>
      <p:pic>
        <p:nvPicPr>
          <p:cNvPr id="5" name="Рисунок 7" descr="Пользователь">
            <a:extLst>
              <a:ext uri="{FF2B5EF4-FFF2-40B4-BE49-F238E27FC236}">
                <a16:creationId xmlns:a16="http://schemas.microsoft.com/office/drawing/2014/main" id="{D0AEDDE2-5B1F-821A-16D6-8AEAF3E263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5620" y="4975866"/>
            <a:ext cx="914400" cy="9144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E9616B84-56FD-C118-B108-A8ABA18BCC1C}"/>
              </a:ext>
            </a:extLst>
          </p:cNvPr>
          <p:cNvSpPr/>
          <p:nvPr/>
        </p:nvSpPr>
        <p:spPr>
          <a:xfrm>
            <a:off x="5123848" y="5100246"/>
            <a:ext cx="2079414" cy="8642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СУБД</a:t>
            </a:r>
          </a:p>
        </p:txBody>
      </p:sp>
      <p:sp>
        <p:nvSpPr>
          <p:cNvPr id="8" name="Овал 10">
            <a:extLst>
              <a:ext uri="{FF2B5EF4-FFF2-40B4-BE49-F238E27FC236}">
                <a16:creationId xmlns:a16="http://schemas.microsoft.com/office/drawing/2014/main" id="{90B42154-1D83-8E74-984E-CB0083EF0289}"/>
              </a:ext>
            </a:extLst>
          </p:cNvPr>
          <p:cNvSpPr/>
          <p:nvPr/>
        </p:nvSpPr>
        <p:spPr>
          <a:xfrm>
            <a:off x="2535589" y="5853435"/>
            <a:ext cx="1490133" cy="5757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Данные</a:t>
            </a:r>
          </a:p>
        </p:txBody>
      </p:sp>
      <p:sp>
        <p:nvSpPr>
          <p:cNvPr id="10" name="Прямоугольник 11">
            <a:extLst>
              <a:ext uri="{FF2B5EF4-FFF2-40B4-BE49-F238E27FC236}">
                <a16:creationId xmlns:a16="http://schemas.microsoft.com/office/drawing/2014/main" id="{574CB88A-9CA0-2410-BDEC-7218A33254CB}"/>
              </a:ext>
            </a:extLst>
          </p:cNvPr>
          <p:cNvSpPr/>
          <p:nvPr/>
        </p:nvSpPr>
        <p:spPr>
          <a:xfrm>
            <a:off x="8868655" y="5088049"/>
            <a:ext cx="2079414" cy="8642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БД</a:t>
            </a:r>
          </a:p>
        </p:txBody>
      </p:sp>
      <p:sp>
        <p:nvSpPr>
          <p:cNvPr id="11" name="Овал 12">
            <a:extLst>
              <a:ext uri="{FF2B5EF4-FFF2-40B4-BE49-F238E27FC236}">
                <a16:creationId xmlns:a16="http://schemas.microsoft.com/office/drawing/2014/main" id="{7E52E582-2FCD-E459-D79A-A6CF3F7C0175}"/>
              </a:ext>
            </a:extLst>
          </p:cNvPr>
          <p:cNvSpPr/>
          <p:nvPr/>
        </p:nvSpPr>
        <p:spPr>
          <a:xfrm>
            <a:off x="2535589" y="4698316"/>
            <a:ext cx="1490133" cy="5757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Запрос</a:t>
            </a:r>
          </a:p>
        </p:txBody>
      </p:sp>
      <p:cxnSp>
        <p:nvCxnSpPr>
          <p:cNvPr id="12" name="Соединитель: изогнутый 14">
            <a:extLst>
              <a:ext uri="{FF2B5EF4-FFF2-40B4-BE49-F238E27FC236}">
                <a16:creationId xmlns:a16="http://schemas.microsoft.com/office/drawing/2014/main" id="{ABA21937-FFE7-4D25-CCE3-2DA439C8948D}"/>
              </a:ext>
            </a:extLst>
          </p:cNvPr>
          <p:cNvCxnSpPr>
            <a:stCxn id="5" idx="3"/>
            <a:endCxn id="11" idx="2"/>
          </p:cNvCxnSpPr>
          <p:nvPr/>
        </p:nvCxnSpPr>
        <p:spPr>
          <a:xfrm flipV="1">
            <a:off x="1840020" y="4986183"/>
            <a:ext cx="695569" cy="446883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: изогнутый 16">
            <a:extLst>
              <a:ext uri="{FF2B5EF4-FFF2-40B4-BE49-F238E27FC236}">
                <a16:creationId xmlns:a16="http://schemas.microsoft.com/office/drawing/2014/main" id="{C28D7D9E-AFC4-5FD4-4BD3-B2DCE761F94F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4025722" y="4986183"/>
            <a:ext cx="1098126" cy="406214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Соединитель: изогнутый 17">
            <a:extLst>
              <a:ext uri="{FF2B5EF4-FFF2-40B4-BE49-F238E27FC236}">
                <a16:creationId xmlns:a16="http://schemas.microsoft.com/office/drawing/2014/main" id="{7DE37A20-130C-CE3A-FDF3-C7085C960C7F}"/>
              </a:ext>
            </a:extLst>
          </p:cNvPr>
          <p:cNvCxnSpPr>
            <a:cxnSpLocks/>
            <a:stCxn id="8" idx="2"/>
          </p:cNvCxnSpPr>
          <p:nvPr/>
        </p:nvCxnSpPr>
        <p:spPr>
          <a:xfrm rot="10800000">
            <a:off x="1833163" y="5595094"/>
            <a:ext cx="702427" cy="546208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оединитель: изогнутый 23">
            <a:extLst>
              <a:ext uri="{FF2B5EF4-FFF2-40B4-BE49-F238E27FC236}">
                <a16:creationId xmlns:a16="http://schemas.microsoft.com/office/drawing/2014/main" id="{89AB4760-7755-71B3-AF20-46DC827A2C5A}"/>
              </a:ext>
            </a:extLst>
          </p:cNvPr>
          <p:cNvCxnSpPr>
            <a:cxnSpLocks/>
            <a:endCxn id="8" idx="6"/>
          </p:cNvCxnSpPr>
          <p:nvPr/>
        </p:nvCxnSpPr>
        <p:spPr>
          <a:xfrm rot="10800000" flipV="1">
            <a:off x="4025722" y="5680264"/>
            <a:ext cx="1098126" cy="46103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: изогнутый 26">
            <a:extLst>
              <a:ext uri="{FF2B5EF4-FFF2-40B4-BE49-F238E27FC236}">
                <a16:creationId xmlns:a16="http://schemas.microsoft.com/office/drawing/2014/main" id="{3A48A429-8A16-C950-3325-1B4CFDD86451}"/>
              </a:ext>
            </a:extLst>
          </p:cNvPr>
          <p:cNvCxnSpPr>
            <a:cxnSpLocks/>
          </p:cNvCxnSpPr>
          <p:nvPr/>
        </p:nvCxnSpPr>
        <p:spPr>
          <a:xfrm>
            <a:off x="7203262" y="5259286"/>
            <a:ext cx="1665393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: изогнутый 36">
            <a:extLst>
              <a:ext uri="{FF2B5EF4-FFF2-40B4-BE49-F238E27FC236}">
                <a16:creationId xmlns:a16="http://schemas.microsoft.com/office/drawing/2014/main" id="{E6D01532-30A5-43C9-6895-6AEE456C4C4A}"/>
              </a:ext>
            </a:extLst>
          </p:cNvPr>
          <p:cNvCxnSpPr>
            <a:cxnSpLocks/>
          </p:cNvCxnSpPr>
          <p:nvPr/>
        </p:nvCxnSpPr>
        <p:spPr>
          <a:xfrm rot="10800000">
            <a:off x="7203263" y="5748816"/>
            <a:ext cx="1665393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6A1C7CF-0F5A-0A15-DBD2-97F738047810}"/>
              </a:ext>
            </a:extLst>
          </p:cNvPr>
          <p:cNvSpPr txBox="1"/>
          <p:nvPr/>
        </p:nvSpPr>
        <p:spPr>
          <a:xfrm>
            <a:off x="2132557" y="46887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03C2FD-90AD-E71B-FFAD-C24AAF1F03DD}"/>
              </a:ext>
            </a:extLst>
          </p:cNvPr>
          <p:cNvSpPr txBox="1"/>
          <p:nvPr/>
        </p:nvSpPr>
        <p:spPr>
          <a:xfrm>
            <a:off x="7885115" y="48921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8A7054-4221-10D6-82B9-0DDE696A0C39}"/>
              </a:ext>
            </a:extLst>
          </p:cNvPr>
          <p:cNvSpPr txBox="1"/>
          <p:nvPr/>
        </p:nvSpPr>
        <p:spPr>
          <a:xfrm>
            <a:off x="7885115" y="54394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4FFBB4-68B1-ACBD-E1EC-8A4CCF2C9B94}"/>
              </a:ext>
            </a:extLst>
          </p:cNvPr>
          <p:cNvSpPr txBox="1"/>
          <p:nvPr/>
        </p:nvSpPr>
        <p:spPr>
          <a:xfrm>
            <a:off x="4140309" y="57450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4EF91E-B875-C96C-9669-CA001C8097CD}"/>
              </a:ext>
            </a:extLst>
          </p:cNvPr>
          <p:cNvSpPr txBox="1"/>
          <p:nvPr/>
        </p:nvSpPr>
        <p:spPr>
          <a:xfrm>
            <a:off x="4802341" y="5959714"/>
            <a:ext cx="29476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Oracle, MySQL, PostgreSQL, Redis, SQLite, …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812847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C0C47-2927-74DB-6EAD-04A7465FE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DEB0376-4ACB-0411-B8FD-B40693E090A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92946F4D-8A9E-4E79-5095-98CD80CCE7CF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Типы БД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ABBD0C-E482-CD82-6A91-8B46FB50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11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17FB6A0-FEF4-16E2-E61A-0F855D9DE7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9DEAFD98-AA2A-8163-963D-66AEEE1949F0}"/>
              </a:ext>
            </a:extLst>
          </p:cNvPr>
          <p:cNvSpPr/>
          <p:nvPr/>
        </p:nvSpPr>
        <p:spPr>
          <a:xfrm>
            <a:off x="501227" y="1491413"/>
            <a:ext cx="1119632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Реляционные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err="1"/>
              <a:t>Key-valu</a:t>
            </a:r>
            <a:r>
              <a:rPr lang="en-US" sz="3200" dirty="0"/>
              <a:t>e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err="1"/>
              <a:t>Документоориентированные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Векторные</a:t>
            </a:r>
          </a:p>
        </p:txBody>
      </p:sp>
    </p:spTree>
    <p:extLst>
      <p:ext uri="{BB962C8B-B14F-4D97-AF65-F5344CB8AC3E}">
        <p14:creationId xmlns:p14="http://schemas.microsoft.com/office/powerpoint/2010/main" val="3985703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0EE81-F8D5-07B2-E1F8-48538F4CA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229687D-F582-82F3-27C2-B67264F04D3B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9840A42-1CB6-D0ED-8AE8-F084BC25AC2C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Реляционные БД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4B335C-0F8E-653F-2996-B58A6789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12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D6B3154-F56F-83EF-8EB6-170117E849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5BB82082-2054-183C-8271-D78151CE60A8}"/>
              </a:ext>
            </a:extLst>
          </p:cNvPr>
          <p:cNvSpPr/>
          <p:nvPr/>
        </p:nvSpPr>
        <p:spPr>
          <a:xfrm>
            <a:off x="501227" y="1491413"/>
            <a:ext cx="1119632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dirty="0"/>
              <a:t>Базы данных, в основе построения которых лежит реляционная модель</a:t>
            </a:r>
          </a:p>
          <a:p>
            <a:pPr>
              <a:defRPr/>
            </a:pPr>
            <a:endParaRPr lang="ru-RU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Модель данных </a:t>
            </a:r>
            <a:r>
              <a:rPr lang="ru-RU" sz="2000" dirty="0"/>
              <a:t>в реляционных БД определена заранее и является строго типизированной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Данные хранятся в </a:t>
            </a:r>
            <a:r>
              <a:rPr lang="ru-RU" sz="2000" b="1" dirty="0"/>
              <a:t>таблицах</a:t>
            </a:r>
            <a:r>
              <a:rPr lang="ru-RU" sz="2000" dirty="0"/>
              <a:t>, состоящих из столбцов и строк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На пересечении каждого столбца и строчки допускается только </a:t>
            </a:r>
            <a:r>
              <a:rPr lang="ru-RU" sz="2000" b="1" dirty="0"/>
              <a:t>одно</a:t>
            </a:r>
            <a:r>
              <a:rPr lang="ru-RU" sz="2000" dirty="0"/>
              <a:t> значение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Каждый столбец поименован и имеет определённый </a:t>
            </a:r>
            <a:r>
              <a:rPr lang="ru-RU" sz="2000" b="1" dirty="0"/>
              <a:t>тип</a:t>
            </a:r>
            <a:r>
              <a:rPr lang="ru-RU" sz="2000" dirty="0"/>
              <a:t>, которому следуют значения со </a:t>
            </a:r>
            <a:r>
              <a:rPr lang="ru-RU" sz="2000" b="1" dirty="0"/>
              <a:t>всех</a:t>
            </a:r>
            <a:r>
              <a:rPr lang="ru-RU" sz="2000" dirty="0"/>
              <a:t> строк в данном столбце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Столбцы располагаются в определённом порядке, который определяется при создании таблицы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 таблице может не быть ни одной строки, но обязательно должен быть </a:t>
            </a:r>
            <a:r>
              <a:rPr lang="ru-RU" sz="2000" b="1" dirty="0"/>
              <a:t>хотя бы один столбец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Запросы к базе данных возвращают результат в виде </a:t>
            </a:r>
            <a:r>
              <a:rPr lang="ru-RU" sz="2000" b="1" dirty="0"/>
              <a:t>таблиц</a:t>
            </a:r>
          </a:p>
          <a:p>
            <a:pPr>
              <a:defRPr/>
            </a:pPr>
            <a:endParaRPr lang="ru-RU" sz="3200" dirty="0"/>
          </a:p>
          <a:p>
            <a:pPr>
              <a:defRPr/>
            </a:pPr>
            <a:r>
              <a:rPr lang="en-US" sz="2000" dirty="0"/>
              <a:t>Oracle, MySQL, PostgreSQL, SQLite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70857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0D05C-7B98-B3E1-10D6-EE09D1BA2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F0DCE47-F646-614B-56B5-5AAFF27DA557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73496757-0325-5D87-3B7F-417A49056EA4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</a:rPr>
              <a:t>Key-value </a:t>
            </a:r>
            <a:r>
              <a:rPr lang="ru-RU" sz="2800" b="1" dirty="0">
                <a:solidFill>
                  <a:srgbClr val="FF0000"/>
                </a:solidFill>
              </a:rPr>
              <a:t>БД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778D91-94E7-FFA6-BC76-6850193EE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13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8AF1A467-DF19-2889-1ECA-86B28C12B5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68FFCBA2-CDAB-E3EF-0F78-BD3B9179279F}"/>
              </a:ext>
            </a:extLst>
          </p:cNvPr>
          <p:cNvSpPr/>
          <p:nvPr/>
        </p:nvSpPr>
        <p:spPr>
          <a:xfrm>
            <a:off x="501227" y="1491413"/>
            <a:ext cx="1119632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dirty="0"/>
              <a:t>Тип баз данных, которые хранят данные как совокупность пар «ключ-значение», в которых ключ служит уникальным идентификатором</a:t>
            </a:r>
          </a:p>
          <a:p>
            <a:pPr>
              <a:defRPr/>
            </a:pPr>
            <a:endParaRPr lang="ru-RU" sz="3200" dirty="0"/>
          </a:p>
          <a:p>
            <a:r>
              <a:rPr lang="ru-RU" sz="2000" dirty="0"/>
              <a:t>+ Скорость работы</a:t>
            </a:r>
          </a:p>
          <a:p>
            <a:r>
              <a:rPr lang="ru-RU" sz="2000" dirty="0"/>
              <a:t>+ Простота модели хранения данных</a:t>
            </a:r>
          </a:p>
          <a:p>
            <a:r>
              <a:rPr lang="ru-RU" sz="2000" dirty="0"/>
              <a:t>+ Гибкость: значения могут быть любыми, включая JSON</a:t>
            </a:r>
          </a:p>
          <a:p>
            <a:r>
              <a:rPr lang="ru-RU" sz="2000" dirty="0"/>
              <a:t>- Плохо масштабируются по мере усложнения моделей данных</a:t>
            </a:r>
          </a:p>
          <a:p>
            <a:r>
              <a:rPr lang="ru-RU" sz="2000" dirty="0"/>
              <a:t>- Неэффективность при работе с группой записей</a:t>
            </a:r>
          </a:p>
          <a:p>
            <a:pPr>
              <a:defRPr/>
            </a:pPr>
            <a:r>
              <a:rPr lang="en-US" sz="2000" dirty="0"/>
              <a:t>- </a:t>
            </a:r>
            <a:r>
              <a:rPr lang="ru-RU" sz="2000" dirty="0"/>
              <a:t>Отсутствие языка запросов</a:t>
            </a:r>
          </a:p>
          <a:p>
            <a:pPr marL="342900" indent="-342900">
              <a:buFontTx/>
              <a:buChar char="-"/>
              <a:defRPr/>
            </a:pPr>
            <a:endParaRPr lang="ru-RU" sz="2000" dirty="0"/>
          </a:p>
          <a:p>
            <a:pPr>
              <a:defRPr/>
            </a:pPr>
            <a:r>
              <a:rPr lang="en-US" sz="2000" dirty="0"/>
              <a:t>Redis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257764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A39B5-5128-7E8C-DF91-4F6CFEA42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5E24F76-D4DC-A34F-0A85-DF3FA2FB674F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2CC77D14-E6FC-C307-57A9-6D9EF1D8D630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 err="1">
                <a:solidFill>
                  <a:srgbClr val="FF0000"/>
                </a:solidFill>
              </a:rPr>
              <a:t>Документоориентированные</a:t>
            </a:r>
            <a:r>
              <a:rPr lang="ru-RU" sz="2800" b="1" dirty="0">
                <a:solidFill>
                  <a:srgbClr val="FF0000"/>
                </a:solidFill>
              </a:rPr>
              <a:t> БД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D1A7FC-68DB-BA9D-834D-1902D36B6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14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5613C972-E0CF-1FF9-4759-41B909C900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DCF2412A-DAF4-C203-B4AB-0EE59EFA1583}"/>
              </a:ext>
            </a:extLst>
          </p:cNvPr>
          <p:cNvSpPr/>
          <p:nvPr/>
        </p:nvSpPr>
        <p:spPr>
          <a:xfrm>
            <a:off x="501227" y="1321730"/>
            <a:ext cx="637043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dirty="0"/>
              <a:t>Тип баз данных, направленный на хранение и запрос данных в виде документов (структурированный текст, например </a:t>
            </a:r>
            <a:r>
              <a:rPr lang="en-US" sz="3200" dirty="0"/>
              <a:t>JSON)</a:t>
            </a:r>
            <a:endParaRPr lang="ru-RU" sz="3200" dirty="0"/>
          </a:p>
          <a:p>
            <a:pPr>
              <a:defRPr/>
            </a:pPr>
            <a:endParaRPr lang="ru-RU" sz="3200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ru-RU" sz="2000" dirty="0"/>
              <a:t>Отсутствует схема данных: можно добавлять новую информацию в некоторые записи, не требуя при этом, чтобы все остальные записи в базе данных имели одинаковую структуру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ru-RU" sz="2000" dirty="0"/>
              <a:t>Язык запросов отличается от одной реализации к другой</a:t>
            </a:r>
          </a:p>
          <a:p>
            <a:pPr>
              <a:defRPr/>
            </a:pPr>
            <a:endParaRPr lang="ru-RU" sz="2000" dirty="0"/>
          </a:p>
          <a:p>
            <a:pPr>
              <a:defRPr/>
            </a:pPr>
            <a:r>
              <a:rPr lang="en-US" sz="2000" dirty="0"/>
              <a:t>OpenSearch</a:t>
            </a:r>
            <a:endParaRPr lang="ru-RU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2DC8F7-20D3-518F-7310-46C786191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665" y="1491413"/>
            <a:ext cx="5226214" cy="445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471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50EC0-6ABC-AA0B-9388-7594A0C53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014536-DD31-75E1-7DA3-2D7E12BABD84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F3DF2176-D91F-6CAE-BE70-A43D83C70B8E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Векторные БД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CE1746-F269-B3D4-B259-837190C2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15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0ABD5BC9-0422-F8D7-D3EB-9145A82438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48C0E31B-BC81-3975-0A49-5C1AEAAB198E}"/>
              </a:ext>
            </a:extLst>
          </p:cNvPr>
          <p:cNvSpPr/>
          <p:nvPr/>
        </p:nvSpPr>
        <p:spPr>
          <a:xfrm>
            <a:off x="501228" y="1491413"/>
            <a:ext cx="781321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dirty="0"/>
              <a:t>Базы данных, хранящие текстовую информацию, представленную в векторном формате - </a:t>
            </a:r>
            <a:r>
              <a:rPr lang="ru-RU" sz="3200" i="1" dirty="0" err="1"/>
              <a:t>эмбеддингах</a:t>
            </a:r>
            <a:endParaRPr lang="ru-RU" sz="3200" i="1" dirty="0"/>
          </a:p>
          <a:p>
            <a:pPr>
              <a:defRPr/>
            </a:pPr>
            <a:endParaRPr lang="ru-RU" sz="3200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ru-RU" sz="2000" dirty="0"/>
              <a:t>Свойство векторов </a:t>
            </a:r>
            <a:r>
              <a:rPr lang="ru-RU" sz="2000" dirty="0" err="1"/>
              <a:t>эмбеддингов</a:t>
            </a:r>
            <a:r>
              <a:rPr lang="ru-RU" sz="2000" dirty="0"/>
              <a:t> – косинусное расстояние между </a:t>
            </a:r>
            <a:r>
              <a:rPr lang="ru-RU" sz="2000" i="1" dirty="0"/>
              <a:t>близкими по смыслу </a:t>
            </a:r>
            <a:r>
              <a:rPr lang="ru-RU" sz="2000" dirty="0"/>
              <a:t>словами (фразами, </a:t>
            </a:r>
            <a:r>
              <a:rPr lang="ru-RU" sz="2000" dirty="0" err="1"/>
              <a:t>токенами</a:t>
            </a:r>
            <a:r>
              <a:rPr lang="ru-RU" sz="2000" dirty="0"/>
              <a:t>) мало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ru-RU" sz="2000" dirty="0"/>
              <a:t>Поиск данных ведется не с помощью точных языков запросов, а с помощью запросов на естественном языке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259EAE-364B-DC56-7FFC-163EA7B0A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765" y="1457825"/>
            <a:ext cx="4038600" cy="9810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1BE959-476F-4DD7-5B4F-0AA82214EB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9909" t="17295" r="4223" b="17458"/>
          <a:stretch>
            <a:fillRect/>
          </a:stretch>
        </p:blipFill>
        <p:spPr>
          <a:xfrm>
            <a:off x="8610600" y="2772863"/>
            <a:ext cx="3235784" cy="329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71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1A4A0-2285-F571-8F62-32242C8AB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1">
            <a:extLst>
              <a:ext uri="{FF2B5EF4-FFF2-40B4-BE49-F238E27FC236}">
                <a16:creationId xmlns:a16="http://schemas.microsoft.com/office/drawing/2014/main" id="{5B9ECC42-582F-F640-F3CF-F0D594366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126" y="3557759"/>
            <a:ext cx="5813213" cy="3080282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A79C504-B61B-9CA9-8FE6-1C26FEC81D10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AFE99342-1BA0-B102-EA31-B148362B272C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Структура реляционных БД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C422E4-6569-09DA-DFEA-28997D15F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16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AFFC146F-4440-7B18-8726-C00D0E16E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2" name="Рисунок 4">
            <a:extLst>
              <a:ext uri="{FF2B5EF4-FFF2-40B4-BE49-F238E27FC236}">
                <a16:creationId xmlns:a16="http://schemas.microsoft.com/office/drawing/2014/main" id="{00FEA102-C0E7-8CF3-D8AC-499E71C65C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904" y="941765"/>
            <a:ext cx="7470096" cy="2274602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4B7366A-4E14-7C18-0A02-C43F4F9E47DB}"/>
              </a:ext>
            </a:extLst>
          </p:cNvPr>
          <p:cNvSpPr/>
          <p:nvPr/>
        </p:nvSpPr>
        <p:spPr>
          <a:xfrm>
            <a:off x="478986" y="1649015"/>
            <a:ext cx="473403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Информация хранится в связанных друг с другом </a:t>
            </a:r>
            <a:r>
              <a:rPr lang="ru-RU" b="1" dirty="0"/>
              <a:t>таблицах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Таблицы состоят из </a:t>
            </a:r>
            <a:r>
              <a:rPr lang="ru-RU" b="1" dirty="0"/>
              <a:t>строк</a:t>
            </a:r>
            <a:r>
              <a:rPr lang="ru-RU" dirty="0"/>
              <a:t> («записи») и </a:t>
            </a:r>
            <a:r>
              <a:rPr lang="ru-RU" b="1" dirty="0"/>
              <a:t>столбцов</a:t>
            </a:r>
            <a:r>
              <a:rPr lang="ru-RU" dirty="0"/>
              <a:t> («поля», «атрибуты»)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Столбец имеет заранее определённый тип данных (</a:t>
            </a:r>
            <a:r>
              <a:rPr lang="en-US" dirty="0"/>
              <a:t>VARCHAR, INTEGER, DATETIME </a:t>
            </a:r>
            <a:r>
              <a:rPr lang="ru-RU" dirty="0"/>
              <a:t>и пр.)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Ключевое</a:t>
            </a:r>
            <a:r>
              <a:rPr lang="ru-RU" dirty="0"/>
              <a:t> </a:t>
            </a:r>
            <a:r>
              <a:rPr lang="ru-RU" b="1" dirty="0"/>
              <a:t>поле</a:t>
            </a:r>
            <a:r>
              <a:rPr lang="ru-RU" dirty="0"/>
              <a:t> (первичный ключ) – это поле (или набор полей), значение которого </a:t>
            </a:r>
            <a:r>
              <a:rPr lang="ru-RU" b="1" dirty="0"/>
              <a:t>однозначно</a:t>
            </a:r>
            <a:r>
              <a:rPr lang="ru-RU" dirty="0"/>
              <a:t> определяет запись в таблице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Внешний ключ </a:t>
            </a:r>
            <a:r>
              <a:rPr lang="ru-RU" dirty="0"/>
              <a:t>– это поле (или набор полей) в одной таблице, которое ссылается на первичный ключ в другой таблице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Работа с данными осуществляется с помощью языка </a:t>
            </a:r>
            <a:r>
              <a:rPr lang="en-US" dirty="0"/>
              <a:t>SQL</a:t>
            </a:r>
            <a:endParaRPr lang="ru-RU"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0900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FDBAF-9B6A-7206-A423-52DDB4A7D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47330B4-A3F6-9729-11C9-1D993216E576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324E7F64-E0F7-8ECD-9F12-A39B4E0C4D91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Реляционное хранилище данных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3FB66A-87E5-647D-BC61-B8A12D3D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17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CF21454B-324E-8D24-955B-021F2D9902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0D3D065-A6AF-7F08-16EF-D382B11717BD}"/>
              </a:ext>
            </a:extLst>
          </p:cNvPr>
          <p:cNvSpPr/>
          <p:nvPr/>
        </p:nvSpPr>
        <p:spPr>
          <a:xfrm>
            <a:off x="603100" y="2303841"/>
            <a:ext cx="47340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Состоит из таблиц «измерений» – наборы категориальных признаков и таблиц «фактов» - описание отдельных транзакций, непрерывные данные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Измерения редко изменяются (хранилище не оптимизировано для их изменений)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Факты постоянно пополняются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Дополнительные группировки данных измерений увеличивают количество связанных таблиц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9A86E8-0CFF-41C6-6D99-C8235BA13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283" y="1753385"/>
            <a:ext cx="5206219" cy="396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293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F88C9-535C-27ED-07B7-C73B0EFBA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7EDD0EF-7275-F0AE-147D-7CB3C1FDF33F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EA8A1BA-DE9C-F2CD-B1E1-76102B9BDF51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Многомерное хранилище данных </a:t>
            </a:r>
            <a:r>
              <a:rPr lang="en-US" sz="2800" b="1" dirty="0">
                <a:solidFill>
                  <a:srgbClr val="FF0000"/>
                </a:solidFill>
              </a:rPr>
              <a:t>(OLAP </a:t>
            </a:r>
            <a:r>
              <a:rPr lang="ru-RU" sz="2800" b="1" dirty="0">
                <a:solidFill>
                  <a:srgbClr val="FF0000"/>
                </a:solidFill>
              </a:rPr>
              <a:t>кубы</a:t>
            </a:r>
            <a:r>
              <a:rPr lang="en-US" sz="2800" b="1" dirty="0">
                <a:solidFill>
                  <a:srgbClr val="FF0000"/>
                </a:solidFill>
              </a:rPr>
              <a:t>)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515C10-B2C8-F59C-6D39-51AF12F75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18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B32E3725-047E-4F40-AFF1-709888839D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0C6104-DE45-0466-00D8-3560C9E3FA82}"/>
              </a:ext>
            </a:extLst>
          </p:cNvPr>
          <p:cNvSpPr/>
          <p:nvPr/>
        </p:nvSpPr>
        <p:spPr>
          <a:xfrm>
            <a:off x="603100" y="2303841"/>
            <a:ext cx="47340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OLAP (Online Analytical Processing) </a:t>
            </a:r>
            <a:r>
              <a:rPr lang="ru-RU" b="1" dirty="0"/>
              <a:t>куб</a:t>
            </a:r>
            <a:r>
              <a:rPr lang="en-US" b="1" dirty="0"/>
              <a:t>:</a:t>
            </a:r>
            <a:endParaRPr lang="ru-R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Многомерное представление позволяет анализировать данные по любой совокупности измерений одним запросом</a:t>
            </a:r>
            <a:r>
              <a:rPr lang="en-US" dirty="0"/>
              <a:t> (</a:t>
            </a:r>
            <a:r>
              <a:rPr lang="ru-RU" dirty="0"/>
              <a:t>выше гибкость и скорость)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Добавление измерения – полное перестроение куба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OLAP </a:t>
            </a:r>
            <a:r>
              <a:rPr lang="ru-RU" dirty="0"/>
              <a:t>куб хранится в памяти, поэтому структура крайне требовательна к объему оперативной памяти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DE681C-9A9C-907E-3C19-2F03F4663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0525" y="1118751"/>
            <a:ext cx="6048375" cy="3962400"/>
          </a:xfrm>
          <a:prstGeom prst="rect">
            <a:avLst/>
          </a:prstGeom>
        </p:spPr>
      </p:pic>
      <p:sp>
        <p:nvSpPr>
          <p:cNvPr id="8" name="Прямоугольник 6">
            <a:extLst>
              <a:ext uri="{FF2B5EF4-FFF2-40B4-BE49-F238E27FC236}">
                <a16:creationId xmlns:a16="http://schemas.microsoft.com/office/drawing/2014/main" id="{B63D745E-DEF1-7244-5F36-DEB20CD9071C}"/>
              </a:ext>
            </a:extLst>
          </p:cNvPr>
          <p:cNvSpPr/>
          <p:nvPr/>
        </p:nvSpPr>
        <p:spPr>
          <a:xfrm>
            <a:off x="6854866" y="5166163"/>
            <a:ext cx="47340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200" dirty="0"/>
              <a:t>Продажи цемента в ООО «</a:t>
            </a:r>
            <a:r>
              <a:rPr lang="ru-RU" sz="1200" dirty="0" err="1"/>
              <a:t>Спецстрой</a:t>
            </a:r>
            <a:r>
              <a:rPr lang="ru-RU" sz="1200" dirty="0"/>
              <a:t>» за 3.11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200" dirty="0"/>
              <a:t>Продажи плит в ЗАО «Пирамида» за 6.11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200" dirty="0"/>
              <a:t>Продажи плит в ООО «</a:t>
            </a:r>
            <a:r>
              <a:rPr lang="ru-RU" sz="1200" dirty="0" err="1"/>
              <a:t>Спецстрой</a:t>
            </a:r>
            <a:r>
              <a:rPr lang="ru-RU" sz="1200" dirty="0"/>
              <a:t>» за 4.11</a:t>
            </a:r>
          </a:p>
        </p:txBody>
      </p:sp>
    </p:spTree>
    <p:extLst>
      <p:ext uri="{BB962C8B-B14F-4D97-AF65-F5344CB8AC3E}">
        <p14:creationId xmlns:p14="http://schemas.microsoft.com/office/powerpoint/2010/main" val="1252602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0E216-E1CB-7749-6EDA-36E831360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8F7FCBF-9CC2-B9F2-8934-E1A5457D6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338" y="0"/>
            <a:ext cx="12200338" cy="685800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266EB7A-C2AE-0753-3F7E-EEE9B0C6B515}"/>
              </a:ext>
            </a:extLst>
          </p:cNvPr>
          <p:cNvSpPr txBox="1">
            <a:spLocks/>
          </p:cNvSpPr>
          <p:nvPr/>
        </p:nvSpPr>
        <p:spPr>
          <a:xfrm>
            <a:off x="2640093" y="2359598"/>
            <a:ext cx="6903475" cy="213880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Сбор, хранение и обработка сетевого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2786526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49F7B-D136-E93F-5790-16A05C3B2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loud 28">
            <a:extLst>
              <a:ext uri="{FF2B5EF4-FFF2-40B4-BE49-F238E27FC236}">
                <a16:creationId xmlns:a16="http://schemas.microsoft.com/office/drawing/2014/main" id="{4FC507D7-48EB-C628-3936-009171EF73A7}"/>
              </a:ext>
            </a:extLst>
          </p:cNvPr>
          <p:cNvSpPr/>
          <p:nvPr/>
        </p:nvSpPr>
        <p:spPr>
          <a:xfrm>
            <a:off x="2743200" y="1503193"/>
            <a:ext cx="6488513" cy="4291728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4921C10-CA2A-4AF9-A2A4-3C8BE67606AF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EF8436B-BADB-D82A-1FF4-E4B2035AE57F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Выбор «точек наблюдения». Коллизионный домен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45C7B6-7659-5905-B42A-5CEF69F5D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20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20622BDD-2DE3-9F20-B743-C1CA601153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0DF584A-140A-D3E8-8956-CFDA152AF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1548" y="1503193"/>
            <a:ext cx="942975" cy="8286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ED6E9F1-8FF2-0CC2-F22A-69137C2AC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1547" y="4452513"/>
            <a:ext cx="942975" cy="828675"/>
          </a:xfrm>
          <a:prstGeom prst="rect">
            <a:avLst/>
          </a:prstGeom>
        </p:spPr>
      </p:pic>
      <p:pic>
        <p:nvPicPr>
          <p:cNvPr id="19" name="Picture 10" descr="C:\Users\ecoffey\AppData\Local\Temp\Rar$DRa0.262\30020__Device_detector_default_256.png">
            <a:extLst>
              <a:ext uri="{FF2B5EF4-FFF2-40B4-BE49-F238E27FC236}">
                <a16:creationId xmlns:a16="http://schemas.microsoft.com/office/drawing/2014/main" id="{6BD35859-62A6-E1FF-6AA0-A1C8E5C4B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631" y="3059359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C:\Users\ecoffey\AppData\Local\Temp\Rar$DRa0.423\30103_Device_wireless_router_default_256.png">
            <a:extLst>
              <a:ext uri="{FF2B5EF4-FFF2-40B4-BE49-F238E27FC236}">
                <a16:creationId xmlns:a16="http://schemas.microsoft.com/office/drawing/2014/main" id="{74167206-8297-8112-4CF1-E547E8376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709" y="2817483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8C0A465-8F75-0DBD-A9C2-60203271C953}"/>
              </a:ext>
            </a:extLst>
          </p:cNvPr>
          <p:cNvSpPr/>
          <p:nvPr/>
        </p:nvSpPr>
        <p:spPr>
          <a:xfrm>
            <a:off x="5901178" y="1995918"/>
            <a:ext cx="1300899" cy="2870933"/>
          </a:xfrm>
          <a:custGeom>
            <a:avLst/>
            <a:gdLst>
              <a:gd name="csX0" fmla="*/ 1385750 w 1404604"/>
              <a:gd name="csY0" fmla="*/ 0 h 2705493"/>
              <a:gd name="csX1" fmla="*/ 10 w 1404604"/>
              <a:gd name="csY1" fmla="*/ 867266 h 2705493"/>
              <a:gd name="csX2" fmla="*/ 1404604 w 1404604"/>
              <a:gd name="csY2" fmla="*/ 2705493 h 27054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4604" h="2705493">
                <a:moveTo>
                  <a:pt x="1385750" y="0"/>
                </a:moveTo>
                <a:cubicBezTo>
                  <a:pt x="691309" y="208175"/>
                  <a:pt x="-3132" y="416351"/>
                  <a:pt x="10" y="867266"/>
                </a:cubicBezTo>
                <a:cubicBezTo>
                  <a:pt x="3152" y="1318181"/>
                  <a:pt x="703878" y="2011837"/>
                  <a:pt x="1404604" y="2705493"/>
                </a:cubicBezTo>
              </a:path>
            </a:pathLst>
          </a:custGeom>
          <a:noFill/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B84821-6DA9-B7B6-3B48-81FC2CB10EF2}"/>
              </a:ext>
            </a:extLst>
          </p:cNvPr>
          <p:cNvSpPr txBox="1"/>
          <p:nvPr/>
        </p:nvSpPr>
        <p:spPr>
          <a:xfrm>
            <a:off x="7674176" y="234578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EA882D-BA60-039C-0012-76C9CF638F48}"/>
              </a:ext>
            </a:extLst>
          </p:cNvPr>
          <p:cNvSpPr txBox="1"/>
          <p:nvPr/>
        </p:nvSpPr>
        <p:spPr>
          <a:xfrm>
            <a:off x="7674176" y="530147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227CFD-D483-9496-0A1D-5CF15112EFFB}"/>
              </a:ext>
            </a:extLst>
          </p:cNvPr>
          <p:cNvSpPr txBox="1"/>
          <p:nvPr/>
        </p:nvSpPr>
        <p:spPr>
          <a:xfrm>
            <a:off x="3293438" y="3984177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Сенсор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D7E75E-B835-8A8D-BA7F-E819488B953F}"/>
              </a:ext>
            </a:extLst>
          </p:cNvPr>
          <p:cNvSpPr txBox="1"/>
          <p:nvPr/>
        </p:nvSpPr>
        <p:spPr>
          <a:xfrm>
            <a:off x="6181974" y="2305752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A↔B</a:t>
            </a:r>
            <a:endParaRPr lang="ru-RU" dirty="0"/>
          </a:p>
        </p:txBody>
      </p:sp>
      <p:sp>
        <p:nvSpPr>
          <p:cNvPr id="31" name="Прямоугольник 6">
            <a:extLst>
              <a:ext uri="{FF2B5EF4-FFF2-40B4-BE49-F238E27FC236}">
                <a16:creationId xmlns:a16="http://schemas.microsoft.com/office/drawing/2014/main" id="{C2004255-D1BF-FD1F-5C76-8B05BF63F031}"/>
              </a:ext>
            </a:extLst>
          </p:cNvPr>
          <p:cNvSpPr/>
          <p:nvPr/>
        </p:nvSpPr>
        <p:spPr>
          <a:xfrm>
            <a:off x="4118732" y="983820"/>
            <a:ext cx="34099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Что увидит сенсор</a:t>
            </a:r>
            <a:r>
              <a:rPr lang="en-US" sz="2800" b="1" dirty="0"/>
              <a:t>?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58437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9C55E-9E3F-04C5-B17E-D36ADCCEA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5815DAF-2750-95A2-C9F5-425CB8B2A257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F473EE8-33BF-43D8-CBD8-D4F023AEB53A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Режим работы сетевого адаптера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99275E-CF1D-3EC8-49AE-E3AD2C252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21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E0B95E77-C0BE-3FC2-7A8E-A646FFB6B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D9BE9D-F72A-7DF4-FCA1-6E42F6DF9167}"/>
              </a:ext>
            </a:extLst>
          </p:cNvPr>
          <p:cNvSpPr/>
          <p:nvPr/>
        </p:nvSpPr>
        <p:spPr>
          <a:xfrm>
            <a:off x="3055071" y="1497517"/>
            <a:ext cx="2347274" cy="28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Ethernet </a:t>
            </a:r>
            <a:r>
              <a:rPr lang="ru-RU" dirty="0"/>
              <a:t>фрейм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8AE12EA5-ABBA-8E5B-F17A-489DA2F9C69E}"/>
              </a:ext>
            </a:extLst>
          </p:cNvPr>
          <p:cNvSpPr/>
          <p:nvPr/>
        </p:nvSpPr>
        <p:spPr>
          <a:xfrm>
            <a:off x="3055071" y="2674241"/>
            <a:ext cx="2347274" cy="1082524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dirty="0"/>
              <a:t>Служебный фрейм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8F3A0A-6C0F-4C24-A199-E9CE403519CF}"/>
              </a:ext>
            </a:extLst>
          </p:cNvPr>
          <p:cNvSpPr/>
          <p:nvPr/>
        </p:nvSpPr>
        <p:spPr>
          <a:xfrm>
            <a:off x="3055071" y="2085879"/>
            <a:ext cx="2347274" cy="28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Декодирование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2CEE861-1A11-2050-1016-EACBE60FFFBB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4228708" y="1785517"/>
            <a:ext cx="0" cy="300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50E96C-8621-3D2B-52E3-492F59B303FF}"/>
              </a:ext>
            </a:extLst>
          </p:cNvPr>
          <p:cNvCxnSpPr>
            <a:cxnSpLocks/>
            <a:stCxn id="12" idx="2"/>
            <a:endCxn id="7" idx="0"/>
          </p:cNvCxnSpPr>
          <p:nvPr/>
        </p:nvCxnSpPr>
        <p:spPr>
          <a:xfrm>
            <a:off x="4228708" y="2373879"/>
            <a:ext cx="0" cy="300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6AC9FDE-58C9-B354-DC49-0B88E5558D1A}"/>
              </a:ext>
            </a:extLst>
          </p:cNvPr>
          <p:cNvCxnSpPr>
            <a:cxnSpLocks/>
            <a:stCxn id="7" idx="2"/>
            <a:endCxn id="32" idx="0"/>
          </p:cNvCxnSpPr>
          <p:nvPr/>
        </p:nvCxnSpPr>
        <p:spPr>
          <a:xfrm>
            <a:off x="4228708" y="3756765"/>
            <a:ext cx="0" cy="300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3A02851-0BB1-A0BC-48FE-3BA6BDDD5B62}"/>
              </a:ext>
            </a:extLst>
          </p:cNvPr>
          <p:cNvSpPr/>
          <p:nvPr/>
        </p:nvSpPr>
        <p:spPr>
          <a:xfrm>
            <a:off x="3055071" y="4057127"/>
            <a:ext cx="2347274" cy="57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Извлечение </a:t>
            </a:r>
            <a:r>
              <a:rPr lang="en-US" dirty="0"/>
              <a:t>Destination MAC</a:t>
            </a:r>
            <a:endParaRPr lang="ru-RU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2340574-4178-0E1F-7EBC-E3557E5C4B77}"/>
              </a:ext>
            </a:extLst>
          </p:cNvPr>
          <p:cNvCxnSpPr>
            <a:cxnSpLocks/>
            <a:stCxn id="32" idx="2"/>
            <a:endCxn id="43" idx="0"/>
          </p:cNvCxnSpPr>
          <p:nvPr/>
        </p:nvCxnSpPr>
        <p:spPr>
          <a:xfrm>
            <a:off x="4228708" y="4633127"/>
            <a:ext cx="0" cy="300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lowchart: Decision 42">
            <a:extLst>
              <a:ext uri="{FF2B5EF4-FFF2-40B4-BE49-F238E27FC236}">
                <a16:creationId xmlns:a16="http://schemas.microsoft.com/office/drawing/2014/main" id="{35C78520-2C5F-BD85-2BAD-2126ECFA723C}"/>
              </a:ext>
            </a:extLst>
          </p:cNvPr>
          <p:cNvSpPr/>
          <p:nvPr/>
        </p:nvSpPr>
        <p:spPr>
          <a:xfrm>
            <a:off x="3055071" y="4933489"/>
            <a:ext cx="2347274" cy="1082524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dirty="0"/>
              <a:t>Адрес назначения мой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ABB3A5-3496-A061-1B49-54833C37701F}"/>
              </a:ext>
            </a:extLst>
          </p:cNvPr>
          <p:cNvSpPr txBox="1"/>
          <p:nvPr/>
        </p:nvSpPr>
        <p:spPr>
          <a:xfrm>
            <a:off x="4228708" y="3703665"/>
            <a:ext cx="533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Нет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6752A47-2459-FB76-9841-B8DE1A9CEC34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2526331" y="3215503"/>
            <a:ext cx="5287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EAF7160A-37E8-6329-036E-DA6F411E5E63}"/>
              </a:ext>
            </a:extLst>
          </p:cNvPr>
          <p:cNvSpPr/>
          <p:nvPr/>
        </p:nvSpPr>
        <p:spPr>
          <a:xfrm>
            <a:off x="183539" y="2783503"/>
            <a:ext cx="2347274" cy="86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Обработка служебной информации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6D064E2-0886-4AC7-3E8A-E1F16A25685F}"/>
              </a:ext>
            </a:extLst>
          </p:cNvPr>
          <p:cNvSpPr txBox="1"/>
          <p:nvPr/>
        </p:nvSpPr>
        <p:spPr>
          <a:xfrm>
            <a:off x="2526331" y="2914139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AB8216F-026E-0A32-F02C-F7E69CB1232E}"/>
              </a:ext>
            </a:extLst>
          </p:cNvPr>
          <p:cNvSpPr/>
          <p:nvPr/>
        </p:nvSpPr>
        <p:spPr>
          <a:xfrm>
            <a:off x="183539" y="5042751"/>
            <a:ext cx="2347274" cy="86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Передача фрейма на обработку ОС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A331CCE-CEF2-C7A7-940C-BB2B1C9B606C}"/>
              </a:ext>
            </a:extLst>
          </p:cNvPr>
          <p:cNvCxnSpPr>
            <a:cxnSpLocks/>
          </p:cNvCxnSpPr>
          <p:nvPr/>
        </p:nvCxnSpPr>
        <p:spPr>
          <a:xfrm flipH="1">
            <a:off x="2530813" y="5486137"/>
            <a:ext cx="5242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C886AAC-5B03-716B-0698-78FFC1365E59}"/>
              </a:ext>
            </a:extLst>
          </p:cNvPr>
          <p:cNvSpPr txBox="1"/>
          <p:nvPr/>
        </p:nvSpPr>
        <p:spPr>
          <a:xfrm>
            <a:off x="2526331" y="5163113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FCAE3BD-BC42-A658-12AF-50752074A498}"/>
              </a:ext>
            </a:extLst>
          </p:cNvPr>
          <p:cNvCxnSpPr>
            <a:cxnSpLocks/>
          </p:cNvCxnSpPr>
          <p:nvPr/>
        </p:nvCxnSpPr>
        <p:spPr>
          <a:xfrm>
            <a:off x="4228708" y="6030544"/>
            <a:ext cx="0" cy="294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92E5D59-569B-217B-7030-286CAE110744}"/>
              </a:ext>
            </a:extLst>
          </p:cNvPr>
          <p:cNvSpPr txBox="1"/>
          <p:nvPr/>
        </p:nvSpPr>
        <p:spPr>
          <a:xfrm>
            <a:off x="4228708" y="5955784"/>
            <a:ext cx="533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Нет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291B9A7-8A36-13FE-73C5-B663D4B88FFF}"/>
              </a:ext>
            </a:extLst>
          </p:cNvPr>
          <p:cNvSpPr/>
          <p:nvPr/>
        </p:nvSpPr>
        <p:spPr>
          <a:xfrm>
            <a:off x="3055071" y="6316375"/>
            <a:ext cx="2347274" cy="28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Отбросить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AD0A82B-F3C1-BF00-0BAA-0F35AB1C184E}"/>
              </a:ext>
            </a:extLst>
          </p:cNvPr>
          <p:cNvSpPr/>
          <p:nvPr/>
        </p:nvSpPr>
        <p:spPr>
          <a:xfrm>
            <a:off x="9134858" y="1497517"/>
            <a:ext cx="2347274" cy="28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Ethernet </a:t>
            </a:r>
            <a:r>
              <a:rPr lang="ru-RU" dirty="0"/>
              <a:t>фрейм</a:t>
            </a:r>
          </a:p>
        </p:txBody>
      </p:sp>
      <p:sp>
        <p:nvSpPr>
          <p:cNvPr id="63" name="Flowchart: Decision 62">
            <a:extLst>
              <a:ext uri="{FF2B5EF4-FFF2-40B4-BE49-F238E27FC236}">
                <a16:creationId xmlns:a16="http://schemas.microsoft.com/office/drawing/2014/main" id="{AD727570-16D9-7567-8449-D497DDD34FF7}"/>
              </a:ext>
            </a:extLst>
          </p:cNvPr>
          <p:cNvSpPr/>
          <p:nvPr/>
        </p:nvSpPr>
        <p:spPr>
          <a:xfrm>
            <a:off x="9134858" y="2674241"/>
            <a:ext cx="2347274" cy="1082524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dirty="0"/>
              <a:t>Служебный фрейм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9BD63B7-3EF9-821E-C65E-7A28D7CBE5F9}"/>
              </a:ext>
            </a:extLst>
          </p:cNvPr>
          <p:cNvSpPr/>
          <p:nvPr/>
        </p:nvSpPr>
        <p:spPr>
          <a:xfrm>
            <a:off x="9134858" y="2085879"/>
            <a:ext cx="2347274" cy="28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Декодирование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6ABDFD2-218A-1932-E751-C6EDBEC26C0C}"/>
              </a:ext>
            </a:extLst>
          </p:cNvPr>
          <p:cNvCxnSpPr>
            <a:cxnSpLocks/>
            <a:stCxn id="62" idx="2"/>
            <a:endCxn id="64" idx="0"/>
          </p:cNvCxnSpPr>
          <p:nvPr/>
        </p:nvCxnSpPr>
        <p:spPr>
          <a:xfrm>
            <a:off x="10308495" y="1785517"/>
            <a:ext cx="0" cy="300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2ED42B0-F7A2-EC45-9ABA-D951EE64278E}"/>
              </a:ext>
            </a:extLst>
          </p:cNvPr>
          <p:cNvCxnSpPr>
            <a:cxnSpLocks/>
            <a:stCxn id="64" idx="2"/>
            <a:endCxn id="63" idx="0"/>
          </p:cNvCxnSpPr>
          <p:nvPr/>
        </p:nvCxnSpPr>
        <p:spPr>
          <a:xfrm>
            <a:off x="10308495" y="2373879"/>
            <a:ext cx="0" cy="300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230551C-B740-3FCB-7769-9080249A659C}"/>
              </a:ext>
            </a:extLst>
          </p:cNvPr>
          <p:cNvCxnSpPr>
            <a:cxnSpLocks/>
            <a:stCxn id="63" idx="2"/>
            <a:endCxn id="68" idx="0"/>
          </p:cNvCxnSpPr>
          <p:nvPr/>
        </p:nvCxnSpPr>
        <p:spPr>
          <a:xfrm>
            <a:off x="10308495" y="3756765"/>
            <a:ext cx="0" cy="300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72C02A44-63D2-2B33-F17C-3AA8AB92D894}"/>
              </a:ext>
            </a:extLst>
          </p:cNvPr>
          <p:cNvSpPr/>
          <p:nvPr/>
        </p:nvSpPr>
        <p:spPr>
          <a:xfrm>
            <a:off x="9134858" y="4057127"/>
            <a:ext cx="2347274" cy="57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Проверка флага </a:t>
            </a:r>
            <a:r>
              <a:rPr lang="en-US" dirty="0" err="1"/>
              <a:t>promisc</a:t>
            </a:r>
            <a:r>
              <a:rPr lang="en-US" dirty="0"/>
              <a:t> </a:t>
            </a:r>
            <a:r>
              <a:rPr lang="ru-RU" dirty="0"/>
              <a:t>режима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10C9F1D-0409-0DA1-7B92-C2E910E1982C}"/>
              </a:ext>
            </a:extLst>
          </p:cNvPr>
          <p:cNvCxnSpPr>
            <a:cxnSpLocks/>
            <a:stCxn id="68" idx="2"/>
            <a:endCxn id="70" idx="0"/>
          </p:cNvCxnSpPr>
          <p:nvPr/>
        </p:nvCxnSpPr>
        <p:spPr>
          <a:xfrm>
            <a:off x="10308495" y="4633127"/>
            <a:ext cx="0" cy="300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Flowchart: Decision 69">
            <a:extLst>
              <a:ext uri="{FF2B5EF4-FFF2-40B4-BE49-F238E27FC236}">
                <a16:creationId xmlns:a16="http://schemas.microsoft.com/office/drawing/2014/main" id="{9A6F1540-9157-26D7-02B4-A83C9BB1E7BF}"/>
              </a:ext>
            </a:extLst>
          </p:cNvPr>
          <p:cNvSpPr/>
          <p:nvPr/>
        </p:nvSpPr>
        <p:spPr>
          <a:xfrm>
            <a:off x="9134858" y="4933489"/>
            <a:ext cx="2347274" cy="1082524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dirty="0"/>
              <a:t>Флаг включен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82BD65-0239-7E23-0CD6-B2C63397E815}"/>
              </a:ext>
            </a:extLst>
          </p:cNvPr>
          <p:cNvSpPr txBox="1"/>
          <p:nvPr/>
        </p:nvSpPr>
        <p:spPr>
          <a:xfrm>
            <a:off x="10308495" y="3703665"/>
            <a:ext cx="533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Нет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987129D-9A2B-86F5-FE8D-4599C32EE8C0}"/>
              </a:ext>
            </a:extLst>
          </p:cNvPr>
          <p:cNvCxnSpPr>
            <a:cxnSpLocks/>
            <a:stCxn id="63" idx="1"/>
          </p:cNvCxnSpPr>
          <p:nvPr/>
        </p:nvCxnSpPr>
        <p:spPr>
          <a:xfrm flipH="1">
            <a:off x="8606118" y="3215503"/>
            <a:ext cx="5287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9704BE6B-8255-97C6-2B2D-327ABD1F325A}"/>
              </a:ext>
            </a:extLst>
          </p:cNvPr>
          <p:cNvSpPr/>
          <p:nvPr/>
        </p:nvSpPr>
        <p:spPr>
          <a:xfrm>
            <a:off x="6263326" y="2783503"/>
            <a:ext cx="2347274" cy="86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Обработка служебной информации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194C3C-1B10-BF6B-D80E-A0954774D2F7}"/>
              </a:ext>
            </a:extLst>
          </p:cNvPr>
          <p:cNvSpPr txBox="1"/>
          <p:nvPr/>
        </p:nvSpPr>
        <p:spPr>
          <a:xfrm>
            <a:off x="8606118" y="2914139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63C0EB6-7FF3-6338-5880-1D47A8898E30}"/>
              </a:ext>
            </a:extLst>
          </p:cNvPr>
          <p:cNvSpPr/>
          <p:nvPr/>
        </p:nvSpPr>
        <p:spPr>
          <a:xfrm>
            <a:off x="6263326" y="5042751"/>
            <a:ext cx="2347274" cy="86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Передача фрейма на обработку ОС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5C239A8-6A83-5069-8A4A-C0781126E50E}"/>
              </a:ext>
            </a:extLst>
          </p:cNvPr>
          <p:cNvCxnSpPr>
            <a:cxnSpLocks/>
          </p:cNvCxnSpPr>
          <p:nvPr/>
        </p:nvCxnSpPr>
        <p:spPr>
          <a:xfrm flipH="1">
            <a:off x="8610600" y="5486137"/>
            <a:ext cx="5242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4027FA8B-3330-F82F-559B-BF2DF1155CD0}"/>
              </a:ext>
            </a:extLst>
          </p:cNvPr>
          <p:cNvSpPr txBox="1"/>
          <p:nvPr/>
        </p:nvSpPr>
        <p:spPr>
          <a:xfrm>
            <a:off x="8606118" y="5163113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D72FC00-2038-E289-0452-C95A37E6B098}"/>
              </a:ext>
            </a:extLst>
          </p:cNvPr>
          <p:cNvCxnSpPr>
            <a:cxnSpLocks/>
          </p:cNvCxnSpPr>
          <p:nvPr/>
        </p:nvCxnSpPr>
        <p:spPr>
          <a:xfrm>
            <a:off x="10308495" y="6030544"/>
            <a:ext cx="0" cy="294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B4A77B6-57E3-F1C8-7AE1-F4FCA6819379}"/>
              </a:ext>
            </a:extLst>
          </p:cNvPr>
          <p:cNvSpPr txBox="1"/>
          <p:nvPr/>
        </p:nvSpPr>
        <p:spPr>
          <a:xfrm>
            <a:off x="10308495" y="5955784"/>
            <a:ext cx="533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Нет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96E8FE7-9625-6E8D-602B-28D15C59AA52}"/>
              </a:ext>
            </a:extLst>
          </p:cNvPr>
          <p:cNvSpPr/>
          <p:nvPr/>
        </p:nvSpPr>
        <p:spPr>
          <a:xfrm>
            <a:off x="9134858" y="6316375"/>
            <a:ext cx="2347274" cy="28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Извлечение </a:t>
            </a:r>
            <a:r>
              <a:rPr lang="en-US" dirty="0" err="1"/>
              <a:t>dst</a:t>
            </a:r>
            <a:r>
              <a:rPr lang="en-US" dirty="0"/>
              <a:t> MAC</a:t>
            </a:r>
            <a:endParaRPr lang="ru-RU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529E952-D799-06A9-1A9D-662E446E1457}"/>
              </a:ext>
            </a:extLst>
          </p:cNvPr>
          <p:cNvCxnSpPr/>
          <p:nvPr/>
        </p:nvCxnSpPr>
        <p:spPr>
          <a:xfrm>
            <a:off x="5778500" y="1104900"/>
            <a:ext cx="0" cy="54994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Прямоугольник 6">
            <a:extLst>
              <a:ext uri="{FF2B5EF4-FFF2-40B4-BE49-F238E27FC236}">
                <a16:creationId xmlns:a16="http://schemas.microsoft.com/office/drawing/2014/main" id="{7B199303-C2AA-8434-7B96-58C0A1FE66AF}"/>
              </a:ext>
            </a:extLst>
          </p:cNvPr>
          <p:cNvSpPr/>
          <p:nvPr/>
        </p:nvSpPr>
        <p:spPr>
          <a:xfrm>
            <a:off x="1604132" y="920165"/>
            <a:ext cx="34099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Обычный режим</a:t>
            </a:r>
            <a:endParaRPr lang="ru-RU" sz="2800" dirty="0"/>
          </a:p>
        </p:txBody>
      </p:sp>
      <p:sp>
        <p:nvSpPr>
          <p:cNvPr id="84" name="Прямоугольник 6">
            <a:extLst>
              <a:ext uri="{FF2B5EF4-FFF2-40B4-BE49-F238E27FC236}">
                <a16:creationId xmlns:a16="http://schemas.microsoft.com/office/drawing/2014/main" id="{BF925B65-8091-3020-9E33-8CF73823A7CB}"/>
              </a:ext>
            </a:extLst>
          </p:cNvPr>
          <p:cNvSpPr/>
          <p:nvPr/>
        </p:nvSpPr>
        <p:spPr>
          <a:xfrm>
            <a:off x="7205047" y="906330"/>
            <a:ext cx="34099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Promisc</a:t>
            </a:r>
            <a:r>
              <a:rPr lang="ru-RU" sz="2800" b="1" dirty="0"/>
              <a:t> режим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120871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E7D89-C7F4-1838-B90E-3E5A98670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AE8CB9-AFE6-0A77-78D2-E6DA70D84FB7}"/>
              </a:ext>
            </a:extLst>
          </p:cNvPr>
          <p:cNvCxnSpPr>
            <a:cxnSpLocks/>
          </p:cNvCxnSpPr>
          <p:nvPr/>
        </p:nvCxnSpPr>
        <p:spPr>
          <a:xfrm>
            <a:off x="4972050" y="3914017"/>
            <a:ext cx="28609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B23E57-734F-B5E9-3AEE-2C4EF92E2D4E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 flipH="1">
            <a:off x="7833035" y="2662068"/>
            <a:ext cx="1" cy="2120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38E18C2-BF7C-7298-B72A-C9151893C2DC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7FF9350-DD70-84B3-293B-FFA4826254A2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Выбор «точек наблюдения»</a:t>
            </a:r>
            <a:r>
              <a:rPr lang="en-US" sz="2800" b="1" dirty="0">
                <a:solidFill>
                  <a:srgbClr val="FF0000"/>
                </a:solidFill>
              </a:rPr>
              <a:t>. </a:t>
            </a:r>
            <a:r>
              <a:rPr lang="ru-RU" sz="2800" b="1" dirty="0">
                <a:solidFill>
                  <a:srgbClr val="FF0000"/>
                </a:solidFill>
              </a:rPr>
              <a:t>Широковещательный домен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BBFFEC-6DAA-DC46-0EEE-3336860C2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22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66F775AC-F186-4D2D-26B4-8AB70B2D21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8511854-99E3-314B-844B-4F4E90AE7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1548" y="1833393"/>
            <a:ext cx="942975" cy="8286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F7F0D5-E03C-9816-BE3E-FA6614657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1547" y="4782713"/>
            <a:ext cx="942975" cy="828675"/>
          </a:xfrm>
          <a:prstGeom prst="rect">
            <a:avLst/>
          </a:prstGeom>
        </p:spPr>
      </p:pic>
      <p:pic>
        <p:nvPicPr>
          <p:cNvPr id="19" name="Picture 10" descr="C:\Users\ecoffey\AppData\Local\Temp\Rar$DRa0.262\30020__Device_detector_default_256.png">
            <a:extLst>
              <a:ext uri="{FF2B5EF4-FFF2-40B4-BE49-F238E27FC236}">
                <a16:creationId xmlns:a16="http://schemas.microsoft.com/office/drawing/2014/main" id="{12D4CE87-9CDD-629F-D23C-7B576E74F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079" y="3374017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67254A1-16B6-81EF-AD8D-26BC19E03B5D}"/>
              </a:ext>
            </a:extLst>
          </p:cNvPr>
          <p:cNvSpPr/>
          <p:nvPr/>
        </p:nvSpPr>
        <p:spPr>
          <a:xfrm>
            <a:off x="7066059" y="2326118"/>
            <a:ext cx="280798" cy="2870933"/>
          </a:xfrm>
          <a:custGeom>
            <a:avLst/>
            <a:gdLst>
              <a:gd name="csX0" fmla="*/ 1385750 w 1404604"/>
              <a:gd name="csY0" fmla="*/ 0 h 2705493"/>
              <a:gd name="csX1" fmla="*/ 10 w 1404604"/>
              <a:gd name="csY1" fmla="*/ 867266 h 2705493"/>
              <a:gd name="csX2" fmla="*/ 1404604 w 1404604"/>
              <a:gd name="csY2" fmla="*/ 2705493 h 27054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4604" h="2705493">
                <a:moveTo>
                  <a:pt x="1385750" y="0"/>
                </a:moveTo>
                <a:cubicBezTo>
                  <a:pt x="691309" y="208175"/>
                  <a:pt x="-3132" y="416351"/>
                  <a:pt x="10" y="867266"/>
                </a:cubicBezTo>
                <a:cubicBezTo>
                  <a:pt x="3152" y="1318181"/>
                  <a:pt x="703878" y="2011837"/>
                  <a:pt x="1404604" y="2705493"/>
                </a:cubicBezTo>
              </a:path>
            </a:pathLst>
          </a:custGeom>
          <a:noFill/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A99E02-6A34-B3D1-279C-065FFD54B2D1}"/>
              </a:ext>
            </a:extLst>
          </p:cNvPr>
          <p:cNvSpPr txBox="1"/>
          <p:nvPr/>
        </p:nvSpPr>
        <p:spPr>
          <a:xfrm>
            <a:off x="8415664" y="245128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DE0820-230E-BB5C-C2CA-0C4F4F9CD083}"/>
              </a:ext>
            </a:extLst>
          </p:cNvPr>
          <p:cNvSpPr txBox="1"/>
          <p:nvPr/>
        </p:nvSpPr>
        <p:spPr>
          <a:xfrm>
            <a:off x="7674176" y="563167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412DCF-0C65-0183-5989-0D9291E25B6C}"/>
              </a:ext>
            </a:extLst>
          </p:cNvPr>
          <p:cNvSpPr txBox="1"/>
          <p:nvPr/>
        </p:nvSpPr>
        <p:spPr>
          <a:xfrm>
            <a:off x="4444886" y="4298835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Сенсор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D28959-034C-5C59-C6E9-9B35B68EDF29}"/>
              </a:ext>
            </a:extLst>
          </p:cNvPr>
          <p:cNvSpPr txBox="1"/>
          <p:nvPr/>
        </p:nvSpPr>
        <p:spPr>
          <a:xfrm>
            <a:off x="6312063" y="2820618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A↔B</a:t>
            </a:r>
            <a:endParaRPr lang="ru-RU" dirty="0"/>
          </a:p>
        </p:txBody>
      </p:sp>
      <p:sp>
        <p:nvSpPr>
          <p:cNvPr id="31" name="Прямоугольник 6">
            <a:extLst>
              <a:ext uri="{FF2B5EF4-FFF2-40B4-BE49-F238E27FC236}">
                <a16:creationId xmlns:a16="http://schemas.microsoft.com/office/drawing/2014/main" id="{82CB9494-1788-5ABB-A9CD-945C3AE92EC9}"/>
              </a:ext>
            </a:extLst>
          </p:cNvPr>
          <p:cNvSpPr/>
          <p:nvPr/>
        </p:nvSpPr>
        <p:spPr>
          <a:xfrm>
            <a:off x="4118732" y="983820"/>
            <a:ext cx="34099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Что увидит сенсор</a:t>
            </a:r>
            <a:r>
              <a:rPr lang="en-US" sz="2800" b="1" dirty="0"/>
              <a:t>?</a:t>
            </a:r>
            <a:endParaRPr lang="ru-RU" sz="2800" dirty="0"/>
          </a:p>
        </p:txBody>
      </p:sp>
      <p:pic>
        <p:nvPicPr>
          <p:cNvPr id="2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66A0D78A-397D-82A4-0FD4-E784C67C3D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7293034" y="3663560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506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38392-2B38-A200-D69F-7D41D5630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B87969-C944-6281-7781-FDAD95956571}"/>
              </a:ext>
            </a:extLst>
          </p:cNvPr>
          <p:cNvCxnSpPr>
            <a:cxnSpLocks/>
          </p:cNvCxnSpPr>
          <p:nvPr/>
        </p:nvCxnSpPr>
        <p:spPr>
          <a:xfrm>
            <a:off x="2000250" y="3850846"/>
            <a:ext cx="28609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EBC1DF-7AC6-245C-99B1-E9FEF524D0D6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 flipH="1">
            <a:off x="4861235" y="2598897"/>
            <a:ext cx="1" cy="2120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5026865-2D35-6CBE-AF84-3E14E1265117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79D41E53-4BF4-A3F0-DF88-C9D76A135A7D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Режимы портов коммутатора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00DE1-AA61-5572-874A-C790C993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23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449EA665-782B-BB0C-902F-2E100CAA1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A3277EB-A5C2-CFFA-510F-17C9163C9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748" y="1770222"/>
            <a:ext cx="942975" cy="8286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02BF5C4-9E1B-445C-1DAB-B587651FC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747" y="4719542"/>
            <a:ext cx="942975" cy="828675"/>
          </a:xfrm>
          <a:prstGeom prst="rect">
            <a:avLst/>
          </a:prstGeom>
        </p:spPr>
      </p:pic>
      <p:pic>
        <p:nvPicPr>
          <p:cNvPr id="19" name="Picture 10" descr="C:\Users\ecoffey\AppData\Local\Temp\Rar$DRa0.262\30020__Device_detector_default_256.png">
            <a:extLst>
              <a:ext uri="{FF2B5EF4-FFF2-40B4-BE49-F238E27FC236}">
                <a16:creationId xmlns:a16="http://schemas.microsoft.com/office/drawing/2014/main" id="{7CB5D680-50E6-BBFF-9997-4D6C2A950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279" y="3310846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9CCD6EB-66F6-2AB7-9528-6AEBE0F09D57}"/>
              </a:ext>
            </a:extLst>
          </p:cNvPr>
          <p:cNvSpPr/>
          <p:nvPr/>
        </p:nvSpPr>
        <p:spPr>
          <a:xfrm>
            <a:off x="4094259" y="2262947"/>
            <a:ext cx="280798" cy="2870933"/>
          </a:xfrm>
          <a:custGeom>
            <a:avLst/>
            <a:gdLst>
              <a:gd name="csX0" fmla="*/ 1385750 w 1404604"/>
              <a:gd name="csY0" fmla="*/ 0 h 2705493"/>
              <a:gd name="csX1" fmla="*/ 10 w 1404604"/>
              <a:gd name="csY1" fmla="*/ 867266 h 2705493"/>
              <a:gd name="csX2" fmla="*/ 1404604 w 1404604"/>
              <a:gd name="csY2" fmla="*/ 2705493 h 27054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4604" h="2705493">
                <a:moveTo>
                  <a:pt x="1385750" y="0"/>
                </a:moveTo>
                <a:cubicBezTo>
                  <a:pt x="691309" y="208175"/>
                  <a:pt x="-3132" y="416351"/>
                  <a:pt x="10" y="867266"/>
                </a:cubicBezTo>
                <a:cubicBezTo>
                  <a:pt x="3152" y="1318181"/>
                  <a:pt x="703878" y="2011837"/>
                  <a:pt x="1404604" y="2705493"/>
                </a:cubicBezTo>
              </a:path>
            </a:pathLst>
          </a:custGeom>
          <a:noFill/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2A06A8-6ECF-07B5-35BD-357287C1CDFC}"/>
              </a:ext>
            </a:extLst>
          </p:cNvPr>
          <p:cNvSpPr txBox="1"/>
          <p:nvPr/>
        </p:nvSpPr>
        <p:spPr>
          <a:xfrm>
            <a:off x="5443864" y="238811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F559DF-29E5-A455-7783-E0D9757EBBFD}"/>
              </a:ext>
            </a:extLst>
          </p:cNvPr>
          <p:cNvSpPr txBox="1"/>
          <p:nvPr/>
        </p:nvSpPr>
        <p:spPr>
          <a:xfrm>
            <a:off x="4702376" y="556850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E08642-78AE-21C6-E58A-B4B9C7305F21}"/>
              </a:ext>
            </a:extLst>
          </p:cNvPr>
          <p:cNvSpPr txBox="1"/>
          <p:nvPr/>
        </p:nvSpPr>
        <p:spPr>
          <a:xfrm>
            <a:off x="1473086" y="4235664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Сенсор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65309F-9A30-EE24-500D-DAB85CFE3482}"/>
              </a:ext>
            </a:extLst>
          </p:cNvPr>
          <p:cNvSpPr txBox="1"/>
          <p:nvPr/>
        </p:nvSpPr>
        <p:spPr>
          <a:xfrm>
            <a:off x="3340263" y="2757447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A↔B</a:t>
            </a:r>
            <a:endParaRPr lang="ru-RU" dirty="0"/>
          </a:p>
        </p:txBody>
      </p:sp>
      <p:pic>
        <p:nvPicPr>
          <p:cNvPr id="2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1BD9C5CB-55BB-0F8F-D559-9E68F8D2D4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4321234" y="3600389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CCE276-A479-4CA8-4F67-46DECD2D5130}"/>
              </a:ext>
            </a:extLst>
          </p:cNvPr>
          <p:cNvSpPr/>
          <p:nvPr/>
        </p:nvSpPr>
        <p:spPr>
          <a:xfrm>
            <a:off x="5983862" y="2155088"/>
            <a:ext cx="1308094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MAC1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4414DA-078A-3394-ED34-E06ACE622094}"/>
              </a:ext>
            </a:extLst>
          </p:cNvPr>
          <p:cNvSpPr/>
          <p:nvPr/>
        </p:nvSpPr>
        <p:spPr>
          <a:xfrm>
            <a:off x="5983862" y="2684023"/>
            <a:ext cx="1308094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MAC2</a:t>
            </a:r>
            <a:endParaRPr lang="ru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394D42-6667-F382-DA08-439715620B5C}"/>
              </a:ext>
            </a:extLst>
          </p:cNvPr>
          <p:cNvSpPr/>
          <p:nvPr/>
        </p:nvSpPr>
        <p:spPr>
          <a:xfrm>
            <a:off x="5983862" y="3191489"/>
            <a:ext cx="1308094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MAC3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9D2442-28EC-64CC-758A-3C7B37B52971}"/>
              </a:ext>
            </a:extLst>
          </p:cNvPr>
          <p:cNvSpPr/>
          <p:nvPr/>
        </p:nvSpPr>
        <p:spPr>
          <a:xfrm>
            <a:off x="7406262" y="2155088"/>
            <a:ext cx="1308094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Ge/0</a:t>
            </a:r>
            <a:endParaRPr lang="ru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C39AA2-4443-A05C-AB1F-ECC26AB178AA}"/>
              </a:ext>
            </a:extLst>
          </p:cNvPr>
          <p:cNvSpPr/>
          <p:nvPr/>
        </p:nvSpPr>
        <p:spPr>
          <a:xfrm>
            <a:off x="7406262" y="2684023"/>
            <a:ext cx="1308094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Ge/1</a:t>
            </a:r>
            <a:endParaRPr lang="ru-R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D8C5-96EB-B9E3-D8C9-24669817D4EB}"/>
              </a:ext>
            </a:extLst>
          </p:cNvPr>
          <p:cNvSpPr/>
          <p:nvPr/>
        </p:nvSpPr>
        <p:spPr>
          <a:xfrm>
            <a:off x="7406262" y="3191489"/>
            <a:ext cx="1308094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Ge/2</a:t>
            </a:r>
            <a:endParaRPr lang="ru-R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5BF497-5765-8927-F1E6-F255B88F9CF0}"/>
              </a:ext>
            </a:extLst>
          </p:cNvPr>
          <p:cNvSpPr/>
          <p:nvPr/>
        </p:nvSpPr>
        <p:spPr>
          <a:xfrm>
            <a:off x="9371680" y="2155088"/>
            <a:ext cx="749300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TX</a:t>
            </a:r>
            <a:endParaRPr lang="ru-RU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C73A52-CFED-3249-D076-39CD5E74F8BA}"/>
              </a:ext>
            </a:extLst>
          </p:cNvPr>
          <p:cNvSpPr/>
          <p:nvPr/>
        </p:nvSpPr>
        <p:spPr>
          <a:xfrm>
            <a:off x="9381298" y="2684023"/>
            <a:ext cx="749300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TX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9832F1-62B0-99E3-4BAB-06614A062490}"/>
              </a:ext>
            </a:extLst>
          </p:cNvPr>
          <p:cNvSpPr/>
          <p:nvPr/>
        </p:nvSpPr>
        <p:spPr>
          <a:xfrm>
            <a:off x="9381298" y="3191489"/>
            <a:ext cx="749300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TX</a:t>
            </a:r>
            <a:endParaRPr lang="ru-RU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CEA166B-81A6-FC60-6CDE-9A79CDA9A263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>
            <a:off x="8714356" y="2359538"/>
            <a:ext cx="6573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13BB8F6-E44D-23A1-3510-243F058B3158}"/>
              </a:ext>
            </a:extLst>
          </p:cNvPr>
          <p:cNvCxnSpPr>
            <a:cxnSpLocks/>
            <a:stCxn id="13" idx="3"/>
            <a:endCxn id="21" idx="1"/>
          </p:cNvCxnSpPr>
          <p:nvPr/>
        </p:nvCxnSpPr>
        <p:spPr>
          <a:xfrm>
            <a:off x="8714356" y="2888473"/>
            <a:ext cx="6669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59FE26A-8099-E827-73FA-AD7563EDAA9E}"/>
              </a:ext>
            </a:extLst>
          </p:cNvPr>
          <p:cNvCxnSpPr>
            <a:cxnSpLocks/>
            <a:stCxn id="14" idx="3"/>
            <a:endCxn id="22" idx="1"/>
          </p:cNvCxnSpPr>
          <p:nvPr/>
        </p:nvCxnSpPr>
        <p:spPr>
          <a:xfrm>
            <a:off x="8714356" y="3395939"/>
            <a:ext cx="6669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C89FEC8-1CF9-A896-4D2E-35DDF9B90709}"/>
              </a:ext>
            </a:extLst>
          </p:cNvPr>
          <p:cNvSpPr txBox="1"/>
          <p:nvPr/>
        </p:nvSpPr>
        <p:spPr>
          <a:xfrm>
            <a:off x="6662051" y="1736473"/>
            <a:ext cx="1488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CAM </a:t>
            </a:r>
            <a:r>
              <a:rPr lang="ru-RU" dirty="0"/>
              <a:t>таблица</a:t>
            </a:r>
          </a:p>
        </p:txBody>
      </p:sp>
    </p:spTree>
    <p:extLst>
      <p:ext uri="{BB962C8B-B14F-4D97-AF65-F5344CB8AC3E}">
        <p14:creationId xmlns:p14="http://schemas.microsoft.com/office/powerpoint/2010/main" val="1731865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330D3-0829-4B23-A10D-867AC4B1D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7A1E66-5203-91A0-30AC-32CD759D0AA2}"/>
              </a:ext>
            </a:extLst>
          </p:cNvPr>
          <p:cNvCxnSpPr>
            <a:cxnSpLocks/>
          </p:cNvCxnSpPr>
          <p:nvPr/>
        </p:nvCxnSpPr>
        <p:spPr>
          <a:xfrm>
            <a:off x="2000250" y="3850846"/>
            <a:ext cx="28609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CD1B33-2397-F10B-0329-DB9CF14EB873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 flipH="1">
            <a:off x="4861235" y="2598897"/>
            <a:ext cx="1" cy="2120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51E9CE8-2334-667E-72AD-2292E3DD557F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D8AC78FB-C7AE-EC7C-89AD-BADB81E3CC0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Режимы портов коммутатора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2CBBCE-46EC-3ACB-ADC6-808FC618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24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33094FDA-AFED-BB91-9E62-FFA6F55B2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ABEFE30-E04E-15E7-8A85-1A17DA5F2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748" y="1770222"/>
            <a:ext cx="942975" cy="8286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3265F6F-ACB1-BBAD-6BF4-D86FF4E10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747" y="4719542"/>
            <a:ext cx="942975" cy="828675"/>
          </a:xfrm>
          <a:prstGeom prst="rect">
            <a:avLst/>
          </a:prstGeom>
        </p:spPr>
      </p:pic>
      <p:pic>
        <p:nvPicPr>
          <p:cNvPr id="19" name="Picture 10" descr="C:\Users\ecoffey\AppData\Local\Temp\Rar$DRa0.262\30020__Device_detector_default_256.png">
            <a:extLst>
              <a:ext uri="{FF2B5EF4-FFF2-40B4-BE49-F238E27FC236}">
                <a16:creationId xmlns:a16="http://schemas.microsoft.com/office/drawing/2014/main" id="{5994BB5C-5F15-3DB6-6D29-BA229BC61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279" y="3310846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7373CDE-8991-3D53-B88F-91DBB7FE4F54}"/>
              </a:ext>
            </a:extLst>
          </p:cNvPr>
          <p:cNvSpPr/>
          <p:nvPr/>
        </p:nvSpPr>
        <p:spPr>
          <a:xfrm>
            <a:off x="4094259" y="2262947"/>
            <a:ext cx="280798" cy="2870933"/>
          </a:xfrm>
          <a:custGeom>
            <a:avLst/>
            <a:gdLst>
              <a:gd name="csX0" fmla="*/ 1385750 w 1404604"/>
              <a:gd name="csY0" fmla="*/ 0 h 2705493"/>
              <a:gd name="csX1" fmla="*/ 10 w 1404604"/>
              <a:gd name="csY1" fmla="*/ 867266 h 2705493"/>
              <a:gd name="csX2" fmla="*/ 1404604 w 1404604"/>
              <a:gd name="csY2" fmla="*/ 2705493 h 27054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4604" h="2705493">
                <a:moveTo>
                  <a:pt x="1385750" y="0"/>
                </a:moveTo>
                <a:cubicBezTo>
                  <a:pt x="691309" y="208175"/>
                  <a:pt x="-3132" y="416351"/>
                  <a:pt x="10" y="867266"/>
                </a:cubicBezTo>
                <a:cubicBezTo>
                  <a:pt x="3152" y="1318181"/>
                  <a:pt x="703878" y="2011837"/>
                  <a:pt x="1404604" y="2705493"/>
                </a:cubicBezTo>
              </a:path>
            </a:pathLst>
          </a:custGeom>
          <a:noFill/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CE193A-F6AF-4786-5813-299616A91B85}"/>
              </a:ext>
            </a:extLst>
          </p:cNvPr>
          <p:cNvSpPr txBox="1"/>
          <p:nvPr/>
        </p:nvSpPr>
        <p:spPr>
          <a:xfrm>
            <a:off x="5443864" y="238811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E17A70-7B04-24C6-5B2A-B11F5C76B998}"/>
              </a:ext>
            </a:extLst>
          </p:cNvPr>
          <p:cNvSpPr txBox="1"/>
          <p:nvPr/>
        </p:nvSpPr>
        <p:spPr>
          <a:xfrm>
            <a:off x="4702376" y="556850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93F58E-CD4D-CA7D-C1C8-E520A3CBEFC2}"/>
              </a:ext>
            </a:extLst>
          </p:cNvPr>
          <p:cNvSpPr txBox="1"/>
          <p:nvPr/>
        </p:nvSpPr>
        <p:spPr>
          <a:xfrm>
            <a:off x="1473086" y="4235664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Сенсор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F956EC-A8FA-6290-00B8-13261502FCBE}"/>
              </a:ext>
            </a:extLst>
          </p:cNvPr>
          <p:cNvSpPr txBox="1"/>
          <p:nvPr/>
        </p:nvSpPr>
        <p:spPr>
          <a:xfrm>
            <a:off x="3340263" y="2757447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A↔B</a:t>
            </a:r>
            <a:endParaRPr lang="ru-RU" dirty="0"/>
          </a:p>
        </p:txBody>
      </p:sp>
      <p:pic>
        <p:nvPicPr>
          <p:cNvPr id="2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1BD2086E-5E32-64D7-1172-21ED462F63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4321234" y="3600389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4A78F29-0DF3-0A73-D0F1-4E36A464A064}"/>
              </a:ext>
            </a:extLst>
          </p:cNvPr>
          <p:cNvSpPr/>
          <p:nvPr/>
        </p:nvSpPr>
        <p:spPr>
          <a:xfrm>
            <a:off x="5983862" y="2155088"/>
            <a:ext cx="1308094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MAC1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CF2BBF-2664-F8F2-D08A-9D6F2E9E7113}"/>
              </a:ext>
            </a:extLst>
          </p:cNvPr>
          <p:cNvSpPr/>
          <p:nvPr/>
        </p:nvSpPr>
        <p:spPr>
          <a:xfrm>
            <a:off x="5983862" y="2684023"/>
            <a:ext cx="1308094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MAC2</a:t>
            </a:r>
            <a:endParaRPr lang="ru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B60F81-C659-61E9-56B1-812C431D8E2E}"/>
              </a:ext>
            </a:extLst>
          </p:cNvPr>
          <p:cNvSpPr/>
          <p:nvPr/>
        </p:nvSpPr>
        <p:spPr>
          <a:xfrm>
            <a:off x="5983862" y="3191489"/>
            <a:ext cx="1308094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MAC3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8C705A-6546-9EEB-2F62-F31A468E00AF}"/>
              </a:ext>
            </a:extLst>
          </p:cNvPr>
          <p:cNvSpPr/>
          <p:nvPr/>
        </p:nvSpPr>
        <p:spPr>
          <a:xfrm>
            <a:off x="7406262" y="2155088"/>
            <a:ext cx="1308094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Ge/0</a:t>
            </a:r>
            <a:endParaRPr lang="ru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8A8FC8-071C-4421-FA67-C7CB39177E18}"/>
              </a:ext>
            </a:extLst>
          </p:cNvPr>
          <p:cNvSpPr/>
          <p:nvPr/>
        </p:nvSpPr>
        <p:spPr>
          <a:xfrm>
            <a:off x="7406262" y="2684023"/>
            <a:ext cx="1308094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Ge/1</a:t>
            </a:r>
            <a:endParaRPr lang="ru-R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D84617-9051-8297-3C55-206AE1F3A7BE}"/>
              </a:ext>
            </a:extLst>
          </p:cNvPr>
          <p:cNvSpPr/>
          <p:nvPr/>
        </p:nvSpPr>
        <p:spPr>
          <a:xfrm>
            <a:off x="7406262" y="3191489"/>
            <a:ext cx="1308094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Ge/2</a:t>
            </a:r>
            <a:endParaRPr lang="ru-R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FC410F-AC60-64D2-D233-52A484CC781F}"/>
              </a:ext>
            </a:extLst>
          </p:cNvPr>
          <p:cNvSpPr/>
          <p:nvPr/>
        </p:nvSpPr>
        <p:spPr>
          <a:xfrm>
            <a:off x="9371680" y="2155088"/>
            <a:ext cx="749300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TX</a:t>
            </a:r>
            <a:endParaRPr lang="ru-RU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DF970B-B7D6-5650-2082-BF16A789405A}"/>
              </a:ext>
            </a:extLst>
          </p:cNvPr>
          <p:cNvSpPr/>
          <p:nvPr/>
        </p:nvSpPr>
        <p:spPr>
          <a:xfrm>
            <a:off x="9381298" y="2684023"/>
            <a:ext cx="749300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TX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9CD05D-3CA3-08F8-B7E2-86D946AA2DCF}"/>
              </a:ext>
            </a:extLst>
          </p:cNvPr>
          <p:cNvSpPr/>
          <p:nvPr/>
        </p:nvSpPr>
        <p:spPr>
          <a:xfrm>
            <a:off x="9381298" y="3191489"/>
            <a:ext cx="749300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TX</a:t>
            </a:r>
            <a:endParaRPr lang="ru-RU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58B8DA0-B506-BBB8-7FCA-D44235A19B0C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>
            <a:off x="8714356" y="2359538"/>
            <a:ext cx="6573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9EC82D5-AB4B-D01F-6943-FFD0D6FDC054}"/>
              </a:ext>
            </a:extLst>
          </p:cNvPr>
          <p:cNvCxnSpPr>
            <a:cxnSpLocks/>
            <a:stCxn id="13" idx="3"/>
            <a:endCxn id="21" idx="1"/>
          </p:cNvCxnSpPr>
          <p:nvPr/>
        </p:nvCxnSpPr>
        <p:spPr>
          <a:xfrm>
            <a:off x="8714356" y="2888473"/>
            <a:ext cx="6669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223AF94-8893-2467-AB16-319D82A13FAC}"/>
              </a:ext>
            </a:extLst>
          </p:cNvPr>
          <p:cNvCxnSpPr>
            <a:cxnSpLocks/>
            <a:stCxn id="14" idx="3"/>
            <a:endCxn id="22" idx="1"/>
          </p:cNvCxnSpPr>
          <p:nvPr/>
        </p:nvCxnSpPr>
        <p:spPr>
          <a:xfrm>
            <a:off x="8714356" y="3395939"/>
            <a:ext cx="6669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E2232ECE-E8B4-9D02-013C-CB60E91480A9}"/>
              </a:ext>
            </a:extLst>
          </p:cNvPr>
          <p:cNvSpPr/>
          <p:nvPr/>
        </p:nvSpPr>
        <p:spPr>
          <a:xfrm>
            <a:off x="8073204" y="4515092"/>
            <a:ext cx="1308094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Ge/10</a:t>
            </a:r>
            <a:endParaRPr lang="ru-RU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399C74-4817-1B6A-4942-477E0F66488D}"/>
              </a:ext>
            </a:extLst>
          </p:cNvPr>
          <p:cNvSpPr/>
          <p:nvPr/>
        </p:nvSpPr>
        <p:spPr>
          <a:xfrm>
            <a:off x="9868014" y="4515092"/>
            <a:ext cx="749300" cy="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TX</a:t>
            </a:r>
            <a:endParaRPr lang="ru-RU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B5828AE-3F21-67A0-DF09-653DEDA619C0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9381298" y="4719542"/>
            <a:ext cx="4867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8F67CD22-4723-E625-8DE0-342C154174DF}"/>
              </a:ext>
            </a:extLst>
          </p:cNvPr>
          <p:cNvCxnSpPr>
            <a:cxnSpLocks/>
            <a:stCxn id="22" idx="2"/>
            <a:endCxn id="38" idx="0"/>
          </p:cNvCxnSpPr>
          <p:nvPr/>
        </p:nvCxnSpPr>
        <p:spPr>
          <a:xfrm rot="16200000" flipH="1">
            <a:off x="9541955" y="3814382"/>
            <a:ext cx="914703" cy="486716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A44C793-7D15-A487-7C59-9E6E3764545A}"/>
              </a:ext>
            </a:extLst>
          </p:cNvPr>
          <p:cNvCxnSpPr>
            <a:cxnSpLocks/>
          </p:cNvCxnSpPr>
          <p:nvPr/>
        </p:nvCxnSpPr>
        <p:spPr>
          <a:xfrm flipV="1">
            <a:off x="7515225" y="5038725"/>
            <a:ext cx="557979" cy="628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8BA7023-4B11-5BF4-3825-59D5F466A782}"/>
              </a:ext>
            </a:extLst>
          </p:cNvPr>
          <p:cNvSpPr txBox="1"/>
          <p:nvPr/>
        </p:nvSpPr>
        <p:spPr>
          <a:xfrm>
            <a:off x="6662051" y="1736473"/>
            <a:ext cx="1488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CAM </a:t>
            </a:r>
            <a:r>
              <a:rPr lang="ru-RU" dirty="0"/>
              <a:t>таблица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A6D214-F536-0583-7295-E26F1B341D16}"/>
              </a:ext>
            </a:extLst>
          </p:cNvPr>
          <p:cNvSpPr txBox="1"/>
          <p:nvPr/>
        </p:nvSpPr>
        <p:spPr>
          <a:xfrm>
            <a:off x="6358283" y="5749400"/>
            <a:ext cx="2563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Зеркальный (</a:t>
            </a:r>
            <a:r>
              <a:rPr lang="en-US" dirty="0"/>
              <a:t>SPAN) </a:t>
            </a:r>
            <a:r>
              <a:rPr lang="ru-RU" dirty="0"/>
              <a:t>порт</a:t>
            </a:r>
          </a:p>
        </p:txBody>
      </p:sp>
    </p:spTree>
    <p:extLst>
      <p:ext uri="{BB962C8B-B14F-4D97-AF65-F5344CB8AC3E}">
        <p14:creationId xmlns:p14="http://schemas.microsoft.com/office/powerpoint/2010/main" val="3987120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085A6-4BA4-0F38-2A77-C2512C136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DBED0B3-717C-11F8-A962-85E54F0FD247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A3955460-3A6F-2137-F792-F5B9C353D59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Выбор «точек наблюдения». Распределенная сеть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355E80-B415-7224-C96F-45CE55078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25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47C825AC-C8F9-30D3-27EE-398FB6F99C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1B8B20C-8E61-6920-E1AC-61132906C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851" y="5085740"/>
            <a:ext cx="942975" cy="8286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ACE691-5EDE-9F8F-39F3-76664A598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510" y="5085740"/>
            <a:ext cx="942975" cy="828675"/>
          </a:xfrm>
          <a:prstGeom prst="rect">
            <a:avLst/>
          </a:prstGeom>
        </p:spPr>
      </p:pic>
      <p:pic>
        <p:nvPicPr>
          <p:cNvPr id="2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7521C011-707D-45B7-E226-5D2B9B6626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3952934" y="4006945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3966C1D8-373A-B1EB-2868-574CADC62A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7022285" y="4006945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14400219-FA72-3EEF-5755-FDF5F7FFE3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5504421" y="2794671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283CE154-CED3-48B7-97F8-1CBBE5928D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6849737" y="1599968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C648B1-745B-B527-8A91-795FDB936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3295" y="5085739"/>
            <a:ext cx="942975" cy="8286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16820C5-E758-6AAC-DDB9-09A38A64E8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465" y="1383700"/>
            <a:ext cx="609600" cy="93345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7DEB293-8589-8004-5EB3-A0189CE6DEA3}"/>
              </a:ext>
            </a:extLst>
          </p:cNvPr>
          <p:cNvCxnSpPr>
            <a:stCxn id="20" idx="1"/>
            <a:endCxn id="11" idx="3"/>
          </p:cNvCxnSpPr>
          <p:nvPr/>
        </p:nvCxnSpPr>
        <p:spPr>
          <a:xfrm flipH="1">
            <a:off x="7929737" y="1850425"/>
            <a:ext cx="277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CF1B638D-F20D-89FA-E7EC-2675591E8555}"/>
              </a:ext>
            </a:extLst>
          </p:cNvPr>
          <p:cNvCxnSpPr>
            <a:stCxn id="11" idx="1"/>
            <a:endCxn id="10" idx="0"/>
          </p:cNvCxnSpPr>
          <p:nvPr/>
        </p:nvCxnSpPr>
        <p:spPr>
          <a:xfrm rot="10800000" flipV="1">
            <a:off x="6044421" y="1850425"/>
            <a:ext cx="805316" cy="94424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83EC9466-4A82-B48A-C1D5-DA4A4B20A2B5}"/>
              </a:ext>
            </a:extLst>
          </p:cNvPr>
          <p:cNvCxnSpPr>
            <a:cxnSpLocks/>
            <a:stCxn id="5" idx="0"/>
            <a:endCxn id="10" idx="3"/>
          </p:cNvCxnSpPr>
          <p:nvPr/>
        </p:nvCxnSpPr>
        <p:spPr>
          <a:xfrm rot="16200000" flipV="1">
            <a:off x="6592445" y="3037105"/>
            <a:ext cx="961817" cy="977864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52DF6194-153D-FF06-0397-67BD51A99D0E}"/>
              </a:ext>
            </a:extLst>
          </p:cNvPr>
          <p:cNvCxnSpPr>
            <a:cxnSpLocks/>
            <a:stCxn id="2" idx="0"/>
            <a:endCxn id="10" idx="1"/>
          </p:cNvCxnSpPr>
          <p:nvPr/>
        </p:nvCxnSpPr>
        <p:spPr>
          <a:xfrm rot="5400000" flipH="1" flipV="1">
            <a:off x="4517769" y="3020294"/>
            <a:ext cx="961817" cy="101148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75BD7F86-52A4-48F4-1F74-77136D16C06A}"/>
              </a:ext>
            </a:extLst>
          </p:cNvPr>
          <p:cNvCxnSpPr>
            <a:cxnSpLocks/>
            <a:endCxn id="2" idx="1"/>
          </p:cNvCxnSpPr>
          <p:nvPr/>
        </p:nvCxnSpPr>
        <p:spPr>
          <a:xfrm rot="5400000" flipH="1" flipV="1">
            <a:off x="3468296" y="4601102"/>
            <a:ext cx="828338" cy="140938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80311D20-76AF-B43F-30B8-C8482BDDF06A}"/>
              </a:ext>
            </a:extLst>
          </p:cNvPr>
          <p:cNvCxnSpPr>
            <a:cxnSpLocks/>
            <a:stCxn id="17" idx="0"/>
            <a:endCxn id="2" idx="3"/>
          </p:cNvCxnSpPr>
          <p:nvPr/>
        </p:nvCxnSpPr>
        <p:spPr>
          <a:xfrm rot="16200000" flipV="1">
            <a:off x="4778968" y="4511368"/>
            <a:ext cx="828338" cy="32040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017A98-EEAB-189A-835A-40D9D1D4B698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>
            <a:off x="7562285" y="4507859"/>
            <a:ext cx="2498" cy="577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523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C564-8563-0F71-8DB0-992F7E20E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38A62B-E28D-E3BE-9993-C5F85D3B86AF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A0B06C58-AFD8-BCF0-867D-68CFB22832FA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Выбор «точек наблюдения» . Распределенная сеть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85DA02-6BD0-DC5C-2712-958D7966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26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51884F2-CC3B-0FD3-128A-D0A6ED9787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503FB08-F102-6624-513D-7C22A750A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851" y="5085740"/>
            <a:ext cx="942975" cy="8286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FADC7B8-BF13-5BA8-4900-DFB808685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510" y="5085740"/>
            <a:ext cx="942975" cy="828675"/>
          </a:xfrm>
          <a:prstGeom prst="rect">
            <a:avLst/>
          </a:prstGeom>
        </p:spPr>
      </p:pic>
      <p:pic>
        <p:nvPicPr>
          <p:cNvPr id="2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99B3697B-0AAD-AC50-EBE2-81E8A603F4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3952934" y="4006945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5E1052E2-2123-59F0-9C34-EE4938F6DF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7022285" y="4006945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961791D3-C8AF-509B-B79E-28CBCAD755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5504421" y="2794671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A8473651-98C4-EC15-5E84-861F04324E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6849737" y="1599968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1C4369-C3D4-3DD6-7345-A4B91694C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3295" y="5085739"/>
            <a:ext cx="942975" cy="8286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01A5FC6-6FF5-C024-A9F2-136E8563F9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465" y="1383700"/>
            <a:ext cx="609600" cy="93345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62BBD69-8EF8-A048-7FAB-E6D2FB0EF210}"/>
              </a:ext>
            </a:extLst>
          </p:cNvPr>
          <p:cNvCxnSpPr>
            <a:stCxn id="20" idx="1"/>
            <a:endCxn id="11" idx="3"/>
          </p:cNvCxnSpPr>
          <p:nvPr/>
        </p:nvCxnSpPr>
        <p:spPr>
          <a:xfrm flipH="1">
            <a:off x="7929737" y="1850425"/>
            <a:ext cx="277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E2447CA-F310-1B72-40AE-20DDB7E3B055}"/>
              </a:ext>
            </a:extLst>
          </p:cNvPr>
          <p:cNvCxnSpPr>
            <a:stCxn id="11" idx="1"/>
            <a:endCxn id="10" idx="0"/>
          </p:cNvCxnSpPr>
          <p:nvPr/>
        </p:nvCxnSpPr>
        <p:spPr>
          <a:xfrm rot="10800000" flipV="1">
            <a:off x="6044421" y="1850425"/>
            <a:ext cx="805316" cy="94424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519346DA-C056-84AB-D6DD-4C24904F13B8}"/>
              </a:ext>
            </a:extLst>
          </p:cNvPr>
          <p:cNvCxnSpPr>
            <a:cxnSpLocks/>
            <a:stCxn id="5" idx="0"/>
            <a:endCxn id="10" idx="3"/>
          </p:cNvCxnSpPr>
          <p:nvPr/>
        </p:nvCxnSpPr>
        <p:spPr>
          <a:xfrm rot="16200000" flipV="1">
            <a:off x="6592445" y="3037105"/>
            <a:ext cx="961817" cy="977864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47B5545C-BDEB-BC1B-81AD-EAAC4E5F4D39}"/>
              </a:ext>
            </a:extLst>
          </p:cNvPr>
          <p:cNvCxnSpPr>
            <a:cxnSpLocks/>
            <a:stCxn id="2" idx="0"/>
            <a:endCxn id="10" idx="1"/>
          </p:cNvCxnSpPr>
          <p:nvPr/>
        </p:nvCxnSpPr>
        <p:spPr>
          <a:xfrm rot="5400000" flipH="1" flipV="1">
            <a:off x="4517769" y="3020294"/>
            <a:ext cx="961817" cy="101148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64AF4FAD-2AFE-100A-9643-3D611F9402B2}"/>
              </a:ext>
            </a:extLst>
          </p:cNvPr>
          <p:cNvCxnSpPr>
            <a:cxnSpLocks/>
            <a:endCxn id="2" idx="1"/>
          </p:cNvCxnSpPr>
          <p:nvPr/>
        </p:nvCxnSpPr>
        <p:spPr>
          <a:xfrm rot="5400000" flipH="1" flipV="1">
            <a:off x="3468296" y="4601102"/>
            <a:ext cx="828338" cy="140938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F1D7AC72-4236-FF23-1FFD-FFE77212929F}"/>
              </a:ext>
            </a:extLst>
          </p:cNvPr>
          <p:cNvCxnSpPr>
            <a:cxnSpLocks/>
            <a:stCxn id="17" idx="0"/>
            <a:endCxn id="2" idx="3"/>
          </p:cNvCxnSpPr>
          <p:nvPr/>
        </p:nvCxnSpPr>
        <p:spPr>
          <a:xfrm rot="16200000" flipV="1">
            <a:off x="4778968" y="4511368"/>
            <a:ext cx="828338" cy="32040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DBD978E-D383-2844-C191-F6B93AAD08F9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>
            <a:off x="7562285" y="4507859"/>
            <a:ext cx="2498" cy="577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0" descr="C:\Users\ecoffey\AppData\Local\Temp\Rar$DRa0.262\30020__Device_detector_default_256.png">
            <a:extLst>
              <a:ext uri="{FF2B5EF4-FFF2-40B4-BE49-F238E27FC236}">
                <a16:creationId xmlns:a16="http://schemas.microsoft.com/office/drawing/2014/main" id="{505249EE-AD1C-1DD6-B8DC-3771EB3F2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851" y="1299900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7149E9A-C180-C3BE-1250-A852F2B13D2A}"/>
              </a:ext>
            </a:extLst>
          </p:cNvPr>
          <p:cNvCxnSpPr>
            <a:stCxn id="7" idx="3"/>
          </p:cNvCxnSpPr>
          <p:nvPr/>
        </p:nvCxnSpPr>
        <p:spPr>
          <a:xfrm>
            <a:off x="5421851" y="1839900"/>
            <a:ext cx="402975" cy="954771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0" descr="C:\Users\ecoffey\AppData\Local\Temp\Rar$DRa0.262\30020__Device_detector_default_256.png">
            <a:extLst>
              <a:ext uri="{FF2B5EF4-FFF2-40B4-BE49-F238E27FC236}">
                <a16:creationId xmlns:a16="http://schemas.microsoft.com/office/drawing/2014/main" id="{C395AAA5-5DD0-72D9-5ABB-5E98B6425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934" y="2708341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A16ACD2-99D3-F6FF-8DC4-D71D9710A4E2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952934" y="3248341"/>
            <a:ext cx="388917" cy="790457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9101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28318-D807-3561-00B5-712852638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2862713-9814-813B-0BAB-B754B63648A8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91489575-F119-1142-0824-68C78B6816E5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Выбор «точек наблюдения». Распределенная сеть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BC4A5A-599F-AE77-2AC1-A6CABCC1A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27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E44CBEE8-7AAC-1293-53E6-DB05D47843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842346D-7D94-F33A-A169-69756253B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851" y="5085740"/>
            <a:ext cx="942975" cy="8286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42A5FD-9EF5-B963-3083-5441CC4B7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510" y="5085740"/>
            <a:ext cx="942975" cy="828675"/>
          </a:xfrm>
          <a:prstGeom prst="rect">
            <a:avLst/>
          </a:prstGeom>
        </p:spPr>
      </p:pic>
      <p:pic>
        <p:nvPicPr>
          <p:cNvPr id="2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F8D00303-687E-0A61-BE62-F8247BC410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3952934" y="4006945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68B1C983-94D8-E75E-5AE5-741B27E0AD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7022285" y="4006945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B574534D-1F2A-2B63-2155-5CE6FE7C04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5504421" y="2794671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9E4914AC-84CB-B656-AC74-891027289F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6849737" y="1599968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E46EDA-C330-9877-0587-D3D5BF134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3295" y="5085739"/>
            <a:ext cx="942975" cy="8286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9F832F9-C0B3-2330-72D5-DF59A2E06C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465" y="1383700"/>
            <a:ext cx="609600" cy="93345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6DC79B7-948C-34E9-6987-4AFA619B6FAA}"/>
              </a:ext>
            </a:extLst>
          </p:cNvPr>
          <p:cNvCxnSpPr>
            <a:stCxn id="20" idx="1"/>
            <a:endCxn id="11" idx="3"/>
          </p:cNvCxnSpPr>
          <p:nvPr/>
        </p:nvCxnSpPr>
        <p:spPr>
          <a:xfrm flipH="1">
            <a:off x="7929737" y="1850425"/>
            <a:ext cx="277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3BBB1DA-E76E-F21E-2AD9-34A8D2B6DB85}"/>
              </a:ext>
            </a:extLst>
          </p:cNvPr>
          <p:cNvCxnSpPr>
            <a:stCxn id="11" idx="1"/>
            <a:endCxn id="10" idx="0"/>
          </p:cNvCxnSpPr>
          <p:nvPr/>
        </p:nvCxnSpPr>
        <p:spPr>
          <a:xfrm rot="10800000" flipV="1">
            <a:off x="6044421" y="1850425"/>
            <a:ext cx="805316" cy="94424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6A25C51A-BDF4-5156-434B-82823F7CA051}"/>
              </a:ext>
            </a:extLst>
          </p:cNvPr>
          <p:cNvCxnSpPr>
            <a:cxnSpLocks/>
            <a:stCxn id="5" idx="0"/>
            <a:endCxn id="10" idx="3"/>
          </p:cNvCxnSpPr>
          <p:nvPr/>
        </p:nvCxnSpPr>
        <p:spPr>
          <a:xfrm rot="16200000" flipV="1">
            <a:off x="6592445" y="3037105"/>
            <a:ext cx="961817" cy="977864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C7EFED1-F7F1-9D20-3D47-AD162CA8E81F}"/>
              </a:ext>
            </a:extLst>
          </p:cNvPr>
          <p:cNvCxnSpPr>
            <a:cxnSpLocks/>
            <a:stCxn id="2" idx="0"/>
            <a:endCxn id="10" idx="1"/>
          </p:cNvCxnSpPr>
          <p:nvPr/>
        </p:nvCxnSpPr>
        <p:spPr>
          <a:xfrm rot="5400000" flipH="1" flipV="1">
            <a:off x="4517769" y="3020294"/>
            <a:ext cx="961817" cy="101148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34D6DF2-73DB-4C9C-D82D-7451F794CE2E}"/>
              </a:ext>
            </a:extLst>
          </p:cNvPr>
          <p:cNvCxnSpPr>
            <a:cxnSpLocks/>
            <a:endCxn id="2" idx="1"/>
          </p:cNvCxnSpPr>
          <p:nvPr/>
        </p:nvCxnSpPr>
        <p:spPr>
          <a:xfrm rot="5400000" flipH="1" flipV="1">
            <a:off x="3468296" y="4601102"/>
            <a:ext cx="828338" cy="140938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5CAB51B9-7B8A-3CEB-F1A1-836738D9EE4D}"/>
              </a:ext>
            </a:extLst>
          </p:cNvPr>
          <p:cNvCxnSpPr>
            <a:cxnSpLocks/>
            <a:stCxn id="17" idx="0"/>
            <a:endCxn id="2" idx="3"/>
          </p:cNvCxnSpPr>
          <p:nvPr/>
        </p:nvCxnSpPr>
        <p:spPr>
          <a:xfrm rot="16200000" flipV="1">
            <a:off x="4778968" y="4511368"/>
            <a:ext cx="828338" cy="32040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B26CEC5-0F5A-AC6A-4F16-7F53A23D6023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>
            <a:off x="7562285" y="4507859"/>
            <a:ext cx="2498" cy="577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0" descr="C:\Users\ecoffey\AppData\Local\Temp\Rar$DRa0.262\30020__Device_detector_default_256.png">
            <a:extLst>
              <a:ext uri="{FF2B5EF4-FFF2-40B4-BE49-F238E27FC236}">
                <a16:creationId xmlns:a16="http://schemas.microsoft.com/office/drawing/2014/main" id="{6B4D8EEF-A315-080F-24AA-DC02B736F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851" y="1299900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9030B763-E874-291F-D686-8EC0BF91E05E}"/>
              </a:ext>
            </a:extLst>
          </p:cNvPr>
          <p:cNvCxnSpPr>
            <a:stCxn id="7" idx="3"/>
          </p:cNvCxnSpPr>
          <p:nvPr/>
        </p:nvCxnSpPr>
        <p:spPr>
          <a:xfrm>
            <a:off x="5421851" y="1839900"/>
            <a:ext cx="402975" cy="954771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0" descr="C:\Users\ecoffey\AppData\Local\Temp\Rar$DRa0.262\30020__Device_detector_default_256.png">
            <a:extLst>
              <a:ext uri="{FF2B5EF4-FFF2-40B4-BE49-F238E27FC236}">
                <a16:creationId xmlns:a16="http://schemas.microsoft.com/office/drawing/2014/main" id="{4B803EAE-C266-6891-DC39-F37FC1B2C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934" y="2708341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FEC409E3-5E9B-9152-2BC6-9796CC412C68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952934" y="3248341"/>
            <a:ext cx="388917" cy="790457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01C92ED-34C0-1C13-0448-80EC493DDFB7}"/>
              </a:ext>
            </a:extLst>
          </p:cNvPr>
          <p:cNvCxnSpPr>
            <a:cxnSpLocks/>
            <a:stCxn id="11" idx="2"/>
          </p:cNvCxnSpPr>
          <p:nvPr/>
        </p:nvCxnSpPr>
        <p:spPr>
          <a:xfrm rot="16200000" flipH="1">
            <a:off x="7565197" y="1925422"/>
            <a:ext cx="771609" cy="1122528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6F0C419-3606-31C6-2205-3337A2C32A58}"/>
              </a:ext>
            </a:extLst>
          </p:cNvPr>
          <p:cNvCxnSpPr>
            <a:cxnSpLocks/>
            <a:endCxn id="5" idx="3"/>
          </p:cNvCxnSpPr>
          <p:nvPr/>
        </p:nvCxnSpPr>
        <p:spPr>
          <a:xfrm rot="5400000">
            <a:off x="7923845" y="3433782"/>
            <a:ext cx="1002061" cy="645179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0" descr="C:\Users\ecoffey\AppData\Local\Temp\Rar$DRa0.262\30020__Device_detector_default_256.png">
            <a:extLst>
              <a:ext uri="{FF2B5EF4-FFF2-40B4-BE49-F238E27FC236}">
                <a16:creationId xmlns:a16="http://schemas.microsoft.com/office/drawing/2014/main" id="{44CEC6E4-D9CD-C50B-B104-5F4442030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465" y="2505451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1436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187AE-7A64-6FBD-D9E8-6447E703C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6A26FC9-B368-BF5D-74CB-F0E6A10B8FD0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45C3FB5C-DE2D-990E-BDC0-C8DC52699E2B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Удаленный зеркальный порт (</a:t>
            </a:r>
            <a:r>
              <a:rPr lang="en-US" sz="2800" b="1" dirty="0">
                <a:solidFill>
                  <a:srgbClr val="FF0000"/>
                </a:solidFill>
              </a:rPr>
              <a:t>RSPAN)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86C2D5-1264-1101-906A-AE5C2D4F3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28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9BE5577B-B2FF-2F7E-1D0A-260EF93756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6FBB586-38C6-2A02-DDE9-633907BD5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851" y="5085740"/>
            <a:ext cx="942975" cy="8286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D1712AD-418F-1749-D9F2-E7028E528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510" y="5085740"/>
            <a:ext cx="942975" cy="828675"/>
          </a:xfrm>
          <a:prstGeom prst="rect">
            <a:avLst/>
          </a:prstGeom>
        </p:spPr>
      </p:pic>
      <p:pic>
        <p:nvPicPr>
          <p:cNvPr id="2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B91813AF-8790-5324-3F86-468DFD0C13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3952934" y="4006945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B00C856D-D241-D853-D52E-F7B8F65F44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7022285" y="4006945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46618423-E19A-B9E3-B77D-D3B86F65E4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5504421" y="2794671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DE489326-2DC1-9C31-0B19-60843406A1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6849737" y="1599968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9ADA04-2177-E4C7-9C97-F9BB76A4A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3295" y="5085739"/>
            <a:ext cx="942975" cy="8286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3C1B283-C2A5-F3EA-D728-5C250A598F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465" y="1383700"/>
            <a:ext cx="609600" cy="93345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7F97072-DEDF-5E1A-2626-7806745D4ADA}"/>
              </a:ext>
            </a:extLst>
          </p:cNvPr>
          <p:cNvCxnSpPr>
            <a:stCxn id="20" idx="1"/>
            <a:endCxn id="11" idx="3"/>
          </p:cNvCxnSpPr>
          <p:nvPr/>
        </p:nvCxnSpPr>
        <p:spPr>
          <a:xfrm flipH="1">
            <a:off x="7929737" y="1850425"/>
            <a:ext cx="277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77D528F-0D77-5CBB-B7F2-B79EFF8CD95D}"/>
              </a:ext>
            </a:extLst>
          </p:cNvPr>
          <p:cNvCxnSpPr>
            <a:stCxn id="11" idx="1"/>
            <a:endCxn id="10" idx="0"/>
          </p:cNvCxnSpPr>
          <p:nvPr/>
        </p:nvCxnSpPr>
        <p:spPr>
          <a:xfrm rot="10800000" flipV="1">
            <a:off x="6044421" y="1850425"/>
            <a:ext cx="805316" cy="94424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C7D712B9-A810-1845-F405-B889ED9C1956}"/>
              </a:ext>
            </a:extLst>
          </p:cNvPr>
          <p:cNvCxnSpPr>
            <a:cxnSpLocks/>
            <a:stCxn id="5" idx="0"/>
            <a:endCxn id="10" idx="3"/>
          </p:cNvCxnSpPr>
          <p:nvPr/>
        </p:nvCxnSpPr>
        <p:spPr>
          <a:xfrm rot="16200000" flipV="1">
            <a:off x="6592445" y="3037105"/>
            <a:ext cx="961817" cy="977864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F91C5254-247D-D76D-9E35-F6BB52DE7A97}"/>
              </a:ext>
            </a:extLst>
          </p:cNvPr>
          <p:cNvCxnSpPr>
            <a:cxnSpLocks/>
            <a:stCxn id="2" idx="0"/>
            <a:endCxn id="10" idx="1"/>
          </p:cNvCxnSpPr>
          <p:nvPr/>
        </p:nvCxnSpPr>
        <p:spPr>
          <a:xfrm rot="5400000" flipH="1" flipV="1">
            <a:off x="4517769" y="3020294"/>
            <a:ext cx="961817" cy="101148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939E5736-42D1-949C-D07A-F5F4E5817F8D}"/>
              </a:ext>
            </a:extLst>
          </p:cNvPr>
          <p:cNvCxnSpPr>
            <a:cxnSpLocks/>
            <a:endCxn id="2" idx="1"/>
          </p:cNvCxnSpPr>
          <p:nvPr/>
        </p:nvCxnSpPr>
        <p:spPr>
          <a:xfrm rot="5400000" flipH="1" flipV="1">
            <a:off x="3468296" y="4601102"/>
            <a:ext cx="828338" cy="140938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F14FFCCB-F610-0480-4BFD-01237A4E6558}"/>
              </a:ext>
            </a:extLst>
          </p:cNvPr>
          <p:cNvCxnSpPr>
            <a:cxnSpLocks/>
            <a:stCxn id="17" idx="0"/>
            <a:endCxn id="2" idx="3"/>
          </p:cNvCxnSpPr>
          <p:nvPr/>
        </p:nvCxnSpPr>
        <p:spPr>
          <a:xfrm rot="16200000" flipV="1">
            <a:off x="4778968" y="4511368"/>
            <a:ext cx="828338" cy="32040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0281A0D-C9B5-F8DC-8774-A48F0627FF22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>
            <a:off x="7562285" y="4507859"/>
            <a:ext cx="2498" cy="577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0" descr="C:\Users\ecoffey\AppData\Local\Temp\Rar$DRa0.262\30020__Device_detector_default_256.png">
            <a:extLst>
              <a:ext uri="{FF2B5EF4-FFF2-40B4-BE49-F238E27FC236}">
                <a16:creationId xmlns:a16="http://schemas.microsoft.com/office/drawing/2014/main" id="{4C1EFD58-EA7C-1880-C965-41BD702CD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851" y="1299900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F0666B34-AB82-7834-FD4C-ACF4B715B895}"/>
              </a:ext>
            </a:extLst>
          </p:cNvPr>
          <p:cNvCxnSpPr>
            <a:stCxn id="7" idx="3"/>
          </p:cNvCxnSpPr>
          <p:nvPr/>
        </p:nvCxnSpPr>
        <p:spPr>
          <a:xfrm>
            <a:off x="5421851" y="1839900"/>
            <a:ext cx="402975" cy="954771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4A9DAB2-FCFB-A0AB-8BEB-2A384B898CDD}"/>
              </a:ext>
            </a:extLst>
          </p:cNvPr>
          <p:cNvCxnSpPr>
            <a:cxnSpLocks/>
            <a:stCxn id="10" idx="2"/>
          </p:cNvCxnSpPr>
          <p:nvPr/>
        </p:nvCxnSpPr>
        <p:spPr>
          <a:xfrm rot="5400000">
            <a:off x="5079263" y="3098173"/>
            <a:ext cx="767747" cy="1162570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4E21F44-F49A-A680-7559-2C3D8BA4FAED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6564633" y="2025950"/>
            <a:ext cx="750173" cy="900037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D26D004-758D-1A74-B796-BD0737846DDE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>
            <a:off x="6147581" y="3295584"/>
            <a:ext cx="874705" cy="961818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683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B4508-221C-6C24-9C7E-D03B884E4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816E66A-FDEE-18CD-6AEC-A63FD3790774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CC0230B8-EB7C-DFBE-A46E-868210EF57F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Выбор «точек наблюдения». Маршрутизация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E5B89E-FA98-F847-6337-09AF55D1A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29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0D270C86-AB81-F2AC-6A28-35482DD60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F59714-26CA-23A6-1FCB-A3F4FC46F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851" y="5415940"/>
            <a:ext cx="942975" cy="8286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1215B35-F7EA-1944-AD39-D9A1AA963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510" y="5415940"/>
            <a:ext cx="942975" cy="828675"/>
          </a:xfrm>
          <a:prstGeom prst="rect">
            <a:avLst/>
          </a:prstGeom>
        </p:spPr>
      </p:pic>
      <p:pic>
        <p:nvPicPr>
          <p:cNvPr id="2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FC2F4008-22F1-A670-0CEE-B4FB6528CA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3952934" y="4337145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5C1C90D7-975C-C5F5-501E-C8B6A4FAEB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7022285" y="4337145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5D853F3A-D68C-0003-3C04-C62C0EA415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6849737" y="1930168"/>
            <a:ext cx="1080000" cy="5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2514A7-C75E-39B8-668A-174E0ECAC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3295" y="5415939"/>
            <a:ext cx="942975" cy="8286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B2F8370-00AD-FFB3-759A-4999310F2B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465" y="1713900"/>
            <a:ext cx="609600" cy="93345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DFFF229-FF97-E3DA-7B98-682D6903C7A9}"/>
              </a:ext>
            </a:extLst>
          </p:cNvPr>
          <p:cNvCxnSpPr>
            <a:stCxn id="20" idx="1"/>
            <a:endCxn id="11" idx="3"/>
          </p:cNvCxnSpPr>
          <p:nvPr/>
        </p:nvCxnSpPr>
        <p:spPr>
          <a:xfrm flipH="1">
            <a:off x="7929737" y="2180625"/>
            <a:ext cx="277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89801A0-7F2C-DC39-55AF-33D1EAF765CA}"/>
              </a:ext>
            </a:extLst>
          </p:cNvPr>
          <p:cNvCxnSpPr>
            <a:stCxn id="11" idx="1"/>
          </p:cNvCxnSpPr>
          <p:nvPr/>
        </p:nvCxnSpPr>
        <p:spPr>
          <a:xfrm rot="10800000" flipV="1">
            <a:off x="6044421" y="2180625"/>
            <a:ext cx="805316" cy="94424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C19018E-885D-84D0-9619-1F11453A98AA}"/>
              </a:ext>
            </a:extLst>
          </p:cNvPr>
          <p:cNvCxnSpPr>
            <a:cxnSpLocks/>
            <a:stCxn id="5" idx="0"/>
            <a:endCxn id="8" idx="3"/>
          </p:cNvCxnSpPr>
          <p:nvPr/>
        </p:nvCxnSpPr>
        <p:spPr>
          <a:xfrm rot="16200000" flipV="1">
            <a:off x="6560178" y="3335037"/>
            <a:ext cx="985067" cy="1019149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D6CF41CB-B6C3-1AFC-13FF-03ACC6E9F61C}"/>
              </a:ext>
            </a:extLst>
          </p:cNvPr>
          <p:cNvCxnSpPr>
            <a:cxnSpLocks/>
            <a:stCxn id="2" idx="0"/>
          </p:cNvCxnSpPr>
          <p:nvPr/>
        </p:nvCxnSpPr>
        <p:spPr>
          <a:xfrm rot="5400000" flipH="1" flipV="1">
            <a:off x="4517769" y="3350494"/>
            <a:ext cx="961817" cy="101148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D82824D5-300F-E9E1-E6CC-E4B3244CC5A7}"/>
              </a:ext>
            </a:extLst>
          </p:cNvPr>
          <p:cNvCxnSpPr>
            <a:cxnSpLocks/>
            <a:endCxn id="2" idx="1"/>
          </p:cNvCxnSpPr>
          <p:nvPr/>
        </p:nvCxnSpPr>
        <p:spPr>
          <a:xfrm rot="5400000" flipH="1" flipV="1">
            <a:off x="3468296" y="4931302"/>
            <a:ext cx="828338" cy="140938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EAEABE7E-5E4E-6453-7CBB-2FC96AEFE216}"/>
              </a:ext>
            </a:extLst>
          </p:cNvPr>
          <p:cNvCxnSpPr>
            <a:cxnSpLocks/>
            <a:stCxn id="17" idx="0"/>
            <a:endCxn id="2" idx="3"/>
          </p:cNvCxnSpPr>
          <p:nvPr/>
        </p:nvCxnSpPr>
        <p:spPr>
          <a:xfrm rot="16200000" flipV="1">
            <a:off x="4778968" y="4841568"/>
            <a:ext cx="828338" cy="32040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9D2CF5B-D77E-FE89-CFE4-BFF778CE4C8D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>
            <a:off x="7562285" y="4838059"/>
            <a:ext cx="2498" cy="577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0" descr="C:\Users\ecoffey\AppData\Local\Temp\Rar$DRa0.262\30020__Device_detector_default_256.png">
            <a:extLst>
              <a:ext uri="{FF2B5EF4-FFF2-40B4-BE49-F238E27FC236}">
                <a16:creationId xmlns:a16="http://schemas.microsoft.com/office/drawing/2014/main" id="{79FDB68C-40FB-4B36-9817-CF3FC0111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851" y="1630100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9F4E0A0E-73FC-44CC-731F-55060AFE7B52}"/>
              </a:ext>
            </a:extLst>
          </p:cNvPr>
          <p:cNvCxnSpPr>
            <a:stCxn id="7" idx="3"/>
          </p:cNvCxnSpPr>
          <p:nvPr/>
        </p:nvCxnSpPr>
        <p:spPr>
          <a:xfrm>
            <a:off x="5421851" y="2170100"/>
            <a:ext cx="402975" cy="954771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5BEC63E-E6AC-BBA3-A4E9-34370ACE7034}"/>
              </a:ext>
            </a:extLst>
          </p:cNvPr>
          <p:cNvCxnSpPr>
            <a:cxnSpLocks/>
          </p:cNvCxnSpPr>
          <p:nvPr/>
        </p:nvCxnSpPr>
        <p:spPr>
          <a:xfrm rot="5400000">
            <a:off x="5079263" y="3428373"/>
            <a:ext cx="767747" cy="1162570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9C57FA2E-2A9A-3CCB-8BA6-40D6B1E1F4FC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6564633" y="2356150"/>
            <a:ext cx="750173" cy="900037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6D5D35E3-BE4E-4884-659B-E8FC5D45BFD6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>
            <a:off x="6147581" y="3625784"/>
            <a:ext cx="874705" cy="961818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0" descr="C:\Users\ecoffey\AppData\Local\Temp\Rar$DRa0.386\30067_Device_router_default_256.png">
            <a:extLst>
              <a:ext uri="{FF2B5EF4-FFF2-40B4-BE49-F238E27FC236}">
                <a16:creationId xmlns:a16="http://schemas.microsoft.com/office/drawing/2014/main" id="{F40859A4-0B4E-7CF8-FD0A-2322F22E1D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1" t="28931" r="8368" b="21666"/>
          <a:stretch/>
        </p:blipFill>
        <p:spPr bwMode="auto">
          <a:xfrm>
            <a:off x="5463136" y="3032431"/>
            <a:ext cx="1080000" cy="639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1FF3788-9765-5F4F-4208-959C390F05F7}"/>
              </a:ext>
            </a:extLst>
          </p:cNvPr>
          <p:cNvSpPr txBox="1"/>
          <p:nvPr/>
        </p:nvSpPr>
        <p:spPr>
          <a:xfrm>
            <a:off x="7403427" y="623723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165254-6383-8C56-0DF5-2412EDE87B2D}"/>
              </a:ext>
            </a:extLst>
          </p:cNvPr>
          <p:cNvSpPr txBox="1"/>
          <p:nvPr/>
        </p:nvSpPr>
        <p:spPr>
          <a:xfrm>
            <a:off x="8353407" y="262150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RU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5BE26F8-2171-E21D-0CD6-916CC80B99E0}"/>
              </a:ext>
            </a:extLst>
          </p:cNvPr>
          <p:cNvSpPr/>
          <p:nvPr/>
        </p:nvSpPr>
        <p:spPr>
          <a:xfrm>
            <a:off x="6530383" y="2349500"/>
            <a:ext cx="1508717" cy="2959100"/>
          </a:xfrm>
          <a:custGeom>
            <a:avLst/>
            <a:gdLst>
              <a:gd name="csX0" fmla="*/ 746717 w 1508717"/>
              <a:gd name="csY0" fmla="*/ 2959100 h 2959100"/>
              <a:gd name="csX1" fmla="*/ 22817 w 1508717"/>
              <a:gd name="csY1" fmla="*/ 1104900 h 2959100"/>
              <a:gd name="csX2" fmla="*/ 1508717 w 1508717"/>
              <a:gd name="csY2" fmla="*/ 0 h 2959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08717" h="2959100">
                <a:moveTo>
                  <a:pt x="746717" y="2959100"/>
                </a:moveTo>
                <a:cubicBezTo>
                  <a:pt x="321267" y="2278591"/>
                  <a:pt x="-104183" y="1598083"/>
                  <a:pt x="22817" y="1104900"/>
                </a:cubicBezTo>
                <a:cubicBezTo>
                  <a:pt x="149817" y="611717"/>
                  <a:pt x="829267" y="305858"/>
                  <a:pt x="1508717" y="0"/>
                </a:cubicBezTo>
              </a:path>
            </a:pathLst>
          </a:custGeom>
          <a:noFill/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6">
            <a:extLst>
              <a:ext uri="{FF2B5EF4-FFF2-40B4-BE49-F238E27FC236}">
                <a16:creationId xmlns:a16="http://schemas.microsoft.com/office/drawing/2014/main" id="{420690F4-68CC-B34D-4278-7575021D1B2D}"/>
              </a:ext>
            </a:extLst>
          </p:cNvPr>
          <p:cNvSpPr/>
          <p:nvPr/>
        </p:nvSpPr>
        <p:spPr>
          <a:xfrm>
            <a:off x="4118732" y="983820"/>
            <a:ext cx="34099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Что увидит сенсор</a:t>
            </a:r>
            <a:r>
              <a:rPr lang="en-US" sz="2800" b="1" dirty="0"/>
              <a:t>?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7369263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F0D1F-330F-A41B-121D-9FE47A1A6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FFBAB99-03AF-A821-D2C3-BCB647719902}"/>
              </a:ext>
            </a:extLst>
          </p:cNvPr>
          <p:cNvCxnSpPr>
            <a:cxnSpLocks/>
          </p:cNvCxnSpPr>
          <p:nvPr/>
        </p:nvCxnSpPr>
        <p:spPr>
          <a:xfrm>
            <a:off x="3835400" y="2794000"/>
            <a:ext cx="0" cy="1803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0D3DB877-FF37-9B94-5FB4-A52A06EAB647}"/>
              </a:ext>
            </a:extLst>
          </p:cNvPr>
          <p:cNvSpPr/>
          <p:nvPr/>
        </p:nvSpPr>
        <p:spPr>
          <a:xfrm>
            <a:off x="5088738" y="5522000"/>
            <a:ext cx="2857500" cy="758732"/>
          </a:xfrm>
          <a:prstGeom prst="wedgeRectCallout">
            <a:avLst>
              <a:gd name="adj1" fmla="val -15500"/>
              <a:gd name="adj2" fmla="val -13399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IP</a:t>
            </a:r>
            <a:r>
              <a:rPr lang="en-US" dirty="0">
                <a:solidFill>
                  <a:schemeClr val="tx1"/>
                </a:solidFill>
              </a:rPr>
              <a:t>: 10.2.0.1</a:t>
            </a:r>
          </a:p>
          <a:p>
            <a:r>
              <a:rPr lang="en-US" b="1" dirty="0">
                <a:solidFill>
                  <a:schemeClr val="tx1"/>
                </a:solidFill>
              </a:rPr>
              <a:t>Mask</a:t>
            </a:r>
            <a:r>
              <a:rPr lang="en-US" dirty="0">
                <a:solidFill>
                  <a:schemeClr val="tx1"/>
                </a:solidFill>
              </a:rPr>
              <a:t>: 255.255.255.0</a:t>
            </a:r>
          </a:p>
          <a:p>
            <a:r>
              <a:rPr lang="en-US" b="1" dirty="0">
                <a:solidFill>
                  <a:schemeClr val="tx1"/>
                </a:solidFill>
              </a:rPr>
              <a:t>MAC3</a:t>
            </a:r>
            <a:r>
              <a:rPr lang="en-US" dirty="0">
                <a:solidFill>
                  <a:schemeClr val="tx1"/>
                </a:solidFill>
              </a:rPr>
              <a:t>: 0C:60:EF:11:22:60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6" name="Speech Bubble: Rectangle 35">
            <a:extLst>
              <a:ext uri="{FF2B5EF4-FFF2-40B4-BE49-F238E27FC236}">
                <a16:creationId xmlns:a16="http://schemas.microsoft.com/office/drawing/2014/main" id="{AC0ACF86-5145-3582-3A64-DA6620085C10}"/>
              </a:ext>
            </a:extLst>
          </p:cNvPr>
          <p:cNvSpPr/>
          <p:nvPr/>
        </p:nvSpPr>
        <p:spPr>
          <a:xfrm>
            <a:off x="2957272" y="3138614"/>
            <a:ext cx="2857500" cy="867987"/>
          </a:xfrm>
          <a:prstGeom prst="wedgeRectCallout">
            <a:avLst>
              <a:gd name="adj1" fmla="val 49389"/>
              <a:gd name="adj2" fmla="val 13550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IP</a:t>
            </a:r>
            <a:r>
              <a:rPr lang="en-US" dirty="0">
                <a:solidFill>
                  <a:schemeClr val="tx1"/>
                </a:solidFill>
              </a:rPr>
              <a:t>: 10.1.0.1</a:t>
            </a:r>
          </a:p>
          <a:p>
            <a:r>
              <a:rPr lang="en-US" b="1" dirty="0">
                <a:solidFill>
                  <a:schemeClr val="tx1"/>
                </a:solidFill>
              </a:rPr>
              <a:t>Mask</a:t>
            </a:r>
            <a:r>
              <a:rPr lang="en-US" dirty="0">
                <a:solidFill>
                  <a:schemeClr val="tx1"/>
                </a:solidFill>
              </a:rPr>
              <a:t>: 255.255.255.0</a:t>
            </a:r>
          </a:p>
          <a:p>
            <a:r>
              <a:rPr lang="en-US" b="1" dirty="0">
                <a:solidFill>
                  <a:schemeClr val="tx1"/>
                </a:solidFill>
              </a:rPr>
              <a:t>MAC2</a:t>
            </a:r>
            <a:r>
              <a:rPr lang="en-US" dirty="0">
                <a:solidFill>
                  <a:schemeClr val="tx1"/>
                </a:solidFill>
              </a:rPr>
              <a:t>: 0C:60:EF:11:22:34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08B42EDB-9EDD-71CD-4108-CC055CC631F7}"/>
              </a:ext>
            </a:extLst>
          </p:cNvPr>
          <p:cNvSpPr/>
          <p:nvPr/>
        </p:nvSpPr>
        <p:spPr>
          <a:xfrm>
            <a:off x="9156355" y="5522000"/>
            <a:ext cx="2857500" cy="807072"/>
          </a:xfrm>
          <a:prstGeom prst="wedgeRectCallout">
            <a:avLst>
              <a:gd name="adj1" fmla="val 7167"/>
              <a:gd name="adj2" fmla="val -1205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IP</a:t>
            </a:r>
            <a:r>
              <a:rPr lang="en-US" dirty="0">
                <a:solidFill>
                  <a:schemeClr val="tx1"/>
                </a:solidFill>
              </a:rPr>
              <a:t>: 10.2.0.10</a:t>
            </a:r>
          </a:p>
          <a:p>
            <a:r>
              <a:rPr lang="en-US" b="1" dirty="0">
                <a:solidFill>
                  <a:schemeClr val="tx1"/>
                </a:solidFill>
              </a:rPr>
              <a:t>Mask</a:t>
            </a:r>
            <a:r>
              <a:rPr lang="en-US" dirty="0">
                <a:solidFill>
                  <a:schemeClr val="tx1"/>
                </a:solidFill>
              </a:rPr>
              <a:t>: 255.255.255.0</a:t>
            </a:r>
          </a:p>
          <a:p>
            <a:r>
              <a:rPr lang="en-US" b="1" dirty="0">
                <a:solidFill>
                  <a:schemeClr val="tx1"/>
                </a:solidFill>
              </a:rPr>
              <a:t>MAC4</a:t>
            </a:r>
            <a:r>
              <a:rPr lang="en-US" dirty="0">
                <a:solidFill>
                  <a:schemeClr val="tx1"/>
                </a:solidFill>
              </a:rPr>
              <a:t>: 12:CE:13:AC:11:15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6D8E68C-A6F8-7B43-A124-4F500AD4BA23}"/>
              </a:ext>
            </a:extLst>
          </p:cNvPr>
          <p:cNvCxnSpPr>
            <a:cxnSpLocks/>
            <a:stCxn id="14" idx="3"/>
            <a:endCxn id="25" idx="1"/>
          </p:cNvCxnSpPr>
          <p:nvPr/>
        </p:nvCxnSpPr>
        <p:spPr>
          <a:xfrm flipV="1">
            <a:off x="2194270" y="4724832"/>
            <a:ext cx="8390835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AB1E23AE-D6F0-9702-200A-9E70303D0432}"/>
              </a:ext>
            </a:extLst>
          </p:cNvPr>
          <p:cNvSpPr/>
          <p:nvPr/>
        </p:nvSpPr>
        <p:spPr>
          <a:xfrm>
            <a:off x="63500" y="5522000"/>
            <a:ext cx="2857500" cy="807074"/>
          </a:xfrm>
          <a:prstGeom prst="wedgeRectCallout">
            <a:avLst>
              <a:gd name="adj1" fmla="val 7167"/>
              <a:gd name="adj2" fmla="val -1205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IP</a:t>
            </a:r>
            <a:r>
              <a:rPr lang="en-US" dirty="0">
                <a:solidFill>
                  <a:schemeClr val="tx1"/>
                </a:solidFill>
              </a:rPr>
              <a:t>: 10.1.0.10</a:t>
            </a:r>
          </a:p>
          <a:p>
            <a:r>
              <a:rPr lang="en-US" b="1" dirty="0">
                <a:solidFill>
                  <a:schemeClr val="tx1"/>
                </a:solidFill>
              </a:rPr>
              <a:t>Mask</a:t>
            </a:r>
            <a:r>
              <a:rPr lang="en-US" dirty="0">
                <a:solidFill>
                  <a:schemeClr val="tx1"/>
                </a:solidFill>
              </a:rPr>
              <a:t>: 255.255.255.0</a:t>
            </a:r>
          </a:p>
          <a:p>
            <a:r>
              <a:rPr lang="en-US" b="1" dirty="0">
                <a:solidFill>
                  <a:schemeClr val="tx1"/>
                </a:solidFill>
              </a:rPr>
              <a:t>MAC1</a:t>
            </a:r>
            <a:r>
              <a:rPr lang="en-US" dirty="0">
                <a:solidFill>
                  <a:schemeClr val="tx1"/>
                </a:solidFill>
              </a:rPr>
              <a:t>: 12:CE:13:AB:EF:12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435AA58-D9E4-F477-821E-1F89A0A099CF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208B6A6-B278-70B6-3632-0E4C3506FB25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Инкапсуляция пакета сетевого уровня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69FBB1-EAAB-21CC-154F-258BCFCBB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30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4BC95FEA-1226-7AD5-A1E1-8B88A6E3EE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0" name="Picture 10" descr="C:\Users\ecoffey\AppData\Local\Temp\Rar$DRa0.386\30067_Device_router_default_256.png">
            <a:extLst>
              <a:ext uri="{FF2B5EF4-FFF2-40B4-BE49-F238E27FC236}">
                <a16:creationId xmlns:a16="http://schemas.microsoft.com/office/drawing/2014/main" id="{F49B8876-C973-D7B8-D377-74CD22C928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1" t="28931" r="8368" b="21666"/>
          <a:stretch/>
        </p:blipFill>
        <p:spPr bwMode="auto">
          <a:xfrm>
            <a:off x="5463136" y="4405185"/>
            <a:ext cx="1080000" cy="639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15BD7F-343A-48FE-0FAE-CA6460642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295" y="4310495"/>
            <a:ext cx="942975" cy="8286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83CF355-5126-DFDC-5FDD-5AE76515CA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5105" y="4258107"/>
            <a:ext cx="609600" cy="93345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580840CA-BBC8-4467-8BEF-AF5C8A07DFCA}"/>
              </a:ext>
            </a:extLst>
          </p:cNvPr>
          <p:cNvSpPr/>
          <p:nvPr/>
        </p:nvSpPr>
        <p:spPr>
          <a:xfrm>
            <a:off x="3235670" y="1971519"/>
            <a:ext cx="1092200" cy="380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10.1.0.10</a:t>
            </a:r>
            <a:endParaRPr lang="ru-RU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9748740-8C05-EBD8-A836-08AE527A7201}"/>
              </a:ext>
            </a:extLst>
          </p:cNvPr>
          <p:cNvSpPr/>
          <p:nvPr/>
        </p:nvSpPr>
        <p:spPr>
          <a:xfrm>
            <a:off x="4429470" y="1971518"/>
            <a:ext cx="1092200" cy="380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10.2.0.10</a:t>
            </a:r>
            <a:endParaRPr lang="ru-RU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0FFA924-9853-A213-C16F-1E39292FC6CF}"/>
              </a:ext>
            </a:extLst>
          </p:cNvPr>
          <p:cNvSpPr/>
          <p:nvPr/>
        </p:nvSpPr>
        <p:spPr>
          <a:xfrm>
            <a:off x="5623270" y="1971517"/>
            <a:ext cx="1092200" cy="380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  <a:endParaRPr lang="ru-RU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3B598B-FEAC-6B42-8169-013E6D84880A}"/>
              </a:ext>
            </a:extLst>
          </p:cNvPr>
          <p:cNvSpPr/>
          <p:nvPr/>
        </p:nvSpPr>
        <p:spPr>
          <a:xfrm>
            <a:off x="3045170" y="1618971"/>
            <a:ext cx="3822700" cy="8859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IP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921B1C2-8753-A80B-313B-FC16C4A4EE18}"/>
              </a:ext>
            </a:extLst>
          </p:cNvPr>
          <p:cNvSpPr/>
          <p:nvPr/>
        </p:nvSpPr>
        <p:spPr>
          <a:xfrm>
            <a:off x="603100" y="1246940"/>
            <a:ext cx="6440742" cy="13791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Ethernet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41AD83F-7956-6609-5993-2EF7B84B6245}"/>
              </a:ext>
            </a:extLst>
          </p:cNvPr>
          <p:cNvSpPr/>
          <p:nvPr/>
        </p:nvSpPr>
        <p:spPr>
          <a:xfrm>
            <a:off x="689320" y="1618971"/>
            <a:ext cx="1092200" cy="885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MAC1</a:t>
            </a:r>
            <a:endParaRPr lang="ru-RU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D6EE0FF-55CA-6732-911E-515EA7A9B915}"/>
              </a:ext>
            </a:extLst>
          </p:cNvPr>
          <p:cNvSpPr/>
          <p:nvPr/>
        </p:nvSpPr>
        <p:spPr>
          <a:xfrm>
            <a:off x="1864070" y="1618972"/>
            <a:ext cx="1092200" cy="885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946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711B2-2094-6E5C-9E0A-A92B4581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1C11B4E-6D96-15A2-B6F6-7B1079E871A3}"/>
              </a:ext>
            </a:extLst>
          </p:cNvPr>
          <p:cNvCxnSpPr>
            <a:cxnSpLocks/>
          </p:cNvCxnSpPr>
          <p:nvPr/>
        </p:nvCxnSpPr>
        <p:spPr>
          <a:xfrm>
            <a:off x="8369300" y="2794000"/>
            <a:ext cx="0" cy="1803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94780FF5-9722-D10B-059A-4252D4584617}"/>
              </a:ext>
            </a:extLst>
          </p:cNvPr>
          <p:cNvSpPr/>
          <p:nvPr/>
        </p:nvSpPr>
        <p:spPr>
          <a:xfrm>
            <a:off x="5088738" y="5522000"/>
            <a:ext cx="2857500" cy="758732"/>
          </a:xfrm>
          <a:prstGeom prst="wedgeRectCallout">
            <a:avLst>
              <a:gd name="adj1" fmla="val -15500"/>
              <a:gd name="adj2" fmla="val -13399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IP</a:t>
            </a:r>
            <a:r>
              <a:rPr lang="en-US" dirty="0">
                <a:solidFill>
                  <a:schemeClr val="tx1"/>
                </a:solidFill>
              </a:rPr>
              <a:t>: 10.2.0.1</a:t>
            </a:r>
          </a:p>
          <a:p>
            <a:r>
              <a:rPr lang="en-US" b="1" dirty="0">
                <a:solidFill>
                  <a:schemeClr val="tx1"/>
                </a:solidFill>
              </a:rPr>
              <a:t>Mask</a:t>
            </a:r>
            <a:r>
              <a:rPr lang="en-US" dirty="0">
                <a:solidFill>
                  <a:schemeClr val="tx1"/>
                </a:solidFill>
              </a:rPr>
              <a:t>: 255.255.255.0</a:t>
            </a:r>
          </a:p>
          <a:p>
            <a:r>
              <a:rPr lang="en-US" b="1" dirty="0">
                <a:solidFill>
                  <a:schemeClr val="tx1"/>
                </a:solidFill>
              </a:rPr>
              <a:t>MAC3</a:t>
            </a:r>
            <a:r>
              <a:rPr lang="en-US" dirty="0">
                <a:solidFill>
                  <a:schemeClr val="tx1"/>
                </a:solidFill>
              </a:rPr>
              <a:t>: 0C:60:EF:11:22:60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6" name="Speech Bubble: Rectangle 35">
            <a:extLst>
              <a:ext uri="{FF2B5EF4-FFF2-40B4-BE49-F238E27FC236}">
                <a16:creationId xmlns:a16="http://schemas.microsoft.com/office/drawing/2014/main" id="{00497AA3-E07E-6A5F-58A0-55FA7529B4FC}"/>
              </a:ext>
            </a:extLst>
          </p:cNvPr>
          <p:cNvSpPr/>
          <p:nvPr/>
        </p:nvSpPr>
        <p:spPr>
          <a:xfrm>
            <a:off x="2957272" y="3138614"/>
            <a:ext cx="2857500" cy="867987"/>
          </a:xfrm>
          <a:prstGeom prst="wedgeRectCallout">
            <a:avLst>
              <a:gd name="adj1" fmla="val 49389"/>
              <a:gd name="adj2" fmla="val 13550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IP</a:t>
            </a:r>
            <a:r>
              <a:rPr lang="en-US" dirty="0">
                <a:solidFill>
                  <a:schemeClr val="tx1"/>
                </a:solidFill>
              </a:rPr>
              <a:t>: 10.1.0.1</a:t>
            </a:r>
          </a:p>
          <a:p>
            <a:r>
              <a:rPr lang="en-US" b="1" dirty="0">
                <a:solidFill>
                  <a:schemeClr val="tx1"/>
                </a:solidFill>
              </a:rPr>
              <a:t>Mask</a:t>
            </a:r>
            <a:r>
              <a:rPr lang="en-US" dirty="0">
                <a:solidFill>
                  <a:schemeClr val="tx1"/>
                </a:solidFill>
              </a:rPr>
              <a:t>: 255.255.255.0</a:t>
            </a:r>
          </a:p>
          <a:p>
            <a:r>
              <a:rPr lang="en-US" b="1" dirty="0">
                <a:solidFill>
                  <a:schemeClr val="tx1"/>
                </a:solidFill>
              </a:rPr>
              <a:t>MAC2</a:t>
            </a:r>
            <a:r>
              <a:rPr lang="en-US" dirty="0">
                <a:solidFill>
                  <a:schemeClr val="tx1"/>
                </a:solidFill>
              </a:rPr>
              <a:t>: 0C:60:EF:11:22:34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4F795E72-DFF6-2A27-E0EF-A951EC18DEE9}"/>
              </a:ext>
            </a:extLst>
          </p:cNvPr>
          <p:cNvSpPr/>
          <p:nvPr/>
        </p:nvSpPr>
        <p:spPr>
          <a:xfrm>
            <a:off x="9156355" y="5522000"/>
            <a:ext cx="2857500" cy="807072"/>
          </a:xfrm>
          <a:prstGeom prst="wedgeRectCallout">
            <a:avLst>
              <a:gd name="adj1" fmla="val 7167"/>
              <a:gd name="adj2" fmla="val -1205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IP</a:t>
            </a:r>
            <a:r>
              <a:rPr lang="en-US" dirty="0">
                <a:solidFill>
                  <a:schemeClr val="tx1"/>
                </a:solidFill>
              </a:rPr>
              <a:t>: 10.2.0.10</a:t>
            </a:r>
          </a:p>
          <a:p>
            <a:r>
              <a:rPr lang="en-US" b="1" dirty="0">
                <a:solidFill>
                  <a:schemeClr val="tx1"/>
                </a:solidFill>
              </a:rPr>
              <a:t>Mask</a:t>
            </a:r>
            <a:r>
              <a:rPr lang="en-US" dirty="0">
                <a:solidFill>
                  <a:schemeClr val="tx1"/>
                </a:solidFill>
              </a:rPr>
              <a:t>: 255.255.255.0</a:t>
            </a:r>
          </a:p>
          <a:p>
            <a:r>
              <a:rPr lang="en-US" b="1" dirty="0">
                <a:solidFill>
                  <a:schemeClr val="tx1"/>
                </a:solidFill>
              </a:rPr>
              <a:t>MAC4</a:t>
            </a:r>
            <a:r>
              <a:rPr lang="en-US" dirty="0">
                <a:solidFill>
                  <a:schemeClr val="tx1"/>
                </a:solidFill>
              </a:rPr>
              <a:t>: 12:CE:13:AC:11:15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80048BD-DC25-3FAD-A92B-3FAD7042BF7F}"/>
              </a:ext>
            </a:extLst>
          </p:cNvPr>
          <p:cNvCxnSpPr>
            <a:cxnSpLocks/>
            <a:stCxn id="14" idx="3"/>
            <a:endCxn id="25" idx="1"/>
          </p:cNvCxnSpPr>
          <p:nvPr/>
        </p:nvCxnSpPr>
        <p:spPr>
          <a:xfrm flipV="1">
            <a:off x="2194270" y="4724832"/>
            <a:ext cx="8390835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B005B174-0B6E-80E6-396D-255192497534}"/>
              </a:ext>
            </a:extLst>
          </p:cNvPr>
          <p:cNvSpPr/>
          <p:nvPr/>
        </p:nvSpPr>
        <p:spPr>
          <a:xfrm>
            <a:off x="63500" y="5522000"/>
            <a:ext cx="2857500" cy="807074"/>
          </a:xfrm>
          <a:prstGeom prst="wedgeRectCallout">
            <a:avLst>
              <a:gd name="adj1" fmla="val 7167"/>
              <a:gd name="adj2" fmla="val -1205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IP</a:t>
            </a:r>
            <a:r>
              <a:rPr lang="en-US" dirty="0">
                <a:solidFill>
                  <a:schemeClr val="tx1"/>
                </a:solidFill>
              </a:rPr>
              <a:t>: 10.1.0.10</a:t>
            </a:r>
          </a:p>
          <a:p>
            <a:r>
              <a:rPr lang="en-US" b="1" dirty="0">
                <a:solidFill>
                  <a:schemeClr val="tx1"/>
                </a:solidFill>
              </a:rPr>
              <a:t>Mask</a:t>
            </a:r>
            <a:r>
              <a:rPr lang="en-US" dirty="0">
                <a:solidFill>
                  <a:schemeClr val="tx1"/>
                </a:solidFill>
              </a:rPr>
              <a:t>: 255.255.255.0</a:t>
            </a:r>
          </a:p>
          <a:p>
            <a:r>
              <a:rPr lang="en-US" b="1" dirty="0">
                <a:solidFill>
                  <a:schemeClr val="tx1"/>
                </a:solidFill>
              </a:rPr>
              <a:t>MAC1</a:t>
            </a:r>
            <a:r>
              <a:rPr lang="en-US" dirty="0">
                <a:solidFill>
                  <a:schemeClr val="tx1"/>
                </a:solidFill>
              </a:rPr>
              <a:t>: 12:CE:13:AB:EF:12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8818E9B-8017-9A5F-417E-B9D215E88AB7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D2D336E-6B4C-8A0F-A102-C3D0926BCA24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Инкапсуляция пакета сетевого уровня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2B1B9B-A53D-E638-8FE2-B03314DA1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31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85CABEA6-107B-310E-3C2A-00609B3C7F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0" name="Picture 10" descr="C:\Users\ecoffey\AppData\Local\Temp\Rar$DRa0.386\30067_Device_router_default_256.png">
            <a:extLst>
              <a:ext uri="{FF2B5EF4-FFF2-40B4-BE49-F238E27FC236}">
                <a16:creationId xmlns:a16="http://schemas.microsoft.com/office/drawing/2014/main" id="{BCE07F1F-14AB-2462-C86B-643178B62D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1" t="28931" r="8368" b="21666"/>
          <a:stretch/>
        </p:blipFill>
        <p:spPr bwMode="auto">
          <a:xfrm>
            <a:off x="5463136" y="4405185"/>
            <a:ext cx="1080000" cy="639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2A1AAC-EFA4-3DB9-F44B-6675B11160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295" y="4310495"/>
            <a:ext cx="942975" cy="8286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D604499-1E0B-3D25-4B88-D28DFEC209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5105" y="4258107"/>
            <a:ext cx="609600" cy="93345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CB939E1D-9295-1627-9559-04A0FF110E0B}"/>
              </a:ext>
            </a:extLst>
          </p:cNvPr>
          <p:cNvSpPr/>
          <p:nvPr/>
        </p:nvSpPr>
        <p:spPr>
          <a:xfrm>
            <a:off x="7769570" y="1971519"/>
            <a:ext cx="1092200" cy="380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10.1.0.10</a:t>
            </a:r>
            <a:endParaRPr lang="ru-RU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9E88C74-0C51-5A6B-55BF-D8BCF1C5DC65}"/>
              </a:ext>
            </a:extLst>
          </p:cNvPr>
          <p:cNvSpPr/>
          <p:nvPr/>
        </p:nvSpPr>
        <p:spPr>
          <a:xfrm>
            <a:off x="8963370" y="1971518"/>
            <a:ext cx="1092200" cy="380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10.2.0.10</a:t>
            </a:r>
            <a:endParaRPr lang="ru-RU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E74500A-1544-E1C4-3030-B9749B21A41D}"/>
              </a:ext>
            </a:extLst>
          </p:cNvPr>
          <p:cNvSpPr/>
          <p:nvPr/>
        </p:nvSpPr>
        <p:spPr>
          <a:xfrm>
            <a:off x="10157170" y="1971517"/>
            <a:ext cx="1092200" cy="380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  <a:endParaRPr lang="ru-RU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960C10D-348A-7E75-A19F-553C69C89FC5}"/>
              </a:ext>
            </a:extLst>
          </p:cNvPr>
          <p:cNvSpPr/>
          <p:nvPr/>
        </p:nvSpPr>
        <p:spPr>
          <a:xfrm>
            <a:off x="7579070" y="1618971"/>
            <a:ext cx="3822700" cy="8859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IP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F6C528F-8675-9254-7AFC-CEF6AC01DB32}"/>
              </a:ext>
            </a:extLst>
          </p:cNvPr>
          <p:cNvSpPr/>
          <p:nvPr/>
        </p:nvSpPr>
        <p:spPr>
          <a:xfrm>
            <a:off x="5137000" y="1246940"/>
            <a:ext cx="6440742" cy="13791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Ethernet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B3E7190-A015-40CD-890B-816376A117CC}"/>
              </a:ext>
            </a:extLst>
          </p:cNvPr>
          <p:cNvSpPr/>
          <p:nvPr/>
        </p:nvSpPr>
        <p:spPr>
          <a:xfrm>
            <a:off x="5223220" y="1618971"/>
            <a:ext cx="1092200" cy="885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MAC3</a:t>
            </a:r>
            <a:endParaRPr lang="ru-RU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CFCBC8B-9CC0-C4E2-CD02-79761BFD07C8}"/>
              </a:ext>
            </a:extLst>
          </p:cNvPr>
          <p:cNvSpPr/>
          <p:nvPr/>
        </p:nvSpPr>
        <p:spPr>
          <a:xfrm>
            <a:off x="6397970" y="1618972"/>
            <a:ext cx="1092200" cy="885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633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238FF-B11E-CE1F-13E1-635A7DEC9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A34EFD8-E8ED-2F07-7652-F82FE282FE9F}"/>
              </a:ext>
            </a:extLst>
          </p:cNvPr>
          <p:cNvCxnSpPr>
            <a:cxnSpLocks/>
          </p:cNvCxnSpPr>
          <p:nvPr/>
        </p:nvCxnSpPr>
        <p:spPr>
          <a:xfrm>
            <a:off x="8369300" y="2794000"/>
            <a:ext cx="0" cy="1803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29F337B1-56B6-91FF-D549-7726D528778B}"/>
              </a:ext>
            </a:extLst>
          </p:cNvPr>
          <p:cNvSpPr/>
          <p:nvPr/>
        </p:nvSpPr>
        <p:spPr>
          <a:xfrm>
            <a:off x="5088738" y="5522000"/>
            <a:ext cx="2857500" cy="758732"/>
          </a:xfrm>
          <a:prstGeom prst="wedgeRectCallout">
            <a:avLst>
              <a:gd name="adj1" fmla="val -15500"/>
              <a:gd name="adj2" fmla="val -13399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IP</a:t>
            </a:r>
            <a:r>
              <a:rPr lang="en-US" dirty="0">
                <a:solidFill>
                  <a:schemeClr val="tx1"/>
                </a:solidFill>
              </a:rPr>
              <a:t>: 10.2.0.1</a:t>
            </a:r>
          </a:p>
          <a:p>
            <a:r>
              <a:rPr lang="en-US" b="1" dirty="0">
                <a:solidFill>
                  <a:schemeClr val="tx1"/>
                </a:solidFill>
              </a:rPr>
              <a:t>Mask</a:t>
            </a:r>
            <a:r>
              <a:rPr lang="en-US" dirty="0">
                <a:solidFill>
                  <a:schemeClr val="tx1"/>
                </a:solidFill>
              </a:rPr>
              <a:t>: 255.255.255.0</a:t>
            </a:r>
          </a:p>
          <a:p>
            <a:r>
              <a:rPr lang="en-US" b="1" dirty="0">
                <a:solidFill>
                  <a:schemeClr val="tx1"/>
                </a:solidFill>
              </a:rPr>
              <a:t>MAC3</a:t>
            </a:r>
            <a:r>
              <a:rPr lang="en-US" dirty="0">
                <a:solidFill>
                  <a:schemeClr val="tx1"/>
                </a:solidFill>
              </a:rPr>
              <a:t>: 0C:60:EF:11:22:60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6" name="Speech Bubble: Rectangle 35">
            <a:extLst>
              <a:ext uri="{FF2B5EF4-FFF2-40B4-BE49-F238E27FC236}">
                <a16:creationId xmlns:a16="http://schemas.microsoft.com/office/drawing/2014/main" id="{2C3E66AC-B226-BD6C-A534-35AB1CD58691}"/>
              </a:ext>
            </a:extLst>
          </p:cNvPr>
          <p:cNvSpPr/>
          <p:nvPr/>
        </p:nvSpPr>
        <p:spPr>
          <a:xfrm>
            <a:off x="2957272" y="3138614"/>
            <a:ext cx="2857500" cy="867987"/>
          </a:xfrm>
          <a:prstGeom prst="wedgeRectCallout">
            <a:avLst>
              <a:gd name="adj1" fmla="val 49389"/>
              <a:gd name="adj2" fmla="val 13550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IP</a:t>
            </a:r>
            <a:r>
              <a:rPr lang="en-US" dirty="0">
                <a:solidFill>
                  <a:schemeClr val="tx1"/>
                </a:solidFill>
              </a:rPr>
              <a:t>: 10.1.0.1</a:t>
            </a:r>
          </a:p>
          <a:p>
            <a:r>
              <a:rPr lang="en-US" b="1" dirty="0">
                <a:solidFill>
                  <a:schemeClr val="tx1"/>
                </a:solidFill>
              </a:rPr>
              <a:t>Mask</a:t>
            </a:r>
            <a:r>
              <a:rPr lang="en-US" dirty="0">
                <a:solidFill>
                  <a:schemeClr val="tx1"/>
                </a:solidFill>
              </a:rPr>
              <a:t>: 255.255.255.0</a:t>
            </a:r>
          </a:p>
          <a:p>
            <a:r>
              <a:rPr lang="en-US" b="1" dirty="0">
                <a:solidFill>
                  <a:schemeClr val="tx1"/>
                </a:solidFill>
              </a:rPr>
              <a:t>MAC2</a:t>
            </a:r>
            <a:r>
              <a:rPr lang="en-US" dirty="0">
                <a:solidFill>
                  <a:schemeClr val="tx1"/>
                </a:solidFill>
              </a:rPr>
              <a:t>: 0C:60:EF:11:22:34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8846C749-CD40-0320-8587-3D996CFE7D0D}"/>
              </a:ext>
            </a:extLst>
          </p:cNvPr>
          <p:cNvSpPr/>
          <p:nvPr/>
        </p:nvSpPr>
        <p:spPr>
          <a:xfrm>
            <a:off x="9156355" y="5522000"/>
            <a:ext cx="2857500" cy="807072"/>
          </a:xfrm>
          <a:prstGeom prst="wedgeRectCallout">
            <a:avLst>
              <a:gd name="adj1" fmla="val 7167"/>
              <a:gd name="adj2" fmla="val -1205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IP</a:t>
            </a:r>
            <a:r>
              <a:rPr lang="en-US" dirty="0">
                <a:solidFill>
                  <a:schemeClr val="tx1"/>
                </a:solidFill>
              </a:rPr>
              <a:t>: 10.2.0.10</a:t>
            </a:r>
          </a:p>
          <a:p>
            <a:r>
              <a:rPr lang="en-US" b="1" dirty="0">
                <a:solidFill>
                  <a:schemeClr val="tx1"/>
                </a:solidFill>
              </a:rPr>
              <a:t>Mask</a:t>
            </a:r>
            <a:r>
              <a:rPr lang="en-US" dirty="0">
                <a:solidFill>
                  <a:schemeClr val="tx1"/>
                </a:solidFill>
              </a:rPr>
              <a:t>: 255.255.255.0</a:t>
            </a:r>
          </a:p>
          <a:p>
            <a:r>
              <a:rPr lang="en-US" b="1" dirty="0">
                <a:solidFill>
                  <a:schemeClr val="tx1"/>
                </a:solidFill>
              </a:rPr>
              <a:t>MAC4</a:t>
            </a:r>
            <a:r>
              <a:rPr lang="en-US" dirty="0">
                <a:solidFill>
                  <a:schemeClr val="tx1"/>
                </a:solidFill>
              </a:rPr>
              <a:t>: 12:CE:13:AC:11:15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B523F13-CA97-5696-3AF1-3EEEC052A4C9}"/>
              </a:ext>
            </a:extLst>
          </p:cNvPr>
          <p:cNvCxnSpPr>
            <a:cxnSpLocks/>
            <a:stCxn id="14" idx="3"/>
            <a:endCxn id="25" idx="1"/>
          </p:cNvCxnSpPr>
          <p:nvPr/>
        </p:nvCxnSpPr>
        <p:spPr>
          <a:xfrm flipV="1">
            <a:off x="2194270" y="4724832"/>
            <a:ext cx="8390835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E42B391F-283E-17CF-7164-A6DBF124F2BD}"/>
              </a:ext>
            </a:extLst>
          </p:cNvPr>
          <p:cNvSpPr/>
          <p:nvPr/>
        </p:nvSpPr>
        <p:spPr>
          <a:xfrm>
            <a:off x="63500" y="5522000"/>
            <a:ext cx="2857500" cy="807074"/>
          </a:xfrm>
          <a:prstGeom prst="wedgeRectCallout">
            <a:avLst>
              <a:gd name="adj1" fmla="val 7167"/>
              <a:gd name="adj2" fmla="val -1205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IP</a:t>
            </a:r>
            <a:r>
              <a:rPr lang="en-US" dirty="0">
                <a:solidFill>
                  <a:schemeClr val="tx1"/>
                </a:solidFill>
              </a:rPr>
              <a:t>: 10.1.0.10</a:t>
            </a:r>
          </a:p>
          <a:p>
            <a:r>
              <a:rPr lang="en-US" b="1" dirty="0">
                <a:solidFill>
                  <a:schemeClr val="tx1"/>
                </a:solidFill>
              </a:rPr>
              <a:t>Mask</a:t>
            </a:r>
            <a:r>
              <a:rPr lang="en-US" dirty="0">
                <a:solidFill>
                  <a:schemeClr val="tx1"/>
                </a:solidFill>
              </a:rPr>
              <a:t>: 255.255.255.0</a:t>
            </a:r>
          </a:p>
          <a:p>
            <a:r>
              <a:rPr lang="en-US" b="1" dirty="0">
                <a:solidFill>
                  <a:schemeClr val="tx1"/>
                </a:solidFill>
              </a:rPr>
              <a:t>MAC1</a:t>
            </a:r>
            <a:r>
              <a:rPr lang="en-US" dirty="0">
                <a:solidFill>
                  <a:schemeClr val="tx1"/>
                </a:solidFill>
              </a:rPr>
              <a:t>: 12:CE:13:AB:EF:12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2EB34E7-3D3E-5CA7-04F5-394DBC8099D0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72986128-6572-5BD7-E3E5-42137F7CD217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Инкапсуляция пакета сетевого уровня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307DFF-93BB-4746-304C-9E11939E7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32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07D0FAC5-C326-346B-97C9-864830D81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0" name="Picture 10" descr="C:\Users\ecoffey\AppData\Local\Temp\Rar$DRa0.386\30067_Device_router_default_256.png">
            <a:extLst>
              <a:ext uri="{FF2B5EF4-FFF2-40B4-BE49-F238E27FC236}">
                <a16:creationId xmlns:a16="http://schemas.microsoft.com/office/drawing/2014/main" id="{34097800-EB22-CA6A-2C79-40F61736CE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1" t="28931" r="8368" b="21666"/>
          <a:stretch/>
        </p:blipFill>
        <p:spPr bwMode="auto">
          <a:xfrm>
            <a:off x="5463136" y="4405185"/>
            <a:ext cx="1080000" cy="639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C83C86A-3EAE-B42D-F7B3-ECBDEE5F2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295" y="4310495"/>
            <a:ext cx="942975" cy="8286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592575C-7970-F935-A52F-64ED0C4E54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5105" y="4258107"/>
            <a:ext cx="609600" cy="93345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ABE5083A-E48B-DAB3-7A4D-E6C188659EC2}"/>
              </a:ext>
            </a:extLst>
          </p:cNvPr>
          <p:cNvSpPr/>
          <p:nvPr/>
        </p:nvSpPr>
        <p:spPr>
          <a:xfrm>
            <a:off x="7769570" y="1971519"/>
            <a:ext cx="1092200" cy="380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10.2.0.10</a:t>
            </a:r>
            <a:endParaRPr lang="ru-RU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E4682B7-48A3-C4DC-8F8E-0DD45CC44696}"/>
              </a:ext>
            </a:extLst>
          </p:cNvPr>
          <p:cNvSpPr/>
          <p:nvPr/>
        </p:nvSpPr>
        <p:spPr>
          <a:xfrm>
            <a:off x="8963370" y="1971518"/>
            <a:ext cx="1092200" cy="380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10.1.0.10</a:t>
            </a:r>
            <a:endParaRPr lang="ru-RU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87D1403-FDC6-5C18-22BE-6B81D9F22829}"/>
              </a:ext>
            </a:extLst>
          </p:cNvPr>
          <p:cNvSpPr/>
          <p:nvPr/>
        </p:nvSpPr>
        <p:spPr>
          <a:xfrm>
            <a:off x="10157170" y="1971517"/>
            <a:ext cx="1092200" cy="380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  <a:endParaRPr lang="ru-RU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2D4C5AC-B31E-9719-2AC1-B77BD7A75B82}"/>
              </a:ext>
            </a:extLst>
          </p:cNvPr>
          <p:cNvSpPr/>
          <p:nvPr/>
        </p:nvSpPr>
        <p:spPr>
          <a:xfrm>
            <a:off x="7579070" y="1618971"/>
            <a:ext cx="3822700" cy="8859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IP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793DE03-96D9-3768-61C3-BB93AC3B7819}"/>
              </a:ext>
            </a:extLst>
          </p:cNvPr>
          <p:cNvSpPr/>
          <p:nvPr/>
        </p:nvSpPr>
        <p:spPr>
          <a:xfrm>
            <a:off x="5137000" y="1246940"/>
            <a:ext cx="6440742" cy="13791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Ethernet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AD5F000-E704-D2F1-7A66-090EF269B955}"/>
              </a:ext>
            </a:extLst>
          </p:cNvPr>
          <p:cNvSpPr/>
          <p:nvPr/>
        </p:nvSpPr>
        <p:spPr>
          <a:xfrm>
            <a:off x="5223220" y="1618971"/>
            <a:ext cx="1092200" cy="885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MAC4</a:t>
            </a:r>
            <a:endParaRPr lang="ru-RU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33172FD-0B42-3E83-2808-760426B3738E}"/>
              </a:ext>
            </a:extLst>
          </p:cNvPr>
          <p:cNvSpPr/>
          <p:nvPr/>
        </p:nvSpPr>
        <p:spPr>
          <a:xfrm>
            <a:off x="6397970" y="1618972"/>
            <a:ext cx="1092200" cy="885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42621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3AF1E-DA17-2A88-9698-4C4E5BB20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D032544-5A33-2180-F717-462F29F12853}"/>
              </a:ext>
            </a:extLst>
          </p:cNvPr>
          <p:cNvCxnSpPr>
            <a:cxnSpLocks/>
          </p:cNvCxnSpPr>
          <p:nvPr/>
        </p:nvCxnSpPr>
        <p:spPr>
          <a:xfrm>
            <a:off x="3835400" y="2794000"/>
            <a:ext cx="0" cy="1803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695C57C7-6A64-83F7-625E-74B8644AE922}"/>
              </a:ext>
            </a:extLst>
          </p:cNvPr>
          <p:cNvSpPr/>
          <p:nvPr/>
        </p:nvSpPr>
        <p:spPr>
          <a:xfrm>
            <a:off x="5088738" y="5522000"/>
            <a:ext cx="2857500" cy="758732"/>
          </a:xfrm>
          <a:prstGeom prst="wedgeRectCallout">
            <a:avLst>
              <a:gd name="adj1" fmla="val -15500"/>
              <a:gd name="adj2" fmla="val -13399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IP</a:t>
            </a:r>
            <a:r>
              <a:rPr lang="en-US" dirty="0">
                <a:solidFill>
                  <a:schemeClr val="tx1"/>
                </a:solidFill>
              </a:rPr>
              <a:t>: 10.2.0.1</a:t>
            </a:r>
          </a:p>
          <a:p>
            <a:r>
              <a:rPr lang="en-US" b="1" dirty="0">
                <a:solidFill>
                  <a:schemeClr val="tx1"/>
                </a:solidFill>
              </a:rPr>
              <a:t>Mask</a:t>
            </a:r>
            <a:r>
              <a:rPr lang="en-US" dirty="0">
                <a:solidFill>
                  <a:schemeClr val="tx1"/>
                </a:solidFill>
              </a:rPr>
              <a:t>: 255.255.255.0</a:t>
            </a:r>
          </a:p>
          <a:p>
            <a:r>
              <a:rPr lang="en-US" b="1" dirty="0">
                <a:solidFill>
                  <a:schemeClr val="tx1"/>
                </a:solidFill>
              </a:rPr>
              <a:t>MAC3</a:t>
            </a:r>
            <a:r>
              <a:rPr lang="en-US" dirty="0">
                <a:solidFill>
                  <a:schemeClr val="tx1"/>
                </a:solidFill>
              </a:rPr>
              <a:t>: 0C:60:EF:11:22:60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6" name="Speech Bubble: Rectangle 35">
            <a:extLst>
              <a:ext uri="{FF2B5EF4-FFF2-40B4-BE49-F238E27FC236}">
                <a16:creationId xmlns:a16="http://schemas.microsoft.com/office/drawing/2014/main" id="{48EE320A-AC9B-DFD8-64D0-30488D6992D4}"/>
              </a:ext>
            </a:extLst>
          </p:cNvPr>
          <p:cNvSpPr/>
          <p:nvPr/>
        </p:nvSpPr>
        <p:spPr>
          <a:xfrm>
            <a:off x="2957272" y="3138614"/>
            <a:ext cx="2857500" cy="867987"/>
          </a:xfrm>
          <a:prstGeom prst="wedgeRectCallout">
            <a:avLst>
              <a:gd name="adj1" fmla="val 49389"/>
              <a:gd name="adj2" fmla="val 13550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IP</a:t>
            </a:r>
            <a:r>
              <a:rPr lang="en-US" dirty="0">
                <a:solidFill>
                  <a:schemeClr val="tx1"/>
                </a:solidFill>
              </a:rPr>
              <a:t>: 10.1.0.1</a:t>
            </a:r>
          </a:p>
          <a:p>
            <a:r>
              <a:rPr lang="en-US" b="1" dirty="0">
                <a:solidFill>
                  <a:schemeClr val="tx1"/>
                </a:solidFill>
              </a:rPr>
              <a:t>Mask</a:t>
            </a:r>
            <a:r>
              <a:rPr lang="en-US" dirty="0">
                <a:solidFill>
                  <a:schemeClr val="tx1"/>
                </a:solidFill>
              </a:rPr>
              <a:t>: 255.255.255.0</a:t>
            </a:r>
          </a:p>
          <a:p>
            <a:r>
              <a:rPr lang="en-US" b="1" dirty="0">
                <a:solidFill>
                  <a:schemeClr val="tx1"/>
                </a:solidFill>
              </a:rPr>
              <a:t>MAC2</a:t>
            </a:r>
            <a:r>
              <a:rPr lang="en-US" dirty="0">
                <a:solidFill>
                  <a:schemeClr val="tx1"/>
                </a:solidFill>
              </a:rPr>
              <a:t>: 0C:60:EF:11:22:34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2149BFB4-5E46-0C64-BD2D-0787DDBAC4A7}"/>
              </a:ext>
            </a:extLst>
          </p:cNvPr>
          <p:cNvSpPr/>
          <p:nvPr/>
        </p:nvSpPr>
        <p:spPr>
          <a:xfrm>
            <a:off x="9156355" y="5522000"/>
            <a:ext cx="2857500" cy="807072"/>
          </a:xfrm>
          <a:prstGeom prst="wedgeRectCallout">
            <a:avLst>
              <a:gd name="adj1" fmla="val 7167"/>
              <a:gd name="adj2" fmla="val -1205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IP</a:t>
            </a:r>
            <a:r>
              <a:rPr lang="en-US" dirty="0">
                <a:solidFill>
                  <a:schemeClr val="tx1"/>
                </a:solidFill>
              </a:rPr>
              <a:t>: 10.2.0.10</a:t>
            </a:r>
          </a:p>
          <a:p>
            <a:r>
              <a:rPr lang="en-US" b="1" dirty="0">
                <a:solidFill>
                  <a:schemeClr val="tx1"/>
                </a:solidFill>
              </a:rPr>
              <a:t>Mask</a:t>
            </a:r>
            <a:r>
              <a:rPr lang="en-US" dirty="0">
                <a:solidFill>
                  <a:schemeClr val="tx1"/>
                </a:solidFill>
              </a:rPr>
              <a:t>: 255.255.255.0</a:t>
            </a:r>
          </a:p>
          <a:p>
            <a:r>
              <a:rPr lang="en-US" b="1" dirty="0">
                <a:solidFill>
                  <a:schemeClr val="tx1"/>
                </a:solidFill>
              </a:rPr>
              <a:t>MAC4</a:t>
            </a:r>
            <a:r>
              <a:rPr lang="en-US" dirty="0">
                <a:solidFill>
                  <a:schemeClr val="tx1"/>
                </a:solidFill>
              </a:rPr>
              <a:t>: 12:CE:13:AC:11:15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A123C66-021A-49F3-37DF-8298FE117899}"/>
              </a:ext>
            </a:extLst>
          </p:cNvPr>
          <p:cNvCxnSpPr>
            <a:cxnSpLocks/>
            <a:stCxn id="14" idx="3"/>
            <a:endCxn id="25" idx="1"/>
          </p:cNvCxnSpPr>
          <p:nvPr/>
        </p:nvCxnSpPr>
        <p:spPr>
          <a:xfrm flipV="1">
            <a:off x="2194270" y="4724832"/>
            <a:ext cx="8390835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6750BD2C-856E-3A0D-41DE-DA5A00D9314A}"/>
              </a:ext>
            </a:extLst>
          </p:cNvPr>
          <p:cNvSpPr/>
          <p:nvPr/>
        </p:nvSpPr>
        <p:spPr>
          <a:xfrm>
            <a:off x="63500" y="5522000"/>
            <a:ext cx="2857500" cy="807074"/>
          </a:xfrm>
          <a:prstGeom prst="wedgeRectCallout">
            <a:avLst>
              <a:gd name="adj1" fmla="val 7167"/>
              <a:gd name="adj2" fmla="val -1205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IP</a:t>
            </a:r>
            <a:r>
              <a:rPr lang="en-US" dirty="0">
                <a:solidFill>
                  <a:schemeClr val="tx1"/>
                </a:solidFill>
              </a:rPr>
              <a:t>: 10.1.0.10</a:t>
            </a:r>
          </a:p>
          <a:p>
            <a:r>
              <a:rPr lang="en-US" b="1" dirty="0">
                <a:solidFill>
                  <a:schemeClr val="tx1"/>
                </a:solidFill>
              </a:rPr>
              <a:t>Mask</a:t>
            </a:r>
            <a:r>
              <a:rPr lang="en-US" dirty="0">
                <a:solidFill>
                  <a:schemeClr val="tx1"/>
                </a:solidFill>
              </a:rPr>
              <a:t>: 255.255.255.0</a:t>
            </a:r>
          </a:p>
          <a:p>
            <a:r>
              <a:rPr lang="en-US" b="1" dirty="0">
                <a:solidFill>
                  <a:schemeClr val="tx1"/>
                </a:solidFill>
              </a:rPr>
              <a:t>MAC1</a:t>
            </a:r>
            <a:r>
              <a:rPr lang="en-US" dirty="0">
                <a:solidFill>
                  <a:schemeClr val="tx1"/>
                </a:solidFill>
              </a:rPr>
              <a:t>: 12:CE:13:AB:EF:12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4885B7E-5DC3-8C24-D85F-170E98ED9596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5D404DB-ED44-6578-60C0-FDB356B5EC06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Инкапсуляция пакета сетевого уровня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233F48-02A2-BF89-9DA3-EACB83DD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33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852926CE-D246-1E7D-6B06-98DF8D59A7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0" name="Picture 10" descr="C:\Users\ecoffey\AppData\Local\Temp\Rar$DRa0.386\30067_Device_router_default_256.png">
            <a:extLst>
              <a:ext uri="{FF2B5EF4-FFF2-40B4-BE49-F238E27FC236}">
                <a16:creationId xmlns:a16="http://schemas.microsoft.com/office/drawing/2014/main" id="{7BFDDD8F-4004-1744-DCD1-CFB851C255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1" t="28931" r="8368" b="21666"/>
          <a:stretch/>
        </p:blipFill>
        <p:spPr bwMode="auto">
          <a:xfrm>
            <a:off x="5463136" y="4405185"/>
            <a:ext cx="1080000" cy="639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F6B9E0-4B5F-CB62-7B91-00E7ADC7FE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295" y="4310495"/>
            <a:ext cx="942975" cy="8286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AAC4329-FBD6-03AE-9F36-BF78FF70A1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5105" y="4258107"/>
            <a:ext cx="609600" cy="9334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788D818-CDE7-E5FF-1592-CD28B3F5FE0E}"/>
              </a:ext>
            </a:extLst>
          </p:cNvPr>
          <p:cNvSpPr/>
          <p:nvPr/>
        </p:nvSpPr>
        <p:spPr>
          <a:xfrm>
            <a:off x="3235670" y="1971519"/>
            <a:ext cx="1092200" cy="380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10.1.0.10</a:t>
            </a:r>
            <a:endParaRPr lang="ru-R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D8E641-EFEB-7A2D-9616-D0D110B3897C}"/>
              </a:ext>
            </a:extLst>
          </p:cNvPr>
          <p:cNvSpPr/>
          <p:nvPr/>
        </p:nvSpPr>
        <p:spPr>
          <a:xfrm>
            <a:off x="4429470" y="1971518"/>
            <a:ext cx="1092200" cy="380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10.2.0.10</a:t>
            </a:r>
            <a:endParaRPr lang="ru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6E6BE8-2170-36AF-12C3-F813C189CB70}"/>
              </a:ext>
            </a:extLst>
          </p:cNvPr>
          <p:cNvSpPr/>
          <p:nvPr/>
        </p:nvSpPr>
        <p:spPr>
          <a:xfrm>
            <a:off x="5623270" y="1971517"/>
            <a:ext cx="1092200" cy="380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  <a:endParaRPr lang="ru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7ECE44-526F-D9AA-CAE5-0ED3FA5C14B8}"/>
              </a:ext>
            </a:extLst>
          </p:cNvPr>
          <p:cNvSpPr/>
          <p:nvPr/>
        </p:nvSpPr>
        <p:spPr>
          <a:xfrm>
            <a:off x="3045170" y="1618971"/>
            <a:ext cx="3822700" cy="8859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IP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79A7A5-F7BC-AADE-D96B-2C07AE1B734F}"/>
              </a:ext>
            </a:extLst>
          </p:cNvPr>
          <p:cNvSpPr/>
          <p:nvPr/>
        </p:nvSpPr>
        <p:spPr>
          <a:xfrm>
            <a:off x="603100" y="1246940"/>
            <a:ext cx="6440742" cy="13791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Ethernet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A61902-C6B4-305B-9E8F-77133D7688B8}"/>
              </a:ext>
            </a:extLst>
          </p:cNvPr>
          <p:cNvSpPr/>
          <p:nvPr/>
        </p:nvSpPr>
        <p:spPr>
          <a:xfrm>
            <a:off x="689320" y="1618971"/>
            <a:ext cx="1092200" cy="885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MAC2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17C01F-6053-CE5A-AC63-A97B23605DE5}"/>
              </a:ext>
            </a:extLst>
          </p:cNvPr>
          <p:cNvSpPr/>
          <p:nvPr/>
        </p:nvSpPr>
        <p:spPr>
          <a:xfrm>
            <a:off x="1864070" y="1618972"/>
            <a:ext cx="1092200" cy="885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39784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944A3-5F4B-B3CC-9E2B-F6DEDF3BA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B992B7E-F31F-C625-F3E5-C654D6288922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A4C6699-D6D8-3F9D-6CAD-0EB4832ABD9B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Дополнительные проблемы анализа трафика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EA4430-F096-E151-0F76-6E4DB7E5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34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3CEE1180-489D-3B03-83BE-6725EBF39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A7FCDB9-BE27-B4B9-3F8C-F4E43631A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591177"/>
              </p:ext>
            </p:extLst>
          </p:nvPr>
        </p:nvGraphicFramePr>
        <p:xfrm>
          <a:off x="221773" y="2100791"/>
          <a:ext cx="11855927" cy="3574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1027">
                  <a:extLst>
                    <a:ext uri="{9D8B030D-6E8A-4147-A177-3AD203B41FA5}">
                      <a16:colId xmlns:a16="http://schemas.microsoft.com/office/drawing/2014/main" val="1713221256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548518923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273883037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357479824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4277822222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3162915090"/>
                    </a:ext>
                  </a:extLst>
                </a:gridCol>
              </a:tblGrid>
              <a:tr h="505106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Идентификация источника</a:t>
                      </a:r>
                      <a:r>
                        <a:rPr lang="en-US" dirty="0"/>
                        <a:t>/</a:t>
                      </a:r>
                      <a:r>
                        <a:rPr lang="ru-RU" dirty="0"/>
                        <a:t>назначения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Причинно-следственные связи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Агрегация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Статичность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Шифрование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7188"/>
                  </a:ext>
                </a:extLst>
              </a:tr>
              <a:tr h="505106">
                <a:tc>
                  <a:txBody>
                    <a:bodyPr/>
                    <a:lstStyle/>
                    <a:p>
                      <a:r>
                        <a:rPr lang="en-US" b="1" dirty="0"/>
                        <a:t>NAT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939569"/>
                  </a:ext>
                </a:extLst>
              </a:tr>
              <a:tr h="505106">
                <a:tc>
                  <a:txBody>
                    <a:bodyPr/>
                    <a:lstStyle/>
                    <a:p>
                      <a:r>
                        <a:rPr lang="en-US" b="1" dirty="0"/>
                        <a:t>DHCP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9890439"/>
                  </a:ext>
                </a:extLst>
              </a:tr>
              <a:tr h="505106">
                <a:tc>
                  <a:txBody>
                    <a:bodyPr/>
                    <a:lstStyle/>
                    <a:p>
                      <a:r>
                        <a:rPr lang="ru-RU" b="1" dirty="0" err="1"/>
                        <a:t>Балансировщик</a:t>
                      </a:r>
                      <a:r>
                        <a:rPr lang="ru-RU" b="1" dirty="0"/>
                        <a:t> нагрузки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7966640"/>
                  </a:ext>
                </a:extLst>
              </a:tr>
              <a:tr h="505106">
                <a:tc>
                  <a:txBody>
                    <a:bodyPr/>
                    <a:lstStyle/>
                    <a:p>
                      <a:r>
                        <a:rPr lang="ru-RU" b="1" dirty="0"/>
                        <a:t>Прокси-сервер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 (</a:t>
                      </a:r>
                      <a:r>
                        <a:rPr lang="ru-RU" dirty="0"/>
                        <a:t>не всегда)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4695906"/>
                  </a:ext>
                </a:extLst>
              </a:tr>
              <a:tr h="505106">
                <a:tc>
                  <a:txBody>
                    <a:bodyPr/>
                    <a:lstStyle/>
                    <a:p>
                      <a:r>
                        <a:rPr lang="en-US" b="1" dirty="0"/>
                        <a:t>VPN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1213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5552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3CCB3-1991-B388-AA8F-425B460BE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990CB33-9DBD-A1DB-A62C-FC7866A0C825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71B37961-58A2-45D7-89D9-28F4AAE0C412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Инструменты для захвата и записи трафика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8EB469-A503-5477-9A92-8E9E7E9D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35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B101B7C4-C2C5-D9AF-8D07-5BA79A50E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BFDEFD-F9B8-E1C0-E142-E26242AB46E5}"/>
              </a:ext>
            </a:extLst>
          </p:cNvPr>
          <p:cNvSpPr txBox="1"/>
          <p:nvPr/>
        </p:nvSpPr>
        <p:spPr>
          <a:xfrm>
            <a:off x="747093" y="938042"/>
            <a:ext cx="813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ea typeface="Tahoma" panose="020B0604030504040204" pitchFamily="34" charset="0"/>
                <a:cs typeface="Tahoma" panose="020B0604030504040204" pitchFamily="34" charset="0"/>
              </a:rPr>
              <a:t>tcpdump</a:t>
            </a:r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ru-RU" dirty="0">
                <a:ea typeface="Tahoma" panose="020B0604030504040204" pitchFamily="34" charset="0"/>
                <a:cs typeface="Tahoma" panose="020B0604030504040204" pitchFamily="34" charset="0"/>
              </a:rPr>
              <a:t>захват и сохранение трафика </a:t>
            </a:r>
          </a:p>
        </p:txBody>
      </p:sp>
      <p:pic>
        <p:nvPicPr>
          <p:cNvPr id="5" name="Рисунок 2">
            <a:extLst>
              <a:ext uri="{FF2B5EF4-FFF2-40B4-BE49-F238E27FC236}">
                <a16:creationId xmlns:a16="http://schemas.microsoft.com/office/drawing/2014/main" id="{8ACDBF2A-19DF-72AA-E405-A16EABAD4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85" y="1309593"/>
            <a:ext cx="6953250" cy="1143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7187C7-40CD-111F-5583-95ADF73377F1}"/>
              </a:ext>
            </a:extLst>
          </p:cNvPr>
          <p:cNvSpPr txBox="1"/>
          <p:nvPr/>
        </p:nvSpPr>
        <p:spPr>
          <a:xfrm>
            <a:off x="747092" y="2537502"/>
            <a:ext cx="109004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ea typeface="Tahoma" panose="020B0604030504040204" pitchFamily="34" charset="0"/>
                <a:cs typeface="Tahoma" panose="020B0604030504040204" pitchFamily="34" charset="0"/>
              </a:rPr>
              <a:t>tcpdump</a:t>
            </a:r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 –p </a:t>
            </a:r>
            <a:r>
              <a:rPr lang="ru-RU" dirty="0">
                <a:ea typeface="Tahoma" panose="020B0604030504040204" pitchFamily="34" charset="0"/>
                <a:cs typeface="Tahoma" panose="020B0604030504040204" pitchFamily="34" charset="0"/>
              </a:rPr>
              <a:t>–</a:t>
            </a:r>
            <a:r>
              <a:rPr lang="en-US" dirty="0" err="1"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 &lt;</a:t>
            </a:r>
            <a:r>
              <a:rPr lang="ru-RU" dirty="0">
                <a:ea typeface="Tahoma" panose="020B0604030504040204" pitchFamily="34" charset="0"/>
                <a:cs typeface="Tahoma" panose="020B0604030504040204" pitchFamily="34" charset="0"/>
              </a:rPr>
              <a:t>интерфейс</a:t>
            </a:r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&gt;</a:t>
            </a:r>
            <a:r>
              <a:rPr lang="ru-RU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-s &lt;</a:t>
            </a:r>
            <a:r>
              <a:rPr lang="ru-RU" dirty="0">
                <a:ea typeface="Tahoma" panose="020B0604030504040204" pitchFamily="34" charset="0"/>
                <a:cs typeface="Tahoma" panose="020B0604030504040204" pitchFamily="34" charset="0"/>
              </a:rPr>
              <a:t>длина пакета, 0 - целиком</a:t>
            </a:r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&gt;</a:t>
            </a:r>
            <a:r>
              <a:rPr lang="ru-RU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-w &lt;</a:t>
            </a:r>
            <a:r>
              <a:rPr lang="ru-RU" dirty="0">
                <a:ea typeface="Tahoma" panose="020B0604030504040204" pitchFamily="34" charset="0"/>
                <a:cs typeface="Tahoma" panose="020B0604030504040204" pitchFamily="34" charset="0"/>
              </a:rPr>
              <a:t>имя </a:t>
            </a:r>
            <a:r>
              <a:rPr lang="en-US" dirty="0" err="1">
                <a:ea typeface="Tahoma" panose="020B0604030504040204" pitchFamily="34" charset="0"/>
                <a:cs typeface="Tahoma" panose="020B0604030504040204" pitchFamily="34" charset="0"/>
              </a:rPr>
              <a:t>pcap</a:t>
            </a:r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>
                <a:ea typeface="Tahoma" panose="020B0604030504040204" pitchFamily="34" charset="0"/>
                <a:cs typeface="Tahoma" panose="020B0604030504040204" pitchFamily="34" charset="0"/>
              </a:rPr>
              <a:t>файла</a:t>
            </a:r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&gt;</a:t>
            </a:r>
            <a:r>
              <a:rPr lang="ru-RU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&lt;</a:t>
            </a:r>
            <a:r>
              <a:rPr lang="en-US" dirty="0" err="1">
                <a:ea typeface="Tahoma" panose="020B0604030504040204" pitchFamily="34" charset="0"/>
                <a:cs typeface="Tahoma" panose="020B0604030504040204" pitchFamily="34" charset="0"/>
              </a:rPr>
              <a:t>pcap</a:t>
            </a:r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>
                <a:ea typeface="Tahoma" panose="020B0604030504040204" pitchFamily="34" charset="0"/>
                <a:cs typeface="Tahoma" panose="020B0604030504040204" pitchFamily="34" charset="0"/>
              </a:rPr>
              <a:t>фильтр</a:t>
            </a:r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&gt;</a:t>
            </a:r>
          </a:p>
          <a:p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-p – </a:t>
            </a:r>
            <a:r>
              <a:rPr lang="ru-RU" dirty="0">
                <a:ea typeface="Tahoma" panose="020B0604030504040204" pitchFamily="34" charset="0"/>
                <a:cs typeface="Tahoma" panose="020B0604030504040204" pitchFamily="34" charset="0"/>
              </a:rPr>
              <a:t>перевод интерфейса в </a:t>
            </a:r>
            <a:r>
              <a:rPr lang="en-US" dirty="0" err="1">
                <a:ea typeface="Tahoma" panose="020B0604030504040204" pitchFamily="34" charset="0"/>
                <a:cs typeface="Tahoma" panose="020B0604030504040204" pitchFamily="34" charset="0"/>
              </a:rPr>
              <a:t>promisc</a:t>
            </a:r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>
                <a:ea typeface="Tahoma" panose="020B0604030504040204" pitchFamily="34" charset="0"/>
                <a:cs typeface="Tahoma" panose="020B0604030504040204" pitchFamily="34" charset="0"/>
              </a:rPr>
              <a:t>режим</a:t>
            </a:r>
          </a:p>
          <a:p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dirty="0" err="1"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>
                <a:ea typeface="Tahoma" panose="020B0604030504040204" pitchFamily="34" charset="0"/>
                <a:cs typeface="Tahoma" panose="020B0604030504040204" pitchFamily="34" charset="0"/>
              </a:rPr>
              <a:t>– интерфейс для захвата трафика</a:t>
            </a:r>
            <a:endParaRPr lang="en-US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dirty="0"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s –</a:t>
            </a:r>
            <a:r>
              <a:rPr lang="ru-RU" dirty="0">
                <a:ea typeface="Tahoma" panose="020B0604030504040204" pitchFamily="34" charset="0"/>
                <a:cs typeface="Tahoma" panose="020B0604030504040204" pitchFamily="34" charset="0"/>
              </a:rPr>
              <a:t> сколько первых байт пакета сохранять</a:t>
            </a:r>
          </a:p>
          <a:p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-w </a:t>
            </a:r>
            <a:r>
              <a:rPr lang="ru-RU" dirty="0">
                <a:ea typeface="Tahoma" panose="020B0604030504040204" pitchFamily="34" charset="0"/>
                <a:cs typeface="Tahoma" panose="020B0604030504040204" pitchFamily="34" charset="0"/>
              </a:rPr>
              <a:t>– сохранять результаты захвата в файл формата </a:t>
            </a:r>
            <a:r>
              <a:rPr lang="en-US" dirty="0" err="1">
                <a:ea typeface="Tahoma" panose="020B0604030504040204" pitchFamily="34" charset="0"/>
                <a:cs typeface="Tahoma" panose="020B0604030504040204" pitchFamily="34" charset="0"/>
              </a:rPr>
              <a:t>pcap</a:t>
            </a:r>
            <a:endParaRPr lang="en-US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0316932-6E24-24AC-009B-80D459400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827916"/>
              </p:ext>
            </p:extLst>
          </p:nvPr>
        </p:nvGraphicFramePr>
        <p:xfrm>
          <a:off x="826085" y="4310364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5219644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16161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Протокол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Длина заголовка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213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Ethernet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14-18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74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IPv4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(</a:t>
                      </a:r>
                      <a:r>
                        <a:rPr lang="ru-RU" dirty="0"/>
                        <a:t>если нет опций)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833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UDP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028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TCP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(</a:t>
                      </a:r>
                      <a:r>
                        <a:rPr lang="ru-RU" dirty="0"/>
                        <a:t>если нет опций)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164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3060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3DC86-DE5F-E298-6841-08A3FA0AC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168D9B5-63D2-685E-7B08-CF854023CF0C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A1F5FCBC-7906-B689-7738-00B59B1A944D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rgbClr val="FF0000"/>
                </a:solidFill>
              </a:rPr>
              <a:t>pcap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ru-RU" sz="2800" b="1" dirty="0">
                <a:solidFill>
                  <a:srgbClr val="FF0000"/>
                </a:solidFill>
              </a:rPr>
              <a:t>фильтры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8F8B03-C39B-DBD4-30D8-1C171ACE0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36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C7C70605-B6A4-09AF-2ACE-8C7CE4EA3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14A593-A08A-10E6-F58A-BE761C91FD84}"/>
              </a:ext>
            </a:extLst>
          </p:cNvPr>
          <p:cNvSpPr txBox="1"/>
          <p:nvPr/>
        </p:nvSpPr>
        <p:spPr>
          <a:xfrm>
            <a:off x="349541" y="1055090"/>
            <a:ext cx="114929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Общая структура элементарного фильтра (примитива)</a:t>
            </a:r>
            <a:r>
              <a:rPr lang="en-US" dirty="0"/>
              <a:t>:</a:t>
            </a:r>
          </a:p>
          <a:p>
            <a:r>
              <a:rPr lang="en-US" i="1" dirty="0"/>
              <a:t>&lt;</a:t>
            </a:r>
            <a:r>
              <a:rPr lang="ru-RU" i="1" dirty="0"/>
              <a:t>квалификатор</a:t>
            </a:r>
            <a:r>
              <a:rPr lang="en-US" i="1" dirty="0"/>
              <a:t>&gt;</a:t>
            </a:r>
            <a:r>
              <a:rPr lang="ru-RU" i="1" dirty="0"/>
              <a:t> </a:t>
            </a:r>
            <a:r>
              <a:rPr lang="en-US" i="1" dirty="0"/>
              <a:t>&lt;</a:t>
            </a:r>
            <a:r>
              <a:rPr lang="ru-RU" i="1" dirty="0"/>
              <a:t>идентификатор</a:t>
            </a:r>
            <a:r>
              <a:rPr lang="en-US" i="1" dirty="0"/>
              <a:t>&gt;</a:t>
            </a:r>
            <a:endParaRPr lang="ru-RU" i="1" dirty="0"/>
          </a:p>
          <a:p>
            <a:endParaRPr lang="ru-RU" dirty="0"/>
          </a:p>
          <a:p>
            <a:r>
              <a:rPr lang="ru-RU" b="1" dirty="0"/>
              <a:t>Идентификатор</a:t>
            </a:r>
            <a:r>
              <a:rPr lang="ru-RU" dirty="0"/>
              <a:t> – число, строка или константа</a:t>
            </a:r>
            <a:r>
              <a:rPr lang="en-US" dirty="0"/>
              <a:t>,</a:t>
            </a:r>
            <a:r>
              <a:rPr lang="ru-RU" dirty="0"/>
              <a:t> тип определяется квалификатором (примеры</a:t>
            </a:r>
            <a:r>
              <a:rPr lang="en-US" dirty="0"/>
              <a:t>: 10.40.13.1, 556, ftp-data, example.com)</a:t>
            </a:r>
            <a:endParaRPr lang="ru-RU" dirty="0"/>
          </a:p>
          <a:p>
            <a:endParaRPr lang="en-US" dirty="0"/>
          </a:p>
          <a:p>
            <a:r>
              <a:rPr lang="ru-RU" b="1" dirty="0"/>
              <a:t>Квалификатор</a:t>
            </a:r>
            <a:r>
              <a:rPr lang="ru-RU" dirty="0"/>
              <a:t> – строка, состоящая их трех частей</a:t>
            </a:r>
            <a:r>
              <a:rPr lang="en-US" dirty="0"/>
              <a:t>: </a:t>
            </a:r>
          </a:p>
          <a:p>
            <a:r>
              <a:rPr lang="en-US" i="1" dirty="0"/>
              <a:t>[</a:t>
            </a:r>
            <a:r>
              <a:rPr lang="ru-RU" i="1" dirty="0"/>
              <a:t>протокол</a:t>
            </a:r>
            <a:r>
              <a:rPr lang="en-US" i="1" dirty="0"/>
              <a:t>]</a:t>
            </a:r>
            <a:r>
              <a:rPr lang="ru-RU" i="1" dirty="0"/>
              <a:t> </a:t>
            </a:r>
            <a:r>
              <a:rPr lang="en-US" i="1" dirty="0"/>
              <a:t>[</a:t>
            </a:r>
            <a:r>
              <a:rPr lang="ru-RU" i="1" dirty="0"/>
              <a:t>направление</a:t>
            </a:r>
            <a:r>
              <a:rPr lang="en-US" i="1" dirty="0"/>
              <a:t>]</a:t>
            </a:r>
            <a:r>
              <a:rPr lang="ru-RU" i="1" dirty="0"/>
              <a:t> </a:t>
            </a:r>
            <a:r>
              <a:rPr lang="en-US" i="1" dirty="0"/>
              <a:t>[</a:t>
            </a:r>
            <a:r>
              <a:rPr lang="ru-RU" i="1" dirty="0"/>
              <a:t>тип</a:t>
            </a:r>
            <a:r>
              <a:rPr lang="en-US" i="1" dirty="0"/>
              <a:t>]</a:t>
            </a:r>
          </a:p>
          <a:p>
            <a:endParaRPr lang="en-US" dirty="0"/>
          </a:p>
          <a:p>
            <a:r>
              <a:rPr lang="ru-RU" dirty="0"/>
              <a:t>Протокол – указание на анализируемый заголовок</a:t>
            </a:r>
            <a:r>
              <a:rPr lang="en-US" dirty="0"/>
              <a:t>: </a:t>
            </a:r>
            <a:r>
              <a:rPr lang="en-US" b="1" dirty="0"/>
              <a:t>ether</a:t>
            </a:r>
            <a:r>
              <a:rPr lang="en-US" dirty="0"/>
              <a:t>, </a:t>
            </a:r>
            <a:r>
              <a:rPr lang="en-US" b="1" dirty="0" err="1"/>
              <a:t>arp</a:t>
            </a:r>
            <a:r>
              <a:rPr lang="en-US" dirty="0"/>
              <a:t>, </a:t>
            </a:r>
            <a:r>
              <a:rPr lang="en-US" b="1" dirty="0" err="1"/>
              <a:t>ip</a:t>
            </a:r>
            <a:r>
              <a:rPr lang="en-US" dirty="0"/>
              <a:t>, </a:t>
            </a:r>
            <a:r>
              <a:rPr lang="en-US" b="1" dirty="0" err="1"/>
              <a:t>icmp</a:t>
            </a:r>
            <a:r>
              <a:rPr lang="en-US" dirty="0"/>
              <a:t>, </a:t>
            </a:r>
            <a:r>
              <a:rPr lang="en-US" b="1" dirty="0" err="1"/>
              <a:t>tcp</a:t>
            </a:r>
            <a:r>
              <a:rPr lang="en-US" dirty="0"/>
              <a:t>, </a:t>
            </a:r>
            <a:r>
              <a:rPr lang="en-US" b="1" dirty="0" err="1"/>
              <a:t>udp</a:t>
            </a:r>
            <a:r>
              <a:rPr lang="en-US" b="1" dirty="0"/>
              <a:t> </a:t>
            </a:r>
            <a:r>
              <a:rPr lang="ru-RU" dirty="0"/>
              <a:t>и пр.</a:t>
            </a:r>
          </a:p>
          <a:p>
            <a:r>
              <a:rPr lang="ru-RU" dirty="0"/>
              <a:t>Направление – </a:t>
            </a:r>
            <a:r>
              <a:rPr lang="en-US" b="1" dirty="0" err="1"/>
              <a:t>src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b="1" dirty="0" err="1"/>
              <a:t>dst</a:t>
            </a:r>
            <a:r>
              <a:rPr lang="en-US" dirty="0"/>
              <a:t> </a:t>
            </a:r>
          </a:p>
          <a:p>
            <a:r>
              <a:rPr lang="ru-RU" dirty="0"/>
              <a:t>Тип – анализируемое поле + способ анализа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/>
              <a:t>host </a:t>
            </a:r>
            <a:r>
              <a:rPr lang="en-US" dirty="0"/>
              <a:t>(</a:t>
            </a:r>
            <a:r>
              <a:rPr lang="ru-RU" dirty="0"/>
              <a:t>адрес</a:t>
            </a:r>
            <a:r>
              <a:rPr lang="en-US" dirty="0"/>
              <a:t> </a:t>
            </a:r>
            <a:r>
              <a:rPr lang="ru-RU" dirty="0"/>
              <a:t>или имя), </a:t>
            </a:r>
            <a:r>
              <a:rPr lang="en-US" b="1" dirty="0"/>
              <a:t>net</a:t>
            </a:r>
            <a:r>
              <a:rPr lang="en-US" dirty="0"/>
              <a:t> (</a:t>
            </a:r>
            <a:r>
              <a:rPr lang="ru-RU" dirty="0"/>
              <a:t>принадлежность адреса номеру сети) </a:t>
            </a:r>
            <a:r>
              <a:rPr lang="en-US" b="1" dirty="0"/>
              <a:t>port </a:t>
            </a:r>
            <a:r>
              <a:rPr lang="en-US" dirty="0"/>
              <a:t>(</a:t>
            </a:r>
            <a:r>
              <a:rPr lang="ru-RU" dirty="0"/>
              <a:t>номер порта), </a:t>
            </a:r>
            <a:r>
              <a:rPr lang="en-US" b="1" dirty="0" err="1"/>
              <a:t>portrange</a:t>
            </a:r>
            <a:r>
              <a:rPr lang="en-US" dirty="0"/>
              <a:t> (</a:t>
            </a:r>
            <a:r>
              <a:rPr lang="ru-RU" dirty="0"/>
              <a:t>принадлежность номера порта диапазону)</a:t>
            </a:r>
          </a:p>
        </p:txBody>
      </p:sp>
      <p:sp>
        <p:nvSpPr>
          <p:cNvPr id="10" name="Прямоугольник 6">
            <a:extLst>
              <a:ext uri="{FF2B5EF4-FFF2-40B4-BE49-F238E27FC236}">
                <a16:creationId xmlns:a16="http://schemas.microsoft.com/office/drawing/2014/main" id="{E0737A65-170B-6BD4-86FB-9DED7F806051}"/>
              </a:ext>
            </a:extLst>
          </p:cNvPr>
          <p:cNvSpPr/>
          <p:nvPr/>
        </p:nvSpPr>
        <p:spPr>
          <a:xfrm>
            <a:off x="3188865" y="5717185"/>
            <a:ext cx="5603846" cy="8724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 стрелкой 8">
            <a:extLst>
              <a:ext uri="{FF2B5EF4-FFF2-40B4-BE49-F238E27FC236}">
                <a16:creationId xmlns:a16="http://schemas.microsoft.com/office/drawing/2014/main" id="{EF6B9C78-6B0F-C698-FE90-B57A57594466}"/>
              </a:ext>
            </a:extLst>
          </p:cNvPr>
          <p:cNvCxnSpPr>
            <a:cxnSpLocks/>
          </p:cNvCxnSpPr>
          <p:nvPr/>
        </p:nvCxnSpPr>
        <p:spPr>
          <a:xfrm rot="10800000" flipV="1">
            <a:off x="4505937" y="5117382"/>
            <a:ext cx="0" cy="601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7E3C96-14A4-7B2D-473E-59B2A7E92AB1}"/>
              </a:ext>
            </a:extLst>
          </p:cNvPr>
          <p:cNvSpPr txBox="1"/>
          <p:nvPr/>
        </p:nvSpPr>
        <p:spPr>
          <a:xfrm>
            <a:off x="896736" y="4978880"/>
            <a:ext cx="361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Протокол</a:t>
            </a:r>
            <a:r>
              <a:rPr lang="ru-RU" dirty="0"/>
              <a:t> – точка отсчета в пакете</a:t>
            </a:r>
          </a:p>
        </p:txBody>
      </p:sp>
      <p:sp>
        <p:nvSpPr>
          <p:cNvPr id="14" name="Прямоугольник 10">
            <a:extLst>
              <a:ext uri="{FF2B5EF4-FFF2-40B4-BE49-F238E27FC236}">
                <a16:creationId xmlns:a16="http://schemas.microsoft.com/office/drawing/2014/main" id="{1438088F-A813-3BC2-54EE-D931A53D9F24}"/>
              </a:ext>
            </a:extLst>
          </p:cNvPr>
          <p:cNvSpPr/>
          <p:nvPr/>
        </p:nvSpPr>
        <p:spPr>
          <a:xfrm>
            <a:off x="4958942" y="5717185"/>
            <a:ext cx="721445" cy="8724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 стрелкой 11">
            <a:extLst>
              <a:ext uri="{FF2B5EF4-FFF2-40B4-BE49-F238E27FC236}">
                <a16:creationId xmlns:a16="http://schemas.microsoft.com/office/drawing/2014/main" id="{8E7AC3FD-EE17-DFE6-1469-A2B81A8CB87A}"/>
              </a:ext>
            </a:extLst>
          </p:cNvPr>
          <p:cNvCxnSpPr>
            <a:cxnSpLocks/>
          </p:cNvCxnSpPr>
          <p:nvPr/>
        </p:nvCxnSpPr>
        <p:spPr>
          <a:xfrm flipV="1">
            <a:off x="4505937" y="5717185"/>
            <a:ext cx="0" cy="87245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2">
            <a:extLst>
              <a:ext uri="{FF2B5EF4-FFF2-40B4-BE49-F238E27FC236}">
                <a16:creationId xmlns:a16="http://schemas.microsoft.com/office/drawing/2014/main" id="{35B9D53F-F050-932C-2880-50CB88EECCB7}"/>
              </a:ext>
            </a:extLst>
          </p:cNvPr>
          <p:cNvCxnSpPr>
            <a:cxnSpLocks/>
          </p:cNvCxnSpPr>
          <p:nvPr/>
        </p:nvCxnSpPr>
        <p:spPr>
          <a:xfrm>
            <a:off x="5304289" y="5115975"/>
            <a:ext cx="0" cy="6026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3">
            <a:extLst>
              <a:ext uri="{FF2B5EF4-FFF2-40B4-BE49-F238E27FC236}">
                <a16:creationId xmlns:a16="http://schemas.microsoft.com/office/drawing/2014/main" id="{62A92579-FCBF-77EA-BDAB-2B352EA92E9D}"/>
              </a:ext>
            </a:extLst>
          </p:cNvPr>
          <p:cNvCxnSpPr>
            <a:cxnSpLocks/>
          </p:cNvCxnSpPr>
          <p:nvPr/>
        </p:nvCxnSpPr>
        <p:spPr>
          <a:xfrm flipH="1">
            <a:off x="4505937" y="6163492"/>
            <a:ext cx="453005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7D6BF5E-2A34-BD2D-A869-8AFFD16C71B5}"/>
              </a:ext>
            </a:extLst>
          </p:cNvPr>
          <p:cNvSpPr txBox="1"/>
          <p:nvPr/>
        </p:nvSpPr>
        <p:spPr>
          <a:xfrm>
            <a:off x="5313814" y="4956326"/>
            <a:ext cx="4254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Направление</a:t>
            </a:r>
            <a:r>
              <a:rPr lang="ru-RU" dirty="0"/>
              <a:t> + </a:t>
            </a:r>
            <a:r>
              <a:rPr lang="ru-RU" i="1" dirty="0"/>
              <a:t>тип </a:t>
            </a:r>
            <a:r>
              <a:rPr lang="ru-RU" dirty="0"/>
              <a:t>– поле для сравнения и правило сравнения</a:t>
            </a:r>
          </a:p>
        </p:txBody>
      </p:sp>
    </p:spTree>
    <p:extLst>
      <p:ext uri="{BB962C8B-B14F-4D97-AF65-F5344CB8AC3E}">
        <p14:creationId xmlns:p14="http://schemas.microsoft.com/office/powerpoint/2010/main" val="4111805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475D4-7779-0F3E-69F8-554A513D6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670936B-8160-DC27-5A71-2F57B1FEBA74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AEF4074-F7D2-0EE0-9AF0-8065EB88ACBD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Составной </a:t>
            </a:r>
            <a:r>
              <a:rPr lang="en-US" sz="2800" b="1" dirty="0" err="1">
                <a:solidFill>
                  <a:srgbClr val="FF0000"/>
                </a:solidFill>
              </a:rPr>
              <a:t>pcap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ru-RU" sz="2800" b="1" dirty="0">
                <a:solidFill>
                  <a:srgbClr val="FF0000"/>
                </a:solidFill>
              </a:rPr>
              <a:t>фильтр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629A51-8372-7FA5-53A6-5F5A94772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37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0DA3039A-9A6C-AA32-8D5E-A768CEC3D1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3B4282-3606-4CEE-5A96-B592B3828A89}"/>
              </a:ext>
            </a:extLst>
          </p:cNvPr>
          <p:cNvSpPr txBox="1"/>
          <p:nvPr/>
        </p:nvSpPr>
        <p:spPr>
          <a:xfrm>
            <a:off x="349541" y="1736783"/>
            <a:ext cx="114929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Составной фильтр</a:t>
            </a:r>
            <a:r>
              <a:rPr lang="en-US" b="1" dirty="0"/>
              <a:t>:</a:t>
            </a:r>
          </a:p>
          <a:p>
            <a:r>
              <a:rPr lang="en-US" dirty="0"/>
              <a:t>&lt;</a:t>
            </a:r>
            <a:r>
              <a:rPr lang="ru-RU" dirty="0"/>
              <a:t>примитив</a:t>
            </a:r>
            <a:r>
              <a:rPr lang="en-US" dirty="0"/>
              <a:t>&gt;</a:t>
            </a:r>
            <a:r>
              <a:rPr lang="ru-RU" dirty="0"/>
              <a:t> </a:t>
            </a:r>
            <a:r>
              <a:rPr lang="en-US" dirty="0"/>
              <a:t>&lt;</a:t>
            </a:r>
            <a:r>
              <a:rPr lang="ru-RU" dirty="0"/>
              <a:t>операция</a:t>
            </a:r>
            <a:r>
              <a:rPr lang="en-US" dirty="0"/>
              <a:t>&gt;</a:t>
            </a:r>
            <a:r>
              <a:rPr lang="ru-RU" dirty="0"/>
              <a:t> </a:t>
            </a:r>
            <a:r>
              <a:rPr lang="en-US" dirty="0"/>
              <a:t>&lt;</a:t>
            </a:r>
            <a:r>
              <a:rPr lang="ru-RU" dirty="0"/>
              <a:t>составной фильтр</a:t>
            </a:r>
            <a:r>
              <a:rPr lang="en-US" dirty="0"/>
              <a:t>&gt;</a:t>
            </a:r>
            <a:endParaRPr lang="ru-RU" dirty="0"/>
          </a:p>
          <a:p>
            <a:r>
              <a:rPr lang="ru-RU" dirty="0"/>
              <a:t>Операции – логические операции </a:t>
            </a:r>
            <a:r>
              <a:rPr lang="en-US" b="1" dirty="0"/>
              <a:t>and</a:t>
            </a:r>
            <a:r>
              <a:rPr lang="en-US" dirty="0"/>
              <a:t>, </a:t>
            </a:r>
            <a:r>
              <a:rPr lang="en-US" b="1" dirty="0"/>
              <a:t>or</a:t>
            </a:r>
            <a:r>
              <a:rPr lang="en-US" dirty="0"/>
              <a:t>, </a:t>
            </a:r>
            <a:r>
              <a:rPr lang="en-US" b="1" dirty="0"/>
              <a:t>not </a:t>
            </a:r>
            <a:r>
              <a:rPr lang="en-US" dirty="0"/>
              <a:t>(&amp;&amp;, ||, !)</a:t>
            </a:r>
          </a:p>
          <a:p>
            <a:endParaRPr lang="en-US" dirty="0">
              <a:latin typeface="Lucida Console" panose="020B0609040504020204" pitchFamily="49" charset="0"/>
            </a:endParaRPr>
          </a:p>
          <a:p>
            <a:r>
              <a:rPr lang="en-US" dirty="0">
                <a:latin typeface="Lucida Console" panose="020B0609040504020204" pitchFamily="49" charset="0"/>
              </a:rPr>
              <a:t>ether proto \</a:t>
            </a:r>
            <a:r>
              <a:rPr lang="en-US" dirty="0" err="1">
                <a:latin typeface="Lucida Console" panose="020B0609040504020204" pitchFamily="49" charset="0"/>
              </a:rPr>
              <a:t>ip</a:t>
            </a:r>
            <a:r>
              <a:rPr lang="en-US" dirty="0">
                <a:latin typeface="Lucida Console" panose="020B0609040504020204" pitchFamily="49" charset="0"/>
              </a:rPr>
              <a:t> and </a:t>
            </a:r>
            <a:r>
              <a:rPr lang="en-US" dirty="0" err="1">
                <a:latin typeface="Lucida Console" panose="020B0609040504020204" pitchFamily="49" charset="0"/>
              </a:rPr>
              <a:t>ip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src</a:t>
            </a:r>
            <a:r>
              <a:rPr lang="en-US" dirty="0">
                <a:latin typeface="Lucida Console" panose="020B0609040504020204" pitchFamily="49" charset="0"/>
              </a:rPr>
              <a:t> host 72.14.213.147</a:t>
            </a:r>
          </a:p>
          <a:p>
            <a:endParaRPr lang="en-US" dirty="0">
              <a:latin typeface="Lucida Console" panose="020B0609040504020204" pitchFamily="49" charset="0"/>
            </a:endParaRPr>
          </a:p>
          <a:p>
            <a:r>
              <a:rPr lang="ru-RU" dirty="0"/>
              <a:t>Фильтр для примитива </a:t>
            </a:r>
            <a:r>
              <a:rPr lang="en-US" dirty="0"/>
              <a:t>gateway:</a:t>
            </a:r>
            <a:endParaRPr lang="ru-RU" dirty="0"/>
          </a:p>
          <a:p>
            <a:r>
              <a:rPr lang="en-US" dirty="0">
                <a:latin typeface="Lucida Console" panose="020B0609040504020204" pitchFamily="49" charset="0"/>
              </a:rPr>
              <a:t>ether host &lt;MAC&gt; and not host &lt;IP&gt;</a:t>
            </a:r>
          </a:p>
          <a:p>
            <a:endParaRPr lang="en-US" dirty="0">
              <a:latin typeface="Lucida Console" panose="020B0609040504020204" pitchFamily="49" charset="0"/>
            </a:endParaRPr>
          </a:p>
          <a:p>
            <a:r>
              <a:rPr lang="ru-RU" dirty="0"/>
              <a:t>Допустимые сокращения</a:t>
            </a:r>
            <a:r>
              <a:rPr lang="en-US" dirty="0"/>
              <a:t>:</a:t>
            </a:r>
          </a:p>
          <a:p>
            <a:pPr marL="342900" indent="-342900">
              <a:buAutoNum type="arabicPeriod"/>
            </a:pPr>
            <a:r>
              <a:rPr lang="ru-RU" dirty="0"/>
              <a:t>Не указывать направление (по умолчанию связка «или»). Например, </a:t>
            </a:r>
            <a:r>
              <a:rPr lang="en-US" dirty="0" err="1"/>
              <a:t>ip</a:t>
            </a:r>
            <a:r>
              <a:rPr lang="en-US" dirty="0"/>
              <a:t> host 72.14.213.147 </a:t>
            </a:r>
            <a:r>
              <a:rPr lang="ru-RU" dirty="0"/>
              <a:t>эквивалентно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ru-RU" dirty="0"/>
              <a:t> </a:t>
            </a:r>
            <a:r>
              <a:rPr lang="en-US" dirty="0"/>
              <a:t>host 72.14.213.147</a:t>
            </a:r>
            <a:r>
              <a:rPr lang="ru-RU" dirty="0"/>
              <a:t> </a:t>
            </a:r>
            <a:r>
              <a:rPr lang="en-US" dirty="0"/>
              <a:t>or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dst</a:t>
            </a:r>
            <a:r>
              <a:rPr lang="ru-RU" dirty="0"/>
              <a:t> </a:t>
            </a:r>
            <a:r>
              <a:rPr lang="en-US" dirty="0"/>
              <a:t>host 72.14.213.147</a:t>
            </a:r>
          </a:p>
          <a:p>
            <a:pPr marL="342900" indent="-342900">
              <a:buAutoNum type="arabicPeriod"/>
            </a:pPr>
            <a:r>
              <a:rPr lang="ru-RU" dirty="0"/>
              <a:t>Не указывать протокол (будет применяться ко всем протоколам, для которых корректен </a:t>
            </a:r>
            <a:r>
              <a:rPr lang="ru-RU" i="1" dirty="0"/>
              <a:t>тип </a:t>
            </a:r>
            <a:r>
              <a:rPr lang="ru-RU" dirty="0"/>
              <a:t>и </a:t>
            </a:r>
            <a:r>
              <a:rPr lang="ru-RU" i="1" dirty="0"/>
              <a:t>идентификатор</a:t>
            </a:r>
            <a:r>
              <a:rPr lang="en-US" i="1" dirty="0"/>
              <a:t>). </a:t>
            </a:r>
            <a:r>
              <a:rPr lang="ru-RU" dirty="0"/>
              <a:t>Например, </a:t>
            </a:r>
            <a:r>
              <a:rPr lang="en-US" dirty="0" err="1"/>
              <a:t>tcp</a:t>
            </a:r>
            <a:r>
              <a:rPr lang="en-US" dirty="0"/>
              <a:t> </a:t>
            </a:r>
            <a:r>
              <a:rPr lang="en-US" dirty="0" err="1"/>
              <a:t>dst</a:t>
            </a:r>
            <a:r>
              <a:rPr lang="en-US" dirty="0"/>
              <a:t> port 53 or 80 </a:t>
            </a:r>
            <a:r>
              <a:rPr lang="ru-RU" dirty="0"/>
              <a:t>эквивалентно </a:t>
            </a:r>
            <a:r>
              <a:rPr lang="en-US" dirty="0" err="1"/>
              <a:t>tcp</a:t>
            </a:r>
            <a:r>
              <a:rPr lang="en-US" dirty="0"/>
              <a:t> </a:t>
            </a:r>
            <a:r>
              <a:rPr lang="en-US" dirty="0" err="1"/>
              <a:t>dst</a:t>
            </a:r>
            <a:r>
              <a:rPr lang="en-US" dirty="0"/>
              <a:t> port 53 or </a:t>
            </a:r>
            <a:r>
              <a:rPr lang="en-US" dirty="0" err="1"/>
              <a:t>tcp</a:t>
            </a:r>
            <a:r>
              <a:rPr lang="en-US" dirty="0"/>
              <a:t> </a:t>
            </a:r>
            <a:r>
              <a:rPr lang="en-US" dirty="0" err="1"/>
              <a:t>dst</a:t>
            </a:r>
            <a:r>
              <a:rPr lang="en-US" dirty="0"/>
              <a:t> port 80</a:t>
            </a:r>
          </a:p>
        </p:txBody>
      </p:sp>
    </p:spTree>
    <p:extLst>
      <p:ext uri="{BB962C8B-B14F-4D97-AF65-F5344CB8AC3E}">
        <p14:creationId xmlns:p14="http://schemas.microsoft.com/office/powerpoint/2010/main" val="14582715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EDDAA-E2FE-6800-E475-54D3A5E20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A76E25C-E441-2510-F62D-E094CC4465B0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776F2D6F-0DBF-9885-FF1C-8D0C5A7A62A8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Арифметические выражение и адресация данных из пакета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349E34-D1DB-FAE7-C054-37A02CCB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38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B9A4C663-9F83-AD38-0C7A-7CD6CD282A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6B56F8-0A93-C17C-9A22-09A31B6F076A}"/>
              </a:ext>
            </a:extLst>
          </p:cNvPr>
          <p:cNvSpPr txBox="1"/>
          <p:nvPr/>
        </p:nvSpPr>
        <p:spPr>
          <a:xfrm>
            <a:off x="349541" y="1736783"/>
            <a:ext cx="114929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Арифметический фильтр</a:t>
            </a:r>
            <a:r>
              <a:rPr lang="en-US" b="1" dirty="0"/>
              <a:t>:</a:t>
            </a:r>
          </a:p>
          <a:p>
            <a:r>
              <a:rPr lang="en-US" dirty="0"/>
              <a:t>&lt;</a:t>
            </a:r>
            <a:r>
              <a:rPr lang="ru-RU" dirty="0"/>
              <a:t>выражение</a:t>
            </a:r>
            <a:r>
              <a:rPr lang="en-US" dirty="0"/>
              <a:t>&gt;</a:t>
            </a:r>
            <a:r>
              <a:rPr lang="ru-RU" dirty="0"/>
              <a:t> </a:t>
            </a:r>
            <a:r>
              <a:rPr lang="en-US" dirty="0"/>
              <a:t>&lt;</a:t>
            </a:r>
            <a:r>
              <a:rPr lang="ru-RU" dirty="0"/>
              <a:t>отношение</a:t>
            </a:r>
            <a:r>
              <a:rPr lang="en-US" dirty="0"/>
              <a:t>&gt;</a:t>
            </a:r>
            <a:r>
              <a:rPr lang="ru-RU" dirty="0"/>
              <a:t> </a:t>
            </a:r>
            <a:r>
              <a:rPr lang="en-US" dirty="0"/>
              <a:t>&lt;</a:t>
            </a:r>
            <a:r>
              <a:rPr lang="ru-RU" dirty="0"/>
              <a:t>выражение</a:t>
            </a:r>
            <a:r>
              <a:rPr lang="en-US" dirty="0"/>
              <a:t>&gt;</a:t>
            </a:r>
            <a:endParaRPr lang="ru-RU" dirty="0"/>
          </a:p>
          <a:p>
            <a:r>
              <a:rPr lang="ru-RU" b="1" dirty="0"/>
              <a:t>Отношение</a:t>
            </a:r>
            <a:r>
              <a:rPr lang="ru-RU" dirty="0"/>
              <a:t> –</a:t>
            </a:r>
            <a:r>
              <a:rPr lang="en-US" dirty="0"/>
              <a:t> </a:t>
            </a:r>
            <a:r>
              <a:rPr lang="ru-RU" dirty="0"/>
              <a:t>операции сравнения (</a:t>
            </a:r>
            <a:r>
              <a:rPr lang="en-US" dirty="0"/>
              <a:t>&gt;, &lt;, &gt;=, &lt;=, ==, !=)</a:t>
            </a:r>
            <a:endParaRPr lang="ru-RU" dirty="0"/>
          </a:p>
          <a:p>
            <a:endParaRPr lang="en-US" dirty="0">
              <a:latin typeface="Lucida Console" panose="020B0609040504020204" pitchFamily="49" charset="0"/>
            </a:endParaRPr>
          </a:p>
          <a:p>
            <a:r>
              <a:rPr lang="ru-RU" dirty="0"/>
              <a:t>Выражение – арифметическое выражение, состоящее из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операций</a:t>
            </a:r>
            <a:r>
              <a:rPr lang="en-US" dirty="0"/>
              <a:t>: </a:t>
            </a:r>
            <a:r>
              <a:rPr lang="ru-RU" dirty="0"/>
              <a:t>+, -, *, </a:t>
            </a:r>
            <a:r>
              <a:rPr lang="en-US" dirty="0"/>
              <a:t>/, %, &amp;, |, ^, &lt;&lt;, &gt;&gt;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Целых чисел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Ключевого слова </a:t>
            </a:r>
            <a:r>
              <a:rPr lang="en-US" dirty="0" err="1"/>
              <a:t>len</a:t>
            </a:r>
            <a:r>
              <a:rPr lang="en-US" dirty="0"/>
              <a:t> – </a:t>
            </a:r>
            <a:r>
              <a:rPr lang="ru-RU" dirty="0"/>
              <a:t>длина пакета (т.е. </a:t>
            </a:r>
            <a:r>
              <a:rPr lang="en-US" b="1" dirty="0" err="1"/>
              <a:t>len</a:t>
            </a:r>
            <a:r>
              <a:rPr lang="en-US" b="1" dirty="0"/>
              <a:t> &gt; X</a:t>
            </a:r>
            <a:r>
              <a:rPr lang="en-US" dirty="0"/>
              <a:t> </a:t>
            </a:r>
            <a:r>
              <a:rPr lang="ru-RU" dirty="0" err="1"/>
              <a:t>эквивалетно</a:t>
            </a:r>
            <a:r>
              <a:rPr lang="ru-RU" dirty="0"/>
              <a:t> </a:t>
            </a:r>
            <a:r>
              <a:rPr lang="en-US" b="1" dirty="0"/>
              <a:t>greater X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Байт пакета</a:t>
            </a:r>
            <a:endParaRPr lang="en-US" dirty="0"/>
          </a:p>
          <a:p>
            <a:endParaRPr lang="en-US" dirty="0">
              <a:latin typeface="Lucida Console" panose="020B0609040504020204" pitchFamily="49" charset="0"/>
            </a:endParaRPr>
          </a:p>
          <a:p>
            <a:r>
              <a:rPr lang="ru-RU" dirty="0"/>
              <a:t>Адресация байт пакета</a:t>
            </a:r>
            <a:r>
              <a:rPr lang="en-US" dirty="0"/>
              <a:t>:</a:t>
            </a:r>
          </a:p>
          <a:p>
            <a:r>
              <a:rPr lang="en-US" dirty="0">
                <a:latin typeface="Lucida Console" panose="020B0609040504020204" pitchFamily="49" charset="0"/>
              </a:rPr>
              <a:t>&lt;</a:t>
            </a:r>
            <a:r>
              <a:rPr lang="ru-RU" dirty="0">
                <a:latin typeface="Lucida Console" panose="020B0609040504020204" pitchFamily="49" charset="0"/>
              </a:rPr>
              <a:t>протокол</a:t>
            </a:r>
            <a:r>
              <a:rPr lang="en-US" dirty="0">
                <a:latin typeface="Lucida Console" panose="020B0609040504020204" pitchFamily="49" charset="0"/>
              </a:rPr>
              <a:t>&gt;[</a:t>
            </a:r>
            <a:r>
              <a:rPr lang="ru-RU" dirty="0">
                <a:latin typeface="Lucida Console" panose="020B0609040504020204" pitchFamily="49" charset="0"/>
              </a:rPr>
              <a:t>смещение</a:t>
            </a:r>
            <a:r>
              <a:rPr lang="en-US" dirty="0">
                <a:latin typeface="Lucida Console" panose="020B0609040504020204" pitchFamily="49" charset="0"/>
              </a:rPr>
              <a:t>:</a:t>
            </a:r>
            <a:r>
              <a:rPr lang="ru-RU" dirty="0">
                <a:latin typeface="Lucida Console" panose="020B0609040504020204" pitchFamily="49" charset="0"/>
              </a:rPr>
              <a:t>длина</a:t>
            </a:r>
            <a:r>
              <a:rPr lang="en-US" dirty="0">
                <a:latin typeface="Lucida Console" panose="020B0609040504020204" pitchFamily="49" charset="0"/>
              </a:rPr>
              <a:t>]</a:t>
            </a:r>
          </a:p>
        </p:txBody>
      </p:sp>
      <p:sp>
        <p:nvSpPr>
          <p:cNvPr id="7" name="Прямоугольник 3">
            <a:extLst>
              <a:ext uri="{FF2B5EF4-FFF2-40B4-BE49-F238E27FC236}">
                <a16:creationId xmlns:a16="http://schemas.microsoft.com/office/drawing/2014/main" id="{6323DB4E-DB5F-B116-805F-7A5DE823C8B9}"/>
              </a:ext>
            </a:extLst>
          </p:cNvPr>
          <p:cNvSpPr/>
          <p:nvPr/>
        </p:nvSpPr>
        <p:spPr>
          <a:xfrm>
            <a:off x="349541" y="5393150"/>
            <a:ext cx="5603846" cy="8724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4">
            <a:extLst>
              <a:ext uri="{FF2B5EF4-FFF2-40B4-BE49-F238E27FC236}">
                <a16:creationId xmlns:a16="http://schemas.microsoft.com/office/drawing/2014/main" id="{900C37D8-EE48-41B6-596E-A91582D139E3}"/>
              </a:ext>
            </a:extLst>
          </p:cNvPr>
          <p:cNvSpPr/>
          <p:nvPr/>
        </p:nvSpPr>
        <p:spPr>
          <a:xfrm>
            <a:off x="2119618" y="5393150"/>
            <a:ext cx="721445" cy="8724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5">
            <a:extLst>
              <a:ext uri="{FF2B5EF4-FFF2-40B4-BE49-F238E27FC236}">
                <a16:creationId xmlns:a16="http://schemas.microsoft.com/office/drawing/2014/main" id="{50EF351A-69A5-362B-F9D1-73FB7738705B}"/>
              </a:ext>
            </a:extLst>
          </p:cNvPr>
          <p:cNvCxnSpPr>
            <a:cxnSpLocks/>
          </p:cNvCxnSpPr>
          <p:nvPr/>
        </p:nvCxnSpPr>
        <p:spPr>
          <a:xfrm flipV="1">
            <a:off x="1666613" y="5393150"/>
            <a:ext cx="0" cy="87245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6">
            <a:extLst>
              <a:ext uri="{FF2B5EF4-FFF2-40B4-BE49-F238E27FC236}">
                <a16:creationId xmlns:a16="http://schemas.microsoft.com/office/drawing/2014/main" id="{2BFA6B2D-D4DE-9C54-A374-305D7321A5CB}"/>
              </a:ext>
            </a:extLst>
          </p:cNvPr>
          <p:cNvCxnSpPr>
            <a:cxnSpLocks/>
          </p:cNvCxnSpPr>
          <p:nvPr/>
        </p:nvCxnSpPr>
        <p:spPr>
          <a:xfrm flipH="1">
            <a:off x="1666613" y="5839457"/>
            <a:ext cx="453005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: уступ 8">
            <a:extLst>
              <a:ext uri="{FF2B5EF4-FFF2-40B4-BE49-F238E27FC236}">
                <a16:creationId xmlns:a16="http://schemas.microsoft.com/office/drawing/2014/main" id="{0EAC1B88-83EF-B87B-C768-1CFB540DA1B7}"/>
              </a:ext>
            </a:extLst>
          </p:cNvPr>
          <p:cNvCxnSpPr>
            <a:cxnSpLocks/>
          </p:cNvCxnSpPr>
          <p:nvPr/>
        </p:nvCxnSpPr>
        <p:spPr>
          <a:xfrm rot="16200000" flipH="1">
            <a:off x="1342757" y="5067364"/>
            <a:ext cx="343177" cy="30453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: уступ 15">
            <a:extLst>
              <a:ext uri="{FF2B5EF4-FFF2-40B4-BE49-F238E27FC236}">
                <a16:creationId xmlns:a16="http://schemas.microsoft.com/office/drawing/2014/main" id="{12713231-2693-7F6E-C522-60AD8853DB11}"/>
              </a:ext>
            </a:extLst>
          </p:cNvPr>
          <p:cNvCxnSpPr>
            <a:cxnSpLocks/>
          </p:cNvCxnSpPr>
          <p:nvPr/>
        </p:nvCxnSpPr>
        <p:spPr>
          <a:xfrm rot="5400000">
            <a:off x="1790057" y="5149171"/>
            <a:ext cx="793344" cy="587227"/>
          </a:xfrm>
          <a:prstGeom prst="bentConnector3">
            <a:avLst>
              <a:gd name="adj1" fmla="val 1938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Соединитель: уступ 19">
            <a:extLst>
              <a:ext uri="{FF2B5EF4-FFF2-40B4-BE49-F238E27FC236}">
                <a16:creationId xmlns:a16="http://schemas.microsoft.com/office/drawing/2014/main" id="{0AFC32A8-3E58-2A6B-CDBA-D6C6F5EC3EE2}"/>
              </a:ext>
            </a:extLst>
          </p:cNvPr>
          <p:cNvCxnSpPr>
            <a:cxnSpLocks/>
            <a:endCxn id="8" idx="0"/>
          </p:cNvCxnSpPr>
          <p:nvPr/>
        </p:nvCxnSpPr>
        <p:spPr>
          <a:xfrm rot="10800000" flipV="1">
            <a:off x="2480342" y="5253038"/>
            <a:ext cx="898653" cy="14011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27">
            <a:extLst>
              <a:ext uri="{FF2B5EF4-FFF2-40B4-BE49-F238E27FC236}">
                <a16:creationId xmlns:a16="http://schemas.microsoft.com/office/drawing/2014/main" id="{CA263A21-F7BD-BC88-63ED-A10C012532AC}"/>
              </a:ext>
            </a:extLst>
          </p:cNvPr>
          <p:cNvCxnSpPr/>
          <p:nvPr/>
        </p:nvCxnSpPr>
        <p:spPr>
          <a:xfrm flipV="1">
            <a:off x="3378995" y="5069681"/>
            <a:ext cx="0" cy="1833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232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E37FE-689D-9D0E-46C7-1860BA18D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CBFC52B-6C22-5E1F-E5B3-D220B9674C84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2863E7DB-E981-4FF8-5A4A-914D0FF66EDE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Арифметические выражение и адресация данных из пакета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381A05-5765-FEB8-07DD-EBCB1CED5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39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BF294C4-96E8-12E8-1FA3-EC380DFF4E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2" name="Picture 2" descr="IPv4 Header | AIT">
            <a:extLst>
              <a:ext uri="{FF2B5EF4-FFF2-40B4-BE49-F238E27FC236}">
                <a16:creationId xmlns:a16="http://schemas.microsoft.com/office/drawing/2014/main" id="{4FAA645D-3FB8-3E06-65D5-073A5AAB9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274" y="2363290"/>
            <a:ext cx="6372225" cy="3617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Прямоугольник 5">
            <a:extLst>
              <a:ext uri="{FF2B5EF4-FFF2-40B4-BE49-F238E27FC236}">
                <a16:creationId xmlns:a16="http://schemas.microsoft.com/office/drawing/2014/main" id="{12184CEA-7640-96C5-442B-F3B18D7B21FC}"/>
              </a:ext>
            </a:extLst>
          </p:cNvPr>
          <p:cNvSpPr/>
          <p:nvPr/>
        </p:nvSpPr>
        <p:spPr>
          <a:xfrm>
            <a:off x="2590799" y="3895725"/>
            <a:ext cx="1666876" cy="571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Соединитель: уступ 6">
            <a:extLst>
              <a:ext uri="{FF2B5EF4-FFF2-40B4-BE49-F238E27FC236}">
                <a16:creationId xmlns:a16="http://schemas.microsoft.com/office/drawing/2014/main" id="{B121ABCD-D923-0A6E-661C-3AF669F7FFE4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871536" y="2462212"/>
            <a:ext cx="2181226" cy="125729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273A7A3-083E-3904-988C-72E5848847CA}"/>
              </a:ext>
            </a:extLst>
          </p:cNvPr>
          <p:cNvSpPr txBox="1"/>
          <p:nvPr/>
        </p:nvSpPr>
        <p:spPr>
          <a:xfrm>
            <a:off x="349541" y="1527233"/>
            <a:ext cx="11492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Lucida Console" panose="020B0609040504020204" pitchFamily="49" charset="0"/>
              </a:rPr>
              <a:t>ip</a:t>
            </a:r>
            <a:r>
              <a:rPr lang="en-US" dirty="0">
                <a:latin typeface="Lucida Console" panose="020B0609040504020204" pitchFamily="49" charset="0"/>
              </a:rPr>
              <a:t>[8:1] &gt; 128</a:t>
            </a:r>
          </a:p>
        </p:txBody>
      </p:sp>
    </p:spTree>
    <p:extLst>
      <p:ext uri="{BB962C8B-B14F-4D97-AF65-F5344CB8AC3E}">
        <p14:creationId xmlns:p14="http://schemas.microsoft.com/office/powerpoint/2010/main" val="14024618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F8525-AC34-55FC-C5A3-3204B7248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45E388B-B175-2217-163C-C70AC5A3454B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98BD2978-6541-D866-9B64-9E6F0B89D871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Пример</a:t>
            </a:r>
            <a:r>
              <a:rPr lang="en-US" sz="2800" b="1" dirty="0">
                <a:solidFill>
                  <a:srgbClr val="FF0000"/>
                </a:solidFill>
              </a:rPr>
              <a:t>: </a:t>
            </a:r>
            <a:r>
              <a:rPr lang="ru-RU" sz="2800" b="1" dirty="0">
                <a:solidFill>
                  <a:srgbClr val="FF0000"/>
                </a:solidFill>
              </a:rPr>
              <a:t>фильтр для пакетов </a:t>
            </a:r>
            <a:r>
              <a:rPr lang="en-US" sz="2800" b="1" dirty="0">
                <a:solidFill>
                  <a:srgbClr val="FF0000"/>
                </a:solidFill>
              </a:rPr>
              <a:t>HTTP </a:t>
            </a:r>
            <a:r>
              <a:rPr lang="ru-RU" sz="2800" b="1" dirty="0">
                <a:solidFill>
                  <a:srgbClr val="FF0000"/>
                </a:solidFill>
              </a:rPr>
              <a:t>с методом </a:t>
            </a:r>
            <a:r>
              <a:rPr lang="en-US" sz="2800" b="1" dirty="0">
                <a:solidFill>
                  <a:srgbClr val="FF0000"/>
                </a:solidFill>
              </a:rPr>
              <a:t>GET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FF84DE-CFF7-71E3-DA72-93E596247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40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F88CD3A3-9AD4-1253-3D11-81A983418F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CB469E-AEAC-9F38-786E-831C01347B43}"/>
              </a:ext>
            </a:extLst>
          </p:cNvPr>
          <p:cNvSpPr txBox="1"/>
          <p:nvPr/>
        </p:nvSpPr>
        <p:spPr>
          <a:xfrm>
            <a:off x="349541" y="1736783"/>
            <a:ext cx="48827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Поле </a:t>
            </a:r>
            <a:r>
              <a:rPr lang="en-US" b="1" dirty="0"/>
              <a:t>HTTP </a:t>
            </a:r>
            <a:r>
              <a:rPr lang="ru-RU" b="1" dirty="0"/>
              <a:t>метода </a:t>
            </a:r>
            <a:r>
              <a:rPr lang="ru-RU" dirty="0"/>
              <a:t>(первые </a:t>
            </a:r>
            <a:r>
              <a:rPr lang="en-US" dirty="0"/>
              <a:t>3 </a:t>
            </a:r>
            <a:r>
              <a:rPr lang="ru-RU" dirty="0"/>
              <a:t>символа данных </a:t>
            </a:r>
            <a:r>
              <a:rPr lang="en-US" dirty="0"/>
              <a:t>TCP</a:t>
            </a:r>
            <a:r>
              <a:rPr lang="ru-RU" dirty="0"/>
              <a:t> пакета)</a:t>
            </a:r>
            <a:r>
              <a:rPr lang="en-US" dirty="0"/>
              <a:t>:</a:t>
            </a:r>
          </a:p>
          <a:p>
            <a:r>
              <a:rPr lang="ru-RU" alt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tcp</a:t>
            </a:r>
            <a:r>
              <a:rPr lang="ru-RU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[12:1] &amp; 0xf0</a:t>
            </a:r>
            <a:r>
              <a:rPr lang="en-US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ru-RU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извлечение длины заголовка</a:t>
            </a:r>
          </a:p>
          <a:p>
            <a:r>
              <a:rPr lang="ru-RU" alt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tcp</a:t>
            </a:r>
            <a:r>
              <a:rPr lang="ru-RU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[12:1] &amp; 0xf0) &gt;&gt; 2 – перевод длины заголовка в байты</a:t>
            </a:r>
            <a:endParaRPr lang="en-US" dirty="0"/>
          </a:p>
          <a:p>
            <a:r>
              <a:rPr lang="ru-RU" alt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tcp</a:t>
            </a:r>
            <a:r>
              <a:rPr lang="ru-RU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[((</a:t>
            </a:r>
            <a:r>
              <a:rPr lang="ru-RU" alt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tcp</a:t>
            </a:r>
            <a:r>
              <a:rPr lang="ru-RU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[12:1] &amp; 0xf0) &gt;&gt; 2):</a:t>
            </a:r>
            <a:r>
              <a:rPr lang="en-US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ru-RU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– извлечение 3-х байт по смещению </a:t>
            </a:r>
            <a:r>
              <a:rPr lang="en-US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ru-RU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начало </a:t>
            </a:r>
            <a:r>
              <a:rPr lang="en-US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TCP </a:t>
            </a:r>
            <a:r>
              <a:rPr lang="ru-RU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пакета</a:t>
            </a:r>
            <a:r>
              <a:rPr lang="en-US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ru-RU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ru-RU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длина заголовка</a:t>
            </a:r>
            <a:r>
              <a:rPr lang="en-US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endParaRPr lang="ru-RU" alt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Метод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 числовом виде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0x474554 (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кодировка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ASCII)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Выражение для фильтра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ru-RU" alt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tcp</a:t>
            </a:r>
            <a:r>
              <a:rPr lang="ru-RU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[((</a:t>
            </a:r>
            <a:r>
              <a:rPr lang="ru-RU" alt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tcp</a:t>
            </a:r>
            <a:r>
              <a:rPr lang="ru-RU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[12:1] &amp; 0xf0) &gt;&gt; 2):</a:t>
            </a:r>
            <a:r>
              <a:rPr lang="en-US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ru-RU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r>
              <a:rPr lang="en-US" alt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==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0x474554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80DCDC-5459-8C5D-F293-D624DDA0F4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635"/>
          <a:stretch>
            <a:fillRect/>
          </a:stretch>
        </p:blipFill>
        <p:spPr>
          <a:xfrm>
            <a:off x="5397413" y="1862981"/>
            <a:ext cx="6620052" cy="371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6967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A4E4B-73C0-F5C5-7E17-C075AC3BE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peech Bubble: Rectangle 42">
            <a:extLst>
              <a:ext uri="{FF2B5EF4-FFF2-40B4-BE49-F238E27FC236}">
                <a16:creationId xmlns:a16="http://schemas.microsoft.com/office/drawing/2014/main" id="{0C1E3D24-F9AF-C5FA-918C-C18FCF453D9A}"/>
              </a:ext>
            </a:extLst>
          </p:cNvPr>
          <p:cNvSpPr/>
          <p:nvPr/>
        </p:nvSpPr>
        <p:spPr>
          <a:xfrm>
            <a:off x="6425589" y="2344738"/>
            <a:ext cx="2996519" cy="1191434"/>
          </a:xfrm>
          <a:prstGeom prst="wedgeRectCallout">
            <a:avLst>
              <a:gd name="adj1" fmla="val -45597"/>
              <a:gd name="adj2" fmla="val 89673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Онлайн анализ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Долговременное хранение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Ретроспективный анализ</a:t>
            </a: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28D8915F-32C0-69E7-D057-CE9018E61366}"/>
              </a:ext>
            </a:extLst>
          </p:cNvPr>
          <p:cNvSpPr/>
          <p:nvPr/>
        </p:nvSpPr>
        <p:spPr>
          <a:xfrm>
            <a:off x="3277281" y="2370233"/>
            <a:ext cx="2996519" cy="1191434"/>
          </a:xfrm>
          <a:prstGeom prst="wedgeRectCallout">
            <a:avLst>
              <a:gd name="adj1" fmla="val -62126"/>
              <a:gd name="adj2" fmla="val 7475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фильтрация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tx1"/>
                </a:solidFill>
              </a:rPr>
              <a:t>сэмплирование</a:t>
            </a:r>
            <a:endParaRPr lang="ru-RU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буферизация (временное хранилище)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5F77732-53A9-4182-C024-F1454E05D916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987A03E-5FEB-9CAF-C6C0-D4260741A81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 err="1">
                <a:solidFill>
                  <a:srgbClr val="FF0000"/>
                </a:solidFill>
              </a:rPr>
              <a:t>Пайплайн</a:t>
            </a:r>
            <a:r>
              <a:rPr lang="ru-RU" sz="2800" b="1" dirty="0">
                <a:solidFill>
                  <a:srgbClr val="FF0000"/>
                </a:solidFill>
              </a:rPr>
              <a:t> сбора и анализа трафика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A7586E-ADB9-8BE9-4612-EE2021BA9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41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09AB2876-C1E4-9890-15CD-DBA33562C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2" name="Picture 10" descr="C:\Users\ecoffey\AppData\Local\Temp\Rar$DRa0.262\30020__Device_detector_default_256.png">
            <a:extLst>
              <a:ext uri="{FF2B5EF4-FFF2-40B4-BE49-F238E27FC236}">
                <a16:creationId xmlns:a16="http://schemas.microsoft.com/office/drawing/2014/main" id="{58134D33-0FBD-BEBA-2206-56B4BDF1F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565" y="3467235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3B5D1B-3C64-21D6-954D-F984469630F4}"/>
              </a:ext>
            </a:extLst>
          </p:cNvPr>
          <p:cNvSpPr txBox="1"/>
          <p:nvPr/>
        </p:nvSpPr>
        <p:spPr>
          <a:xfrm>
            <a:off x="2481372" y="4368534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Сенсор</a:t>
            </a:r>
          </a:p>
        </p:txBody>
      </p:sp>
      <p:pic>
        <p:nvPicPr>
          <p:cNvPr id="10" name="Picture 10" descr="C:\Users\ecoffey\AppData\Local\Temp\Rar$DRa0.262\30020__Device_detector_default_256.png">
            <a:extLst>
              <a:ext uri="{FF2B5EF4-FFF2-40B4-BE49-F238E27FC236}">
                <a16:creationId xmlns:a16="http://schemas.microsoft.com/office/drawing/2014/main" id="{A3057287-9157-43CF-FBBF-7DE660CF6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4667" y="3467235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98EAA6-B26E-68D4-24B6-B2AC186EAEFC}"/>
              </a:ext>
            </a:extLst>
          </p:cNvPr>
          <p:cNvSpPr txBox="1"/>
          <p:nvPr/>
        </p:nvSpPr>
        <p:spPr>
          <a:xfrm>
            <a:off x="5333986" y="4400805"/>
            <a:ext cx="2161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Сетевой анализатор</a:t>
            </a:r>
          </a:p>
        </p:txBody>
      </p:sp>
      <p:pic>
        <p:nvPicPr>
          <p:cNvPr id="12" name="Picture 10" descr="C:\Users\ecoffey\AppData\Local\Temp\Rar$DRa0.262\30020__Device_detector_default_256.png">
            <a:extLst>
              <a:ext uri="{FF2B5EF4-FFF2-40B4-BE49-F238E27FC236}">
                <a16:creationId xmlns:a16="http://schemas.microsoft.com/office/drawing/2014/main" id="{A64499F2-04CD-FE21-1B81-528820147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565" y="1347351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F21FEF-E520-61E7-EE4E-6657AE15BE8B}"/>
              </a:ext>
            </a:extLst>
          </p:cNvPr>
          <p:cNvSpPr txBox="1"/>
          <p:nvPr/>
        </p:nvSpPr>
        <p:spPr>
          <a:xfrm>
            <a:off x="2657384" y="2249801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IDS</a:t>
            </a:r>
            <a:endParaRPr lang="ru-RU" dirty="0"/>
          </a:p>
        </p:txBody>
      </p:sp>
      <p:pic>
        <p:nvPicPr>
          <p:cNvPr id="14" name="Picture 10" descr="C:\Users\ecoffey\AppData\Local\Temp\Rar$DRa0.262\30020__Device_detector_default_256.png">
            <a:extLst>
              <a:ext uri="{FF2B5EF4-FFF2-40B4-BE49-F238E27FC236}">
                <a16:creationId xmlns:a16="http://schemas.microsoft.com/office/drawing/2014/main" id="{AAFD456B-E087-A74C-D762-A201970BA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9200" y="3467235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51BF563-3F96-C84A-F2E9-58F12160980F}"/>
              </a:ext>
            </a:extLst>
          </p:cNvPr>
          <p:cNvSpPr txBox="1"/>
          <p:nvPr/>
        </p:nvSpPr>
        <p:spPr>
          <a:xfrm>
            <a:off x="9780424" y="4302863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SIEM</a:t>
            </a:r>
            <a:endParaRPr lang="ru-RU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351A5BA-B55C-80C2-2C13-065D7A310BB5}"/>
              </a:ext>
            </a:extLst>
          </p:cNvPr>
          <p:cNvSpPr/>
          <p:nvPr/>
        </p:nvSpPr>
        <p:spPr>
          <a:xfrm>
            <a:off x="597761" y="3505471"/>
            <a:ext cx="1342931" cy="1058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трафик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24884BE-5693-A767-3A7F-B0DE2D26FC98}"/>
              </a:ext>
            </a:extLst>
          </p:cNvPr>
          <p:cNvSpPr/>
          <p:nvPr/>
        </p:nvSpPr>
        <p:spPr>
          <a:xfrm>
            <a:off x="597760" y="1359438"/>
            <a:ext cx="1342931" cy="1058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трафик</a:t>
            </a:r>
          </a:p>
        </p:txBody>
      </p:sp>
      <p:pic>
        <p:nvPicPr>
          <p:cNvPr id="19" name="Picture 10" descr="C:\Users\ecoffey\AppData\Local\Temp\Rar$DRa0.262\30020__Device_detector_default_256.png">
            <a:extLst>
              <a:ext uri="{FF2B5EF4-FFF2-40B4-BE49-F238E27FC236}">
                <a16:creationId xmlns:a16="http://schemas.microsoft.com/office/drawing/2014/main" id="{6B0A938C-BBA8-FCA9-C9C6-34913BACF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565" y="5559446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57DE845-7F6F-6513-681C-D2F032A27DF5}"/>
              </a:ext>
            </a:extLst>
          </p:cNvPr>
          <p:cNvSpPr txBox="1"/>
          <p:nvPr/>
        </p:nvSpPr>
        <p:spPr>
          <a:xfrm>
            <a:off x="1918429" y="6453375"/>
            <a:ext cx="2014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Коллектор </a:t>
            </a:r>
            <a:r>
              <a:rPr lang="en-US" dirty="0" err="1"/>
              <a:t>Netflow</a:t>
            </a:r>
            <a:endParaRPr lang="ru-RU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74022C4-AE08-58FF-BAE8-04B23D80C5D2}"/>
              </a:ext>
            </a:extLst>
          </p:cNvPr>
          <p:cNvSpPr/>
          <p:nvPr/>
        </p:nvSpPr>
        <p:spPr>
          <a:xfrm>
            <a:off x="597760" y="5591144"/>
            <a:ext cx="1342931" cy="1058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трафик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4AA3B111-3F3B-7544-29FA-5174748B19BC}"/>
              </a:ext>
            </a:extLst>
          </p:cNvPr>
          <p:cNvCxnSpPr>
            <a:stCxn id="12" idx="3"/>
            <a:endCxn id="14" idx="0"/>
          </p:cNvCxnSpPr>
          <p:nvPr/>
        </p:nvCxnSpPr>
        <p:spPr>
          <a:xfrm>
            <a:off x="3465565" y="1887351"/>
            <a:ext cx="6643635" cy="15798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14C6B29-7E55-649F-B449-0B3AF3E15A91}"/>
              </a:ext>
            </a:extLst>
          </p:cNvPr>
          <p:cNvSpPr txBox="1"/>
          <p:nvPr/>
        </p:nvSpPr>
        <p:spPr>
          <a:xfrm>
            <a:off x="6096000" y="1516000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События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59D7CD6-3E2A-088E-4491-C4EB3F5ABED4}"/>
              </a:ext>
            </a:extLst>
          </p:cNvPr>
          <p:cNvCxnSpPr>
            <a:stCxn id="2" idx="3"/>
            <a:endCxn id="10" idx="1"/>
          </p:cNvCxnSpPr>
          <p:nvPr/>
        </p:nvCxnSpPr>
        <p:spPr>
          <a:xfrm>
            <a:off x="3465565" y="4007235"/>
            <a:ext cx="24091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EAE72AD-0779-5A18-C145-61F07CA0084F}"/>
              </a:ext>
            </a:extLst>
          </p:cNvPr>
          <p:cNvSpPr txBox="1"/>
          <p:nvPr/>
        </p:nvSpPr>
        <p:spPr>
          <a:xfrm>
            <a:off x="3788641" y="3678039"/>
            <a:ext cx="1874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Частичная копия </a:t>
            </a:r>
          </a:p>
          <a:p>
            <a:pPr algn="ctr"/>
            <a:r>
              <a:rPr lang="ru-RU" dirty="0"/>
              <a:t>трафика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AFDE08C-570F-0451-FF09-F5240E7617E4}"/>
              </a:ext>
            </a:extLst>
          </p:cNvPr>
          <p:cNvCxnSpPr>
            <a:stCxn id="19" idx="3"/>
            <a:endCxn id="11" idx="2"/>
          </p:cNvCxnSpPr>
          <p:nvPr/>
        </p:nvCxnSpPr>
        <p:spPr>
          <a:xfrm flipV="1">
            <a:off x="3465565" y="4770137"/>
            <a:ext cx="2949102" cy="13293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3708864-222D-9B06-4674-C9E94CEF95A6}"/>
              </a:ext>
            </a:extLst>
          </p:cNvPr>
          <p:cNvSpPr txBox="1"/>
          <p:nvPr/>
        </p:nvSpPr>
        <p:spPr>
          <a:xfrm>
            <a:off x="4058490" y="5730114"/>
            <a:ext cx="1334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Телеметрия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B2CA02-BF54-4E57-A767-A59430225E73}"/>
              </a:ext>
            </a:extLst>
          </p:cNvPr>
          <p:cNvCxnSpPr>
            <a:stCxn id="10" idx="3"/>
            <a:endCxn id="14" idx="1"/>
          </p:cNvCxnSpPr>
          <p:nvPr/>
        </p:nvCxnSpPr>
        <p:spPr>
          <a:xfrm>
            <a:off x="6954667" y="4007235"/>
            <a:ext cx="26145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F47C1ED-AC37-DEB8-B077-9724454FAFEA}"/>
              </a:ext>
            </a:extLst>
          </p:cNvPr>
          <p:cNvSpPr txBox="1"/>
          <p:nvPr/>
        </p:nvSpPr>
        <p:spPr>
          <a:xfrm>
            <a:off x="7594685" y="3637903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События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CCC4A3D-D2A4-DDD4-9622-CE2B5A7D1B4F}"/>
              </a:ext>
            </a:extLst>
          </p:cNvPr>
          <p:cNvCxnSpPr>
            <a:cxnSpLocks/>
          </p:cNvCxnSpPr>
          <p:nvPr/>
        </p:nvCxnSpPr>
        <p:spPr>
          <a:xfrm flipV="1">
            <a:off x="10109200" y="4585471"/>
            <a:ext cx="0" cy="849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1804F72-FF73-6DCA-E8AB-928698C210C1}"/>
              </a:ext>
            </a:extLst>
          </p:cNvPr>
          <p:cNvSpPr txBox="1"/>
          <p:nvPr/>
        </p:nvSpPr>
        <p:spPr>
          <a:xfrm>
            <a:off x="9106072" y="5559446"/>
            <a:ext cx="2006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Другие источники </a:t>
            </a:r>
          </a:p>
          <a:p>
            <a:pPr algn="ctr"/>
            <a:r>
              <a:rPr lang="ru-RU" dirty="0"/>
              <a:t>событий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1704D7E3-1758-8321-E17A-405B3C062C30}"/>
              </a:ext>
            </a:extLst>
          </p:cNvPr>
          <p:cNvCxnSpPr>
            <a:cxnSpLocks/>
          </p:cNvCxnSpPr>
          <p:nvPr/>
        </p:nvCxnSpPr>
        <p:spPr>
          <a:xfrm flipV="1">
            <a:off x="3465564" y="4230136"/>
            <a:ext cx="6103636" cy="2024653"/>
          </a:xfrm>
          <a:prstGeom prst="bentConnector3">
            <a:avLst>
              <a:gd name="adj1" fmla="val 71223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758F0C2-0EF9-3C26-33B8-A2704B16AFB4}"/>
              </a:ext>
            </a:extLst>
          </p:cNvPr>
          <p:cNvSpPr txBox="1"/>
          <p:nvPr/>
        </p:nvSpPr>
        <p:spPr>
          <a:xfrm>
            <a:off x="4881792" y="6262398"/>
            <a:ext cx="291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Телеметрия (опционально)</a:t>
            </a:r>
          </a:p>
        </p:txBody>
      </p:sp>
    </p:spTree>
    <p:extLst>
      <p:ext uri="{BB962C8B-B14F-4D97-AF65-F5344CB8AC3E}">
        <p14:creationId xmlns:p14="http://schemas.microsoft.com/office/powerpoint/2010/main" val="37569893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3CC41-6375-8855-CA97-E76FBAAAE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6FB346F-4C18-2810-2ED6-1B4737341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338" y="0"/>
            <a:ext cx="12200338" cy="685800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99E9706-917C-BA6D-6B48-69E60BBFFD5E}"/>
              </a:ext>
            </a:extLst>
          </p:cNvPr>
          <p:cNvSpPr txBox="1">
            <a:spLocks/>
          </p:cNvSpPr>
          <p:nvPr/>
        </p:nvSpPr>
        <p:spPr>
          <a:xfrm>
            <a:off x="2640093" y="2359598"/>
            <a:ext cx="6903475" cy="213880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Сбор, хранение и обработка событий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32450286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1C300-0BFE-9599-5177-597BCA12D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621641F-15DF-04E0-F287-9896A84F5EDF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3F0A50EE-EE92-79FA-C0C3-9145BAC3735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Общий </a:t>
            </a:r>
            <a:r>
              <a:rPr lang="ru-RU" sz="2800" b="1" dirty="0" err="1">
                <a:solidFill>
                  <a:srgbClr val="FF0000"/>
                </a:solidFill>
              </a:rPr>
              <a:t>пайплайн</a:t>
            </a:r>
            <a:r>
              <a:rPr lang="ru-RU" sz="2800" b="1" dirty="0">
                <a:solidFill>
                  <a:srgbClr val="FF0000"/>
                </a:solidFill>
              </a:rPr>
              <a:t> сбора и обработки событий ИБ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990094-8B5C-7BA4-4FB3-526CCBA8C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43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624C3480-4159-9D85-4C98-42820A758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AED7E09-9DFB-69DD-17BA-EE5405BCDA48}"/>
              </a:ext>
            </a:extLst>
          </p:cNvPr>
          <p:cNvSpPr/>
          <p:nvPr/>
        </p:nvSpPr>
        <p:spPr>
          <a:xfrm>
            <a:off x="706361" y="3053744"/>
            <a:ext cx="1980000" cy="942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Источник событий</a:t>
            </a:r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DA12B812-4CA6-94AD-BC52-616302AE5294}"/>
              </a:ext>
            </a:extLst>
          </p:cNvPr>
          <p:cNvSpPr/>
          <p:nvPr/>
        </p:nvSpPr>
        <p:spPr>
          <a:xfrm>
            <a:off x="706361" y="4589651"/>
            <a:ext cx="1980000" cy="92392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Локальный журнал событий</a:t>
            </a:r>
          </a:p>
        </p:txBody>
      </p:sp>
      <p:sp>
        <p:nvSpPr>
          <p:cNvPr id="12" name="Flowchart: Data 11">
            <a:extLst>
              <a:ext uri="{FF2B5EF4-FFF2-40B4-BE49-F238E27FC236}">
                <a16:creationId xmlns:a16="http://schemas.microsoft.com/office/drawing/2014/main" id="{AE091BE3-0C37-94B6-6AAC-0CBA5A8C03D6}"/>
              </a:ext>
            </a:extLst>
          </p:cNvPr>
          <p:cNvSpPr/>
          <p:nvPr/>
        </p:nvSpPr>
        <p:spPr>
          <a:xfrm>
            <a:off x="706361" y="1784538"/>
            <a:ext cx="1980000" cy="676275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Политика аудита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DC6D67-6D70-FE1D-C498-9B37A013D25E}"/>
              </a:ext>
            </a:extLst>
          </p:cNvPr>
          <p:cNvCxnSpPr>
            <a:stCxn id="12" idx="4"/>
            <a:endCxn id="2" idx="0"/>
          </p:cNvCxnSpPr>
          <p:nvPr/>
        </p:nvCxnSpPr>
        <p:spPr>
          <a:xfrm>
            <a:off x="1696361" y="2460813"/>
            <a:ext cx="0" cy="592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9BD1F7B-075C-F82F-FF02-E7613834182D}"/>
              </a:ext>
            </a:extLst>
          </p:cNvPr>
          <p:cNvCxnSpPr>
            <a:cxnSpLocks/>
            <a:stCxn id="2" idx="2"/>
            <a:endCxn id="5" idx="1"/>
          </p:cNvCxnSpPr>
          <p:nvPr/>
        </p:nvCxnSpPr>
        <p:spPr>
          <a:xfrm>
            <a:off x="1696361" y="3996720"/>
            <a:ext cx="0" cy="592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813CED7-5628-BAF9-B170-26FF9A692436}"/>
              </a:ext>
            </a:extLst>
          </p:cNvPr>
          <p:cNvSpPr/>
          <p:nvPr/>
        </p:nvSpPr>
        <p:spPr>
          <a:xfrm>
            <a:off x="3676361" y="3053744"/>
            <a:ext cx="1980000" cy="942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Сборщик событий</a:t>
            </a:r>
          </a:p>
        </p:txBody>
      </p:sp>
      <p:sp>
        <p:nvSpPr>
          <p:cNvPr id="25" name="Flowchart: Data 24">
            <a:extLst>
              <a:ext uri="{FF2B5EF4-FFF2-40B4-BE49-F238E27FC236}">
                <a16:creationId xmlns:a16="http://schemas.microsoft.com/office/drawing/2014/main" id="{2BF9A507-1DFB-4B72-B2F5-BD992E247C4D}"/>
              </a:ext>
            </a:extLst>
          </p:cNvPr>
          <p:cNvSpPr/>
          <p:nvPr/>
        </p:nvSpPr>
        <p:spPr>
          <a:xfrm>
            <a:off x="3676361" y="1784537"/>
            <a:ext cx="1980000" cy="676275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/>
              <a:t>Политика фильтрации</a:t>
            </a:r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0C7D4B02-7EC6-05CF-68D4-3C7C2D284293}"/>
              </a:ext>
            </a:extLst>
          </p:cNvPr>
          <p:cNvSpPr/>
          <p:nvPr/>
        </p:nvSpPr>
        <p:spPr>
          <a:xfrm>
            <a:off x="3676361" y="4589650"/>
            <a:ext cx="1980000" cy="92392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Кэш событий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034877-6CBE-6B04-BC1F-9F9CE9B30E54}"/>
              </a:ext>
            </a:extLst>
          </p:cNvPr>
          <p:cNvCxnSpPr>
            <a:stCxn id="2" idx="3"/>
            <a:endCxn id="24" idx="1"/>
          </p:cNvCxnSpPr>
          <p:nvPr/>
        </p:nvCxnSpPr>
        <p:spPr>
          <a:xfrm>
            <a:off x="2686361" y="3525232"/>
            <a:ext cx="99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8231310-1F47-EFBC-F749-B700F8055D46}"/>
              </a:ext>
            </a:extLst>
          </p:cNvPr>
          <p:cNvCxnSpPr>
            <a:cxnSpLocks/>
            <a:stCxn id="25" idx="4"/>
            <a:endCxn id="24" idx="0"/>
          </p:cNvCxnSpPr>
          <p:nvPr/>
        </p:nvCxnSpPr>
        <p:spPr>
          <a:xfrm>
            <a:off x="4666361" y="2460812"/>
            <a:ext cx="0" cy="592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E1DBEFA-1E25-F8AE-75C6-7FE8F199EEF6}"/>
              </a:ext>
            </a:extLst>
          </p:cNvPr>
          <p:cNvCxnSpPr>
            <a:cxnSpLocks/>
            <a:stCxn id="24" idx="2"/>
            <a:endCxn id="26" idx="1"/>
          </p:cNvCxnSpPr>
          <p:nvPr/>
        </p:nvCxnSpPr>
        <p:spPr>
          <a:xfrm>
            <a:off x="4666361" y="3996720"/>
            <a:ext cx="0" cy="592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E776111-DF30-AE3D-4AB2-8DD29E94FDB9}"/>
              </a:ext>
            </a:extLst>
          </p:cNvPr>
          <p:cNvSpPr/>
          <p:nvPr/>
        </p:nvSpPr>
        <p:spPr>
          <a:xfrm>
            <a:off x="6646361" y="3053744"/>
            <a:ext cx="1980000" cy="942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Сервис хранения событий</a:t>
            </a:r>
          </a:p>
        </p:txBody>
      </p:sp>
      <p:sp>
        <p:nvSpPr>
          <p:cNvPr id="37" name="Cylinder 36">
            <a:extLst>
              <a:ext uri="{FF2B5EF4-FFF2-40B4-BE49-F238E27FC236}">
                <a16:creationId xmlns:a16="http://schemas.microsoft.com/office/drawing/2014/main" id="{7DA17DF1-CFBF-741D-A13D-22EE45DA4B0C}"/>
              </a:ext>
            </a:extLst>
          </p:cNvPr>
          <p:cNvSpPr/>
          <p:nvPr/>
        </p:nvSpPr>
        <p:spPr>
          <a:xfrm>
            <a:off x="6646361" y="4589650"/>
            <a:ext cx="1980000" cy="92392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Хранилище событий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C1B1AAA-6EEA-1E6B-B968-56F0B99147CE}"/>
              </a:ext>
            </a:extLst>
          </p:cNvPr>
          <p:cNvCxnSpPr>
            <a:cxnSpLocks/>
            <a:stCxn id="36" idx="2"/>
            <a:endCxn id="37" idx="1"/>
          </p:cNvCxnSpPr>
          <p:nvPr/>
        </p:nvCxnSpPr>
        <p:spPr>
          <a:xfrm>
            <a:off x="7636361" y="3996720"/>
            <a:ext cx="0" cy="592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Data 40">
            <a:extLst>
              <a:ext uri="{FF2B5EF4-FFF2-40B4-BE49-F238E27FC236}">
                <a16:creationId xmlns:a16="http://schemas.microsoft.com/office/drawing/2014/main" id="{C39B92B3-9974-9684-B097-39E4A9F11A43}"/>
              </a:ext>
            </a:extLst>
          </p:cNvPr>
          <p:cNvSpPr/>
          <p:nvPr/>
        </p:nvSpPr>
        <p:spPr>
          <a:xfrm>
            <a:off x="6421361" y="1784536"/>
            <a:ext cx="2430000" cy="676275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/>
              <a:t>Правила нормализации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6521888-0384-4BC7-289E-DBD191974C64}"/>
              </a:ext>
            </a:extLst>
          </p:cNvPr>
          <p:cNvCxnSpPr>
            <a:cxnSpLocks/>
            <a:stCxn id="41" idx="4"/>
            <a:endCxn id="36" idx="0"/>
          </p:cNvCxnSpPr>
          <p:nvPr/>
        </p:nvCxnSpPr>
        <p:spPr>
          <a:xfrm>
            <a:off x="7636361" y="2460811"/>
            <a:ext cx="0" cy="592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EA5B0D3-9965-17DB-2882-0E65AA0028CA}"/>
              </a:ext>
            </a:extLst>
          </p:cNvPr>
          <p:cNvCxnSpPr>
            <a:cxnSpLocks/>
            <a:stCxn id="24" idx="3"/>
            <a:endCxn id="36" idx="1"/>
          </p:cNvCxnSpPr>
          <p:nvPr/>
        </p:nvCxnSpPr>
        <p:spPr>
          <a:xfrm>
            <a:off x="5656361" y="3525232"/>
            <a:ext cx="99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680F21B-A00C-69EF-3CEA-7E4BCC39DBD8}"/>
              </a:ext>
            </a:extLst>
          </p:cNvPr>
          <p:cNvSpPr/>
          <p:nvPr/>
        </p:nvSpPr>
        <p:spPr>
          <a:xfrm>
            <a:off x="9616361" y="3053744"/>
            <a:ext cx="1980000" cy="942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Сервис анализа событий</a:t>
            </a:r>
          </a:p>
        </p:txBody>
      </p:sp>
      <p:sp>
        <p:nvSpPr>
          <p:cNvPr id="49" name="Flowchart: Data 48">
            <a:extLst>
              <a:ext uri="{FF2B5EF4-FFF2-40B4-BE49-F238E27FC236}">
                <a16:creationId xmlns:a16="http://schemas.microsoft.com/office/drawing/2014/main" id="{77D73B11-B242-CAE8-45AF-A0784BF856D6}"/>
              </a:ext>
            </a:extLst>
          </p:cNvPr>
          <p:cNvSpPr/>
          <p:nvPr/>
        </p:nvSpPr>
        <p:spPr>
          <a:xfrm>
            <a:off x="9391360" y="1784536"/>
            <a:ext cx="2430000" cy="676275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/>
              <a:t>Правила корреляции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1507E5E-4E56-84FE-4BA9-C31EA1681012}"/>
              </a:ext>
            </a:extLst>
          </p:cNvPr>
          <p:cNvCxnSpPr>
            <a:cxnSpLocks/>
            <a:stCxn id="49" idx="4"/>
            <a:endCxn id="48" idx="0"/>
          </p:cNvCxnSpPr>
          <p:nvPr/>
        </p:nvCxnSpPr>
        <p:spPr>
          <a:xfrm>
            <a:off x="10606360" y="2460811"/>
            <a:ext cx="1" cy="592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68F853FA-70DA-A541-F8B0-15E168E394BD}"/>
              </a:ext>
            </a:extLst>
          </p:cNvPr>
          <p:cNvCxnSpPr>
            <a:stCxn id="37" idx="4"/>
            <a:endCxn id="48" idx="1"/>
          </p:cNvCxnSpPr>
          <p:nvPr/>
        </p:nvCxnSpPr>
        <p:spPr>
          <a:xfrm flipV="1">
            <a:off x="8626361" y="3525232"/>
            <a:ext cx="990000" cy="15263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4870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A8987-F0EC-8A99-9117-555F09DD4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4F14F0AF-88F9-73DC-0D99-B98CA005FACC}"/>
              </a:ext>
            </a:extLst>
          </p:cNvPr>
          <p:cNvSpPr/>
          <p:nvPr/>
        </p:nvSpPr>
        <p:spPr>
          <a:xfrm>
            <a:off x="4504446" y="3804584"/>
            <a:ext cx="5028664" cy="2619858"/>
          </a:xfrm>
          <a:prstGeom prst="wedgeRectCallout">
            <a:avLst>
              <a:gd name="adj1" fmla="val -79609"/>
              <a:gd name="adj2" fmla="val 239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Как правило, есть настройки важности и источника (функции)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Могут быть детальные настройки для политик безопасности (правила МЭ, сигнатуры </a:t>
            </a:r>
            <a:r>
              <a:rPr lang="en-US" dirty="0">
                <a:solidFill>
                  <a:schemeClr val="tx1"/>
                </a:solidFill>
              </a:rPr>
              <a:t>IDS)</a:t>
            </a:r>
            <a:endParaRPr lang="ru-RU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Может отсутствовать локальный буфер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367C02EB-2AD9-2CE7-887E-C35817728E8A}"/>
              </a:ext>
            </a:extLst>
          </p:cNvPr>
          <p:cNvSpPr/>
          <p:nvPr/>
        </p:nvSpPr>
        <p:spPr>
          <a:xfrm>
            <a:off x="4504445" y="1316184"/>
            <a:ext cx="5028665" cy="2343277"/>
          </a:xfrm>
          <a:prstGeom prst="wedgeRectCallout">
            <a:avLst>
              <a:gd name="adj1" fmla="val -75673"/>
              <a:gd name="adj2" fmla="val 77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ОС, прикладное ПО, программные </a:t>
            </a:r>
            <a:r>
              <a:rPr lang="ru-RU" dirty="0" err="1">
                <a:solidFill>
                  <a:schemeClr val="tx1"/>
                </a:solidFill>
              </a:rPr>
              <a:t>СрЗИ</a:t>
            </a:r>
            <a:endParaRPr lang="ru-RU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Фиксируемые события определяются политикой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Как правило, есть локальный буфер для событий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865D7B6-810C-3AB0-6690-C96C5D3EA119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8954DBD-F251-0E2D-4F89-C1BFD806733D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Типы источников событий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A01617-86D2-A20B-1585-18C3232E8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44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837FCFAD-E0AB-AC02-DD03-D1E718479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218647-C976-DDF8-89E4-20C10503A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7758" y="1824967"/>
            <a:ext cx="685800" cy="10096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38EE41-87EB-CD56-F36B-F04A0C081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1670" y="2448259"/>
            <a:ext cx="1019175" cy="904875"/>
          </a:xfrm>
          <a:prstGeom prst="rect">
            <a:avLst/>
          </a:prstGeom>
        </p:spPr>
      </p:pic>
      <p:pic>
        <p:nvPicPr>
          <p:cNvPr id="11" name="Picture 10" descr="C:\Users\ecoffey\AppData\Local\Temp\Rar$DRa0.386\30067_Device_router_default_256.png">
            <a:extLst>
              <a:ext uri="{FF2B5EF4-FFF2-40B4-BE49-F238E27FC236}">
                <a16:creationId xmlns:a16="http://schemas.microsoft.com/office/drawing/2014/main" id="{9082225D-E54A-E99B-E1C5-5DEDC97F40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1" t="28931" r="8368" b="21666"/>
          <a:stretch/>
        </p:blipFill>
        <p:spPr bwMode="auto">
          <a:xfrm>
            <a:off x="2681330" y="4543817"/>
            <a:ext cx="1019175" cy="603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C:\Users\ecoffey\AppData\Local\Temp\Rar$DRa0.295\30029_Device_firewall_default_256.png">
            <a:extLst>
              <a:ext uri="{FF2B5EF4-FFF2-40B4-BE49-F238E27FC236}">
                <a16:creationId xmlns:a16="http://schemas.microsoft.com/office/drawing/2014/main" id="{5614948A-5357-FDBD-A7B2-ACDBD29B4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277" y="4845462"/>
            <a:ext cx="1013931" cy="101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C:\Users\ecoffey\AppData\Local\Temp\Rar$DRa0.608\30080_Device_switch_default_256.png">
            <a:extLst>
              <a:ext uri="{FF2B5EF4-FFF2-40B4-BE49-F238E27FC236}">
                <a16:creationId xmlns:a16="http://schemas.microsoft.com/office/drawing/2014/main" id="{FC774CD2-98D3-6D5D-5775-2931E07A28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54" b="26465"/>
          <a:stretch/>
        </p:blipFill>
        <p:spPr bwMode="auto">
          <a:xfrm>
            <a:off x="2997758" y="4976223"/>
            <a:ext cx="1018800" cy="47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F5D2FAA-5825-0753-D743-7F9D9EDCE23B}"/>
              </a:ext>
            </a:extLst>
          </p:cNvPr>
          <p:cNvSpPr txBox="1"/>
          <p:nvPr/>
        </p:nvSpPr>
        <p:spPr>
          <a:xfrm>
            <a:off x="2334402" y="1420532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Сетевые узлы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4C4EDF-6CD1-A6FD-78A0-3F193BFA1AAF}"/>
              </a:ext>
            </a:extLst>
          </p:cNvPr>
          <p:cNvSpPr txBox="1"/>
          <p:nvPr/>
        </p:nvSpPr>
        <p:spPr>
          <a:xfrm>
            <a:off x="1969941" y="4133176"/>
            <a:ext cx="2441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Сетевое оборудование</a:t>
            </a:r>
          </a:p>
        </p:txBody>
      </p:sp>
    </p:spTree>
    <p:extLst>
      <p:ext uri="{BB962C8B-B14F-4D97-AF65-F5344CB8AC3E}">
        <p14:creationId xmlns:p14="http://schemas.microsoft.com/office/powerpoint/2010/main" val="23991448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26D41-9554-F163-404F-12123C93C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A816736-0910-C57B-280F-B239A5B81E2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DDD9309-FE4F-E570-0BAD-04F7F43312AC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Способы сбора событий</a:t>
            </a:r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FC48C67C-B055-7C60-159B-14E22D91F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5F1A5C-9403-7E7F-36F2-918DEAB31B32}"/>
              </a:ext>
            </a:extLst>
          </p:cNvPr>
          <p:cNvCxnSpPr/>
          <p:nvPr/>
        </p:nvCxnSpPr>
        <p:spPr>
          <a:xfrm>
            <a:off x="5943600" y="1046757"/>
            <a:ext cx="0" cy="562224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3B7B94B-09E8-795C-4E20-AC6FDF9E1A24}"/>
              </a:ext>
            </a:extLst>
          </p:cNvPr>
          <p:cNvSpPr txBox="1"/>
          <p:nvPr/>
        </p:nvSpPr>
        <p:spPr>
          <a:xfrm>
            <a:off x="1740807" y="1019562"/>
            <a:ext cx="2248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По методу передачи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1493AD-69D0-7637-1704-235E50540677}"/>
              </a:ext>
            </a:extLst>
          </p:cNvPr>
          <p:cNvSpPr txBox="1"/>
          <p:nvPr/>
        </p:nvSpPr>
        <p:spPr>
          <a:xfrm>
            <a:off x="8260736" y="1030820"/>
            <a:ext cx="1935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По способу сбора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B6719D-59FA-4DDC-51B3-69CD5D5A80AF}"/>
              </a:ext>
            </a:extLst>
          </p:cNvPr>
          <p:cNvSpPr txBox="1"/>
          <p:nvPr/>
        </p:nvSpPr>
        <p:spPr>
          <a:xfrm>
            <a:off x="8002673" y="1433823"/>
            <a:ext cx="2011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Безагентный</a:t>
            </a:r>
            <a:r>
              <a:rPr lang="ru-RU" dirty="0"/>
              <a:t> сбор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3D2728-B486-07E4-8D65-7BC8E97B3682}"/>
              </a:ext>
            </a:extLst>
          </p:cNvPr>
          <p:cNvSpPr/>
          <p:nvPr/>
        </p:nvSpPr>
        <p:spPr>
          <a:xfrm>
            <a:off x="351328" y="4441367"/>
            <a:ext cx="1980000" cy="54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Источник событий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55B37D-65BB-2E37-8493-70D66FF17B40}"/>
              </a:ext>
            </a:extLst>
          </p:cNvPr>
          <p:cNvSpPr/>
          <p:nvPr/>
        </p:nvSpPr>
        <p:spPr>
          <a:xfrm>
            <a:off x="3321328" y="4441367"/>
            <a:ext cx="1980000" cy="54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Сборщик событий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6AE01DF-212B-AD7E-3D2F-75F32B94BE12}"/>
              </a:ext>
            </a:extLst>
          </p:cNvPr>
          <p:cNvCxnSpPr>
            <a:cxnSpLocks/>
            <a:stCxn id="29" idx="1"/>
            <a:endCxn id="28" idx="3"/>
          </p:cNvCxnSpPr>
          <p:nvPr/>
        </p:nvCxnSpPr>
        <p:spPr>
          <a:xfrm flipH="1">
            <a:off x="2331328" y="4715088"/>
            <a:ext cx="99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B6BAA96-BE07-1B4A-D2B9-A995DC50F03B}"/>
              </a:ext>
            </a:extLst>
          </p:cNvPr>
          <p:cNvSpPr txBox="1"/>
          <p:nvPr/>
        </p:nvSpPr>
        <p:spPr>
          <a:xfrm>
            <a:off x="2479919" y="4067602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Pull </a:t>
            </a:r>
            <a:endParaRPr lang="ru-RU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AD42440-1404-37E4-4437-7BB653FD8E12}"/>
              </a:ext>
            </a:extLst>
          </p:cNvPr>
          <p:cNvSpPr/>
          <p:nvPr/>
        </p:nvSpPr>
        <p:spPr>
          <a:xfrm>
            <a:off x="6460288" y="1849471"/>
            <a:ext cx="2393151" cy="14055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Источник событий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DD7E66-9F3C-2EF0-C722-CAAABB75F7E9}"/>
              </a:ext>
            </a:extLst>
          </p:cNvPr>
          <p:cNvSpPr/>
          <p:nvPr/>
        </p:nvSpPr>
        <p:spPr>
          <a:xfrm>
            <a:off x="9181235" y="1849470"/>
            <a:ext cx="2393151" cy="14055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Лог коллектор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4F24560-FBB8-1CF2-58D6-C0B116E270BC}"/>
              </a:ext>
            </a:extLst>
          </p:cNvPr>
          <p:cNvSpPr/>
          <p:nvPr/>
        </p:nvSpPr>
        <p:spPr>
          <a:xfrm>
            <a:off x="9430289" y="2365733"/>
            <a:ext cx="1980000" cy="54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Сборщик событий</a:t>
            </a:r>
          </a:p>
        </p:txBody>
      </p:sp>
      <p:sp>
        <p:nvSpPr>
          <p:cNvPr id="41" name="Cylinder 40">
            <a:extLst>
              <a:ext uri="{FF2B5EF4-FFF2-40B4-BE49-F238E27FC236}">
                <a16:creationId xmlns:a16="http://schemas.microsoft.com/office/drawing/2014/main" id="{C1652832-FC2C-09C9-836C-A96C2AA14E09}"/>
              </a:ext>
            </a:extLst>
          </p:cNvPr>
          <p:cNvSpPr/>
          <p:nvPr/>
        </p:nvSpPr>
        <p:spPr>
          <a:xfrm>
            <a:off x="6666863" y="2177492"/>
            <a:ext cx="1980000" cy="92392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Локальный журнал событий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73B5D11-EB57-F0B0-AD93-D0F8FBD62261}"/>
              </a:ext>
            </a:extLst>
          </p:cNvPr>
          <p:cNvCxnSpPr>
            <a:cxnSpLocks/>
            <a:stCxn id="41" idx="4"/>
            <a:endCxn id="40" idx="1"/>
          </p:cNvCxnSpPr>
          <p:nvPr/>
        </p:nvCxnSpPr>
        <p:spPr>
          <a:xfrm flipV="1">
            <a:off x="8646863" y="2639454"/>
            <a:ext cx="7834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EC54CD45-3471-DEC9-652F-E4F5BF2492CA}"/>
              </a:ext>
            </a:extLst>
          </p:cNvPr>
          <p:cNvSpPr/>
          <p:nvPr/>
        </p:nvSpPr>
        <p:spPr>
          <a:xfrm>
            <a:off x="6460288" y="3840519"/>
            <a:ext cx="2393151" cy="274476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Источник событий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0FEE7E2-6DD4-3F59-EDDF-C7DBBAC73EA9}"/>
              </a:ext>
            </a:extLst>
          </p:cNvPr>
          <p:cNvSpPr/>
          <p:nvPr/>
        </p:nvSpPr>
        <p:spPr>
          <a:xfrm>
            <a:off x="9181235" y="3840517"/>
            <a:ext cx="2393151" cy="27447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 хранения событий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3A93689-150E-96FA-6109-8AD1DE488242}"/>
              </a:ext>
            </a:extLst>
          </p:cNvPr>
          <p:cNvSpPr/>
          <p:nvPr/>
        </p:nvSpPr>
        <p:spPr>
          <a:xfrm>
            <a:off x="6648857" y="5040860"/>
            <a:ext cx="1980000" cy="54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Сборщик событий</a:t>
            </a:r>
          </a:p>
        </p:txBody>
      </p:sp>
      <p:sp>
        <p:nvSpPr>
          <p:cNvPr id="48" name="Cylinder 47">
            <a:extLst>
              <a:ext uri="{FF2B5EF4-FFF2-40B4-BE49-F238E27FC236}">
                <a16:creationId xmlns:a16="http://schemas.microsoft.com/office/drawing/2014/main" id="{0547EA17-A5E9-8806-1AC9-C00C971B2A15}"/>
              </a:ext>
            </a:extLst>
          </p:cNvPr>
          <p:cNvSpPr/>
          <p:nvPr/>
        </p:nvSpPr>
        <p:spPr>
          <a:xfrm>
            <a:off x="6648857" y="5801393"/>
            <a:ext cx="1980000" cy="68695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Локальный журнал событий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D105A0C-FBC8-AD7E-31B0-2CDBA50588E4}"/>
              </a:ext>
            </a:extLst>
          </p:cNvPr>
          <p:cNvCxnSpPr>
            <a:cxnSpLocks/>
            <a:stCxn id="48" idx="1"/>
            <a:endCxn id="47" idx="2"/>
          </p:cNvCxnSpPr>
          <p:nvPr/>
        </p:nvCxnSpPr>
        <p:spPr>
          <a:xfrm flipV="1">
            <a:off x="7638857" y="5588302"/>
            <a:ext cx="0" cy="213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824B657-7B62-55E5-955C-4D6A0CB693E2}"/>
              </a:ext>
            </a:extLst>
          </p:cNvPr>
          <p:cNvSpPr/>
          <p:nvPr/>
        </p:nvSpPr>
        <p:spPr>
          <a:xfrm>
            <a:off x="347101" y="1836024"/>
            <a:ext cx="1980000" cy="54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Источник событий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B73E16-080D-8C90-B6C6-34E7561D401E}"/>
              </a:ext>
            </a:extLst>
          </p:cNvPr>
          <p:cNvSpPr/>
          <p:nvPr/>
        </p:nvSpPr>
        <p:spPr>
          <a:xfrm>
            <a:off x="3317101" y="1836024"/>
            <a:ext cx="1980000" cy="54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Сборщик событий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E3B6BD-CE55-4837-8B5F-20AE3F71B03C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2327101" y="2109745"/>
            <a:ext cx="99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30C937C-C0CF-7DAC-E043-8A38A63EA43F}"/>
              </a:ext>
            </a:extLst>
          </p:cNvPr>
          <p:cNvSpPr txBox="1"/>
          <p:nvPr/>
        </p:nvSpPr>
        <p:spPr>
          <a:xfrm>
            <a:off x="2475692" y="1462259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Push 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C5F028-F17A-A933-2F2F-45A48031BAD1}"/>
              </a:ext>
            </a:extLst>
          </p:cNvPr>
          <p:cNvSpPr txBox="1"/>
          <p:nvPr/>
        </p:nvSpPr>
        <p:spPr>
          <a:xfrm>
            <a:off x="373577" y="2552442"/>
            <a:ext cx="48827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Инициируется источником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Минимальная задержка между возникновением и передачей события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FB73C0-C909-3779-A884-B4074FB572A8}"/>
              </a:ext>
            </a:extLst>
          </p:cNvPr>
          <p:cNvSpPr txBox="1"/>
          <p:nvPr/>
        </p:nvSpPr>
        <p:spPr>
          <a:xfrm>
            <a:off x="373577" y="5214585"/>
            <a:ext cx="48827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Инициируется сборщиком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 правило происходит по расписанию (больше задержка между возникновением и передачей)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Номер слайда 5">
            <a:extLst>
              <a:ext uri="{FF2B5EF4-FFF2-40B4-BE49-F238E27FC236}">
                <a16:creationId xmlns:a16="http://schemas.microsoft.com/office/drawing/2014/main" id="{539591A8-13B1-F7F8-D754-78D2F0CC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F9AC15E-FCD1-4167-800F-1DB8497ABFCE}" type="slidenum">
              <a:rPr lang="ru-RU" smtClean="0"/>
              <a:t>45</a:t>
            </a:fld>
            <a:endParaRPr lang="ru-RU" dirty="0"/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D86CD69E-D2E9-E977-E6F1-E480B87E5C30}"/>
              </a:ext>
            </a:extLst>
          </p:cNvPr>
          <p:cNvSpPr/>
          <p:nvPr/>
        </p:nvSpPr>
        <p:spPr>
          <a:xfrm>
            <a:off x="9387810" y="4852619"/>
            <a:ext cx="1980000" cy="92392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Хранилище событий</a:t>
            </a:r>
          </a:p>
        </p:txBody>
      </p:sp>
      <p:sp>
        <p:nvSpPr>
          <p:cNvPr id="44" name="Cylinder 43">
            <a:extLst>
              <a:ext uri="{FF2B5EF4-FFF2-40B4-BE49-F238E27FC236}">
                <a16:creationId xmlns:a16="http://schemas.microsoft.com/office/drawing/2014/main" id="{24BBECDE-8CA7-7375-13E3-5CCFF4A21DA4}"/>
              </a:ext>
            </a:extLst>
          </p:cNvPr>
          <p:cNvSpPr/>
          <p:nvPr/>
        </p:nvSpPr>
        <p:spPr>
          <a:xfrm>
            <a:off x="6648857" y="4167542"/>
            <a:ext cx="1980000" cy="68695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Кэш событий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C088297-4599-2153-3C5C-CFDB90F2A067}"/>
              </a:ext>
            </a:extLst>
          </p:cNvPr>
          <p:cNvCxnSpPr>
            <a:cxnSpLocks/>
          </p:cNvCxnSpPr>
          <p:nvPr/>
        </p:nvCxnSpPr>
        <p:spPr>
          <a:xfrm flipV="1">
            <a:off x="7638857" y="4843045"/>
            <a:ext cx="0" cy="205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AE58C0D-EAA3-4118-D3B8-24C7B158FB6D}"/>
              </a:ext>
            </a:extLst>
          </p:cNvPr>
          <p:cNvCxnSpPr>
            <a:cxnSpLocks/>
            <a:stCxn id="47" idx="3"/>
            <a:endCxn id="39" idx="2"/>
          </p:cNvCxnSpPr>
          <p:nvPr/>
        </p:nvCxnSpPr>
        <p:spPr>
          <a:xfrm>
            <a:off x="8628857" y="5314581"/>
            <a:ext cx="75895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B37EB8B-4A09-474B-9447-C363C206533F}"/>
              </a:ext>
            </a:extLst>
          </p:cNvPr>
          <p:cNvSpPr txBox="1"/>
          <p:nvPr/>
        </p:nvSpPr>
        <p:spPr>
          <a:xfrm>
            <a:off x="8190010" y="3457076"/>
            <a:ext cx="169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Агентный</a:t>
            </a:r>
            <a:r>
              <a:rPr lang="ru-RU" dirty="0"/>
              <a:t> сбор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59530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85868-43BA-CB23-2AB6-0555F6377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40E7B5-A419-F5C6-3EC2-9B5C93553EE9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5D8112BB-C722-7C1F-6B46-55B30DD44299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 err="1">
                <a:solidFill>
                  <a:srgbClr val="FF0000"/>
                </a:solidFill>
              </a:rPr>
              <a:t>Агентный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vs </a:t>
            </a:r>
            <a:r>
              <a:rPr lang="ru-RU" sz="2800" b="1" dirty="0" err="1">
                <a:solidFill>
                  <a:srgbClr val="FF0000"/>
                </a:solidFill>
              </a:rPr>
              <a:t>безагентный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9DF0DF-F25B-9571-DCFF-6570162CD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46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EC206032-90F8-4014-1151-6B1B4D655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2E2973-A1FB-7C82-0BB3-EAC771509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339495"/>
              </p:ext>
            </p:extLst>
          </p:nvPr>
        </p:nvGraphicFramePr>
        <p:xfrm>
          <a:off x="603100" y="1270000"/>
          <a:ext cx="11187846" cy="513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9282">
                  <a:extLst>
                    <a:ext uri="{9D8B030D-6E8A-4147-A177-3AD203B41FA5}">
                      <a16:colId xmlns:a16="http://schemas.microsoft.com/office/drawing/2014/main" val="430138463"/>
                    </a:ext>
                  </a:extLst>
                </a:gridCol>
                <a:gridCol w="3729282">
                  <a:extLst>
                    <a:ext uri="{9D8B030D-6E8A-4147-A177-3AD203B41FA5}">
                      <a16:colId xmlns:a16="http://schemas.microsoft.com/office/drawing/2014/main" val="644178881"/>
                    </a:ext>
                  </a:extLst>
                </a:gridCol>
                <a:gridCol w="3729282">
                  <a:extLst>
                    <a:ext uri="{9D8B030D-6E8A-4147-A177-3AD203B41FA5}">
                      <a16:colId xmlns:a16="http://schemas.microsoft.com/office/drawing/2014/main" val="1869498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Агентный</a:t>
                      </a:r>
                      <a:r>
                        <a:rPr lang="ru-RU" dirty="0"/>
                        <a:t> способ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Безагентный</a:t>
                      </a:r>
                      <a:r>
                        <a:rPr lang="ru-RU" dirty="0"/>
                        <a:t> способ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049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Требуется установка дополнительного ПО на источник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077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Кэширование на источнике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Зависит от источника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33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Возможность предобработки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Ограничена возможностями источника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2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Применимость на сетевых устройствах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Как правило, 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705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Точность меток времени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Высокая (время сбора почти совпадает со временем возникновения)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Зависит от синхронизации времени в сети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50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Дополнительная нагрузка на источник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Средняя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Зависит от способа сбора (от низкой до высокой)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446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Масштабирование и обслуживание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Сложное (требуется установка на разнородные узлы, обновление, контроль работы)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Простое (требуется только настройка доступа или пересылки)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883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0298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E6A6F-C435-DAF4-07A9-A5FD66B38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848DD30-6B39-A08D-9A73-9133100AED23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A7500027-F181-7AAD-681E-EFC54B05D58B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Пример </a:t>
            </a:r>
            <a:r>
              <a:rPr lang="ru-RU" sz="2800" b="1" dirty="0" err="1">
                <a:solidFill>
                  <a:srgbClr val="FF0000"/>
                </a:solidFill>
              </a:rPr>
              <a:t>агентного</a:t>
            </a:r>
            <a:r>
              <a:rPr lang="ru-RU" sz="2800" b="1" dirty="0">
                <a:solidFill>
                  <a:srgbClr val="FF0000"/>
                </a:solidFill>
              </a:rPr>
              <a:t> сбора</a:t>
            </a:r>
            <a:r>
              <a:rPr lang="en-US" sz="2800" b="1" dirty="0">
                <a:solidFill>
                  <a:srgbClr val="FF0000"/>
                </a:solidFill>
              </a:rPr>
              <a:t>: </a:t>
            </a:r>
            <a:r>
              <a:rPr lang="en-US" sz="2800" b="1" dirty="0" err="1">
                <a:solidFill>
                  <a:srgbClr val="FF0000"/>
                </a:solidFill>
              </a:rPr>
              <a:t>Rsyslog</a:t>
            </a:r>
            <a:r>
              <a:rPr lang="en-US" sz="2800" b="1" dirty="0">
                <a:solidFill>
                  <a:srgbClr val="FF0000"/>
                </a:solidFill>
              </a:rPr>
              <a:t> Windows Agent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669FB7-AEE7-81CB-0C7E-7A754576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47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FEB58FB7-E530-ED05-15D0-58BD3BC52D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C336E3-75C9-F805-92DF-181C161A2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620" y="1270000"/>
            <a:ext cx="9077325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486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620FA-DC9F-2FD1-487C-D21D54888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2135668-95A1-A42B-81CB-6CC5804A5D8E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7AA3A8AC-BDA8-44E3-75CC-DA30C0CBB3B6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Пример </a:t>
            </a:r>
            <a:r>
              <a:rPr lang="ru-RU" sz="2800" b="1" dirty="0" err="1">
                <a:solidFill>
                  <a:srgbClr val="FF0000"/>
                </a:solidFill>
              </a:rPr>
              <a:t>агентного</a:t>
            </a:r>
            <a:r>
              <a:rPr lang="ru-RU" sz="2800" b="1" dirty="0">
                <a:solidFill>
                  <a:srgbClr val="FF0000"/>
                </a:solidFill>
              </a:rPr>
              <a:t> сбора</a:t>
            </a:r>
            <a:r>
              <a:rPr lang="en-US" sz="2800" b="1" dirty="0">
                <a:solidFill>
                  <a:srgbClr val="FF0000"/>
                </a:solidFill>
              </a:rPr>
              <a:t>: </a:t>
            </a:r>
            <a:r>
              <a:rPr lang="en-US" sz="2800" b="1" dirty="0" err="1">
                <a:solidFill>
                  <a:srgbClr val="FF0000"/>
                </a:solidFill>
              </a:rPr>
              <a:t>Rsyslog</a:t>
            </a:r>
            <a:r>
              <a:rPr lang="en-US" sz="2800" b="1" dirty="0">
                <a:solidFill>
                  <a:srgbClr val="FF0000"/>
                </a:solidFill>
              </a:rPr>
              <a:t> Windows Agent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4E095D-575F-12B3-BA33-612F248B5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48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6B97AF40-B084-38F1-1F50-DEEA1E5B39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B73DF1-3346-121B-AFDB-CDAD226FE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1840" y="1206039"/>
            <a:ext cx="8820150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7516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19AB2-CE00-EF96-F914-6EBFA58EE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F8FC984-0A66-9572-B167-D3B0917A2FA6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CF507A91-7BAD-6F35-8B6E-84686D9CA9E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Пример </a:t>
            </a:r>
            <a:r>
              <a:rPr lang="ru-RU" sz="2800" b="1" dirty="0" err="1">
                <a:solidFill>
                  <a:srgbClr val="FF0000"/>
                </a:solidFill>
              </a:rPr>
              <a:t>безагентной</a:t>
            </a:r>
            <a:r>
              <a:rPr lang="ru-RU" sz="2800" b="1" dirty="0">
                <a:solidFill>
                  <a:srgbClr val="FF0000"/>
                </a:solidFill>
              </a:rPr>
              <a:t> пересылки</a:t>
            </a:r>
            <a:r>
              <a:rPr lang="en-US" sz="2800" b="1" dirty="0">
                <a:solidFill>
                  <a:srgbClr val="FF0000"/>
                </a:solidFill>
              </a:rPr>
              <a:t>: </a:t>
            </a:r>
            <a:r>
              <a:rPr lang="en-US" sz="2800" b="1" dirty="0" err="1">
                <a:solidFill>
                  <a:srgbClr val="FF0000"/>
                </a:solidFill>
              </a:rPr>
              <a:t>rsyslogd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47D830-7DE2-8F77-B828-C5CABEA8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49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F927562A-2285-9FFB-B830-B41742914A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8CC4EA-A3A8-C78B-1DF4-69EA56556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345" y="1737310"/>
            <a:ext cx="661987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965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3CE91-BD6E-7414-3BD2-CE414308C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503FC0A-A599-090B-9054-2B4C41FD994D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3AD180EC-5E79-1029-2D0D-42E684E388B9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Политика аудита</a:t>
            </a:r>
            <a:r>
              <a:rPr lang="en-US" sz="2800" b="1" dirty="0">
                <a:solidFill>
                  <a:srgbClr val="FF0000"/>
                </a:solidFill>
              </a:rPr>
              <a:t> – </a:t>
            </a:r>
            <a:r>
              <a:rPr lang="ru-RU" sz="2800" b="1" dirty="0">
                <a:solidFill>
                  <a:srgbClr val="FF0000"/>
                </a:solidFill>
              </a:rPr>
              <a:t>пример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81989B-4C56-847F-B166-C3701BD54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50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2C096877-7BBD-A9E2-3F99-3CCEB99DDB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BF8E33-A9E2-5941-2E52-20E3E6967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125" y="1192652"/>
            <a:ext cx="71437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24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F0AB8-79DE-096F-123B-163A1AC58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DB6DBD8-0096-6381-C714-EE2D3E9BF896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2B32B533-62A9-BA45-B737-9AFCEF48E9BE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Политика аудита</a:t>
            </a:r>
            <a:r>
              <a:rPr lang="en-US" sz="2800" b="1" dirty="0">
                <a:solidFill>
                  <a:srgbClr val="FF0000"/>
                </a:solidFill>
              </a:rPr>
              <a:t> – </a:t>
            </a:r>
            <a:r>
              <a:rPr lang="ru-RU" sz="2800" b="1" dirty="0">
                <a:solidFill>
                  <a:srgbClr val="FF0000"/>
                </a:solidFill>
              </a:rPr>
              <a:t>пример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F1342B-FEA9-8EDA-1F16-D9ED7E211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51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9291701D-1079-D8ED-8D9A-D72721E1D6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B3660A-5E3C-918D-58AD-AB0331FB4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6074" y="2093559"/>
            <a:ext cx="4410075" cy="43148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8D88D7-3B42-BF59-5E9B-A43769B8C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851" y="1118751"/>
            <a:ext cx="7407352" cy="528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3254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3218-8D2C-5462-5C17-5CA41A0A8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5E7E023-36BA-C8DE-2FCF-722702912003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D8E3997-45F9-C4AE-D636-7FBB40C09104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Фильтрация и ограничение количества событий - пример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802D80-1364-1024-4D7B-E749A68F4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52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AFF429F6-4154-82BC-5AD3-039084912E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43685B-49B7-AD11-F64F-D38AEDD2C7C9}"/>
              </a:ext>
            </a:extLst>
          </p:cNvPr>
          <p:cNvSpPr txBox="1"/>
          <p:nvPr/>
        </p:nvSpPr>
        <p:spPr>
          <a:xfrm>
            <a:off x="243173" y="1182231"/>
            <a:ext cx="609437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─────────────────────────────────────────────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RATE LIMITING — ограничение потока событий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─────────────────────────────────────────────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Глобальные настройки: не более 100 сообщений за 5 секунд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(применяется к каждому источнику/программе отдельно)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module(load=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 err="1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imuxsock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SysSock.RateLimit.Interval</a:t>
            </a: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"5"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SysSock.RateLimit.Burst</a:t>
            </a:r>
            <a:r>
              <a:rPr lang="ru-RU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"100"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B937B6-7107-FB65-2604-583F32912C8C}"/>
              </a:ext>
            </a:extLst>
          </p:cNvPr>
          <p:cNvSpPr txBox="1"/>
          <p:nvPr/>
        </p:nvSpPr>
        <p:spPr>
          <a:xfrm>
            <a:off x="6358283" y="1182231"/>
            <a:ext cx="609437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─────────────────────────────────────────────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RULESET </a:t>
            </a: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regex-</a:t>
            </a: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фильтрами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─────────────────────────────────────────────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ruleset(name=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 err="1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security_events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Фильтр: события аутентификации (SSH, </a:t>
            </a:r>
            <a:r>
              <a:rPr lang="ru-RU" sz="1400" i="1" dirty="0" err="1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i="1" dirty="0" err="1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>
                <a:solidFill>
                  <a:srgbClr val="A626A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re_match</a:t>
            </a: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8680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$msg</a:t>
            </a: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'(Failed </a:t>
            </a:r>
            <a:r>
              <a:rPr lang="en-US" sz="1400" dirty="0" err="1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password|Accepted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password|sudo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:|authentication </a:t>
            </a:r>
            <a:r>
              <a:rPr lang="en-US" sz="1400" dirty="0" err="1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failure|FAILED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)'</a:t>
            </a: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>
                <a:solidFill>
                  <a:srgbClr val="A626A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action(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dirty="0">
                <a:solidFill>
                  <a:srgbClr val="C1840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 err="1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omfwd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target=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"siem.example.com"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port=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"514"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protocol=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 err="1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template=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 err="1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ForwardFormat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Rate limit </a:t>
            </a: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этого</a:t>
            </a:r>
            <a:r>
              <a:rPr lang="en-US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action: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не более 20 сообщений в 10 секунд на </a:t>
            </a:r>
            <a:b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i="1" dirty="0">
                <a:solidFill>
                  <a:srgbClr val="A0A1A7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один IP-источник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action.execOnlyWhenPreviousIsSuspended</a:t>
            </a: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"off"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action.ratelimit.interval</a:t>
            </a: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"10"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ru-RU" sz="140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action.ratelimit.burst</a:t>
            </a:r>
            <a:r>
              <a:rPr lang="ru-RU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"20"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r>
              <a:rPr lang="ru-RU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не передавать дальше по цепочке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A1B2EE3-2905-4BA0-9118-A9746AA66E7A}"/>
              </a:ext>
            </a:extLst>
          </p:cNvPr>
          <p:cNvCxnSpPr/>
          <p:nvPr/>
        </p:nvCxnSpPr>
        <p:spPr>
          <a:xfrm>
            <a:off x="6225702" y="1099226"/>
            <a:ext cx="0" cy="562224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6FA6258-27CB-44EA-49B7-50EEC56EEADE}"/>
              </a:ext>
            </a:extLst>
          </p:cNvPr>
          <p:cNvSpPr txBox="1"/>
          <p:nvPr/>
        </p:nvSpPr>
        <p:spPr>
          <a:xfrm>
            <a:off x="175687" y="5336480"/>
            <a:ext cx="62293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─────────────────────────────────────────────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Привязка</a:t>
            </a:r>
            <a:r>
              <a:rPr lang="en-US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ruleset </a:t>
            </a: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 источникам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─────────────────────────────────────────────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Применить</a:t>
            </a:r>
            <a:r>
              <a:rPr lang="en-US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ruleset </a:t>
            </a:r>
            <a:r>
              <a:rPr lang="ru-RU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 событиям от</a:t>
            </a:r>
            <a:r>
              <a:rPr lang="en-US" sz="14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auth/</a:t>
            </a:r>
            <a:r>
              <a:rPr lang="en-US" sz="1400" i="1" dirty="0" err="1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authpriv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auth,authpriv.*     action(</a:t>
            </a:r>
            <a:r>
              <a:rPr lang="en-US" sz="1400" dirty="0">
                <a:solidFill>
                  <a:srgbClr val="C1840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 err="1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mmruleset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ruleSet</a:t>
            </a: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 err="1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security_events</a:t>
            </a:r>
            <a:r>
              <a:rPr lang="en-US" sz="1400" dirty="0"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8261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C938-1709-5A2D-0E78-BFD27DB1C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7C889E7-EDC2-1887-512C-91BEA0AA2FA2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D1FE0E8A-835F-E912-FE10-0B6AE50FF10D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Нормализация событий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A61D39-EC00-42EE-AB81-DA75DE101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53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CACA87D7-BE04-C31E-2DB4-44DA89B8E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1A8E32-31D4-81B5-193C-CC8665CDB6BB}"/>
              </a:ext>
            </a:extLst>
          </p:cNvPr>
          <p:cNvSpPr txBox="1"/>
          <p:nvPr/>
        </p:nvSpPr>
        <p:spPr>
          <a:xfrm>
            <a:off x="349541" y="1177983"/>
            <a:ext cx="114414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Нормализация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приведение событий из разнородных источников к единой схеме полей, типов данных и форматов</a:t>
            </a:r>
          </a:p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Цель нормализации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обеспечить </a:t>
            </a:r>
            <a:r>
              <a:rPr lang="ru-RU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сравнимость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событий между собой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2EA558-6E73-A2FD-8EF5-7994987B8A24}"/>
              </a:ext>
            </a:extLst>
          </p:cNvPr>
          <p:cNvSpPr txBox="1"/>
          <p:nvPr/>
        </p:nvSpPr>
        <p:spPr>
          <a:xfrm>
            <a:off x="2057400" y="2857234"/>
            <a:ext cx="2015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До нормализации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2A67B-C635-0F2B-0112-45E3AEBB00C4}"/>
              </a:ext>
            </a:extLst>
          </p:cNvPr>
          <p:cNvSpPr txBox="1"/>
          <p:nvPr/>
        </p:nvSpPr>
        <p:spPr>
          <a:xfrm>
            <a:off x="8466918" y="2857234"/>
            <a:ext cx="234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После нормализации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6E5A74-01E2-105A-BCF4-B8A2DEA06FD5}"/>
              </a:ext>
            </a:extLst>
          </p:cNvPr>
          <p:cNvSpPr txBox="1"/>
          <p:nvPr/>
        </p:nvSpPr>
        <p:spPr>
          <a:xfrm>
            <a:off x="349541" y="372474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Windows:  "An account was successfully logged on. Subject: Security ID: S-1-5-18“</a:t>
            </a:r>
          </a:p>
          <a:p>
            <a:pPr marL="0" indent="0">
              <a:buNone/>
            </a:pPr>
            <a:endParaRPr lang="en-US" sz="1400" dirty="0">
              <a:solidFill>
                <a:srgbClr val="0D1B2A"/>
              </a:solidFill>
              <a:latin typeface="Consolas" pitchFamily="34" charset="0"/>
            </a:endParaRPr>
          </a:p>
          <a:p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Linux:    "</a:t>
            </a:r>
            <a:r>
              <a:rPr lang="en-US" sz="1400" dirty="0" err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sshd</a:t>
            </a: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[1234]: Accepted password for root from 10.0.0.5 port 22 ssh2“</a:t>
            </a:r>
          </a:p>
          <a:p>
            <a:endParaRPr lang="en-US" sz="1400" dirty="0">
              <a:solidFill>
                <a:srgbClr val="0D1B2A"/>
              </a:solidFill>
              <a:latin typeface="Consolas" pitchFamily="34" charset="0"/>
            </a:endParaRPr>
          </a:p>
          <a:p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Cisco FW: "%ASA-6-302013: Built inbound TCP conn 12345 for 1.2.3.4/80 to 10.0.0.1/1234"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B8EBC61-083D-E3C4-CAE1-682433EC3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405567"/>
              </p:ext>
            </p:extLst>
          </p:nvPr>
        </p:nvGraphicFramePr>
        <p:xfrm>
          <a:off x="7002970" y="3531027"/>
          <a:ext cx="4787977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00377">
                  <a:extLst>
                    <a:ext uri="{9D8B030D-6E8A-4147-A177-3AD203B41FA5}">
                      <a16:colId xmlns:a16="http://schemas.microsoft.com/office/drawing/2014/main" val="4185802451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3119828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2024-03-01T12:00:00Z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939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>
                          <a:solidFill>
                            <a:srgbClr val="00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event.type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119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>
                          <a:solidFill>
                            <a:srgbClr val="00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event.action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logon-success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297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>
                          <a:solidFill>
                            <a:srgbClr val="00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source.ip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10.0.0.5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190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user.name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12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Linux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467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11085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C2B4E-9391-9F28-C107-A023A3553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CEE4603-835B-C0AA-3B34-4C5176A50D56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A6563369-03FB-BA41-156E-80C5A9E71537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Форматы нормализованных событий</a:t>
            </a:r>
            <a:r>
              <a:rPr lang="en-US" sz="2800" b="1" dirty="0">
                <a:solidFill>
                  <a:srgbClr val="FF0000"/>
                </a:solidFill>
              </a:rPr>
              <a:t> – Common Event Format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FC73D7-BABA-2D46-3991-0B936A7D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54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50A48F4B-0DA5-FE85-F587-273A1801E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E2177B-2D15-F7C0-59C1-D5879B7FA4FF}"/>
              </a:ext>
            </a:extLst>
          </p:cNvPr>
          <p:cNvSpPr txBox="1"/>
          <p:nvPr/>
        </p:nvSpPr>
        <p:spPr>
          <a:xfrm>
            <a:off x="207888" y="941338"/>
            <a:ext cx="118063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Syslog 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событие вида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b="0" i="0" dirty="0" err="1">
                <a:solidFill>
                  <a:srgbClr val="333333"/>
                </a:solidFill>
                <a:effectLst/>
                <a:latin typeface="Menlo"/>
              </a:rPr>
              <a:t>CEF:Version|Device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/>
              </a:rPr>
              <a:t>Vendor|Device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/>
              </a:rPr>
              <a:t>Product|Device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/>
              </a:rPr>
              <a:t>Version|Signature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/>
              </a:rPr>
              <a:t>ID|Name|Severity|Extension</a:t>
            </a:r>
            <a:endParaRPr lang="ru-RU" b="0" i="0" dirty="0">
              <a:solidFill>
                <a:srgbClr val="333333"/>
              </a:solidFill>
              <a:effectLst/>
              <a:latin typeface="Menlo"/>
            </a:endParaRPr>
          </a:p>
          <a:p>
            <a:endParaRPr lang="ru-RU" dirty="0">
              <a:solidFill>
                <a:srgbClr val="333333"/>
              </a:solidFill>
              <a:latin typeface="Menlo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solidFill>
                  <a:srgbClr val="333333"/>
                </a:solidFill>
                <a:latin typeface="Menlo"/>
                <a:ea typeface="Calibri" panose="020F0502020204030204" pitchFamily="34" charset="0"/>
                <a:cs typeface="Calibri" panose="020F0502020204030204" pitchFamily="34" charset="0"/>
              </a:rPr>
              <a:t>Где</a:t>
            </a:r>
            <a:r>
              <a:rPr lang="en-US" dirty="0">
                <a:solidFill>
                  <a:srgbClr val="333333"/>
                </a:solidFill>
                <a:latin typeface="Menlo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Version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версия формата CEF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Device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Vendor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Device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ru-RU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Device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Version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эти строки однозначно идентифицируют источник событий. Не существует продуктов, у которых будет одинаковый набор этих трех значений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Signature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уникальный идентификатор типа события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понятное человеку описание события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Severity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важность события (от 0 до 10)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Extension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набор пар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ключ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&gt;=&lt;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значение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список ключей и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типов значений установлен форматом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CEF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7753E6-2928-39B1-3B3C-22960C9AAEC6}"/>
              </a:ext>
            </a:extLst>
          </p:cNvPr>
          <p:cNvSpPr txBox="1"/>
          <p:nvPr/>
        </p:nvSpPr>
        <p:spPr>
          <a:xfrm>
            <a:off x="177801" y="4202842"/>
            <a:ext cx="116884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Dec 6 16:52:22 IP Dec 06 16:51:38 hostname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    CEF:0|JATP|Cortex|3.6.0.1444|email|Phishing|8|externalId=1504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consolata" pitchFamily="1" charset="0"/>
              </a:rPr>
              <a:t>eventId</a:t>
            </a: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=14067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consolata" pitchFamily="1" charset="0"/>
              </a:rPr>
              <a:t>lastActivityTime</a:t>
            </a: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=2016-12-06 23:51:38+00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consolata" pitchFamily="1" charset="0"/>
              </a:rPr>
              <a:t>src</a:t>
            </a: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consolata" pitchFamily="1" charset="0"/>
              </a:rPr>
              <a:t>dst</a:t>
            </a: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=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consolata" pitchFamily="1" charset="0"/>
              </a:rPr>
              <a:t>src_hostname</a:t>
            </a: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consolata" pitchFamily="1" charset="0"/>
              </a:rPr>
              <a:t>dst_hostname</a:t>
            </a: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consolata" pitchFamily="1" charset="0"/>
              </a:rPr>
              <a:t>src_username</a:t>
            </a: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consolata" pitchFamily="1" charset="0"/>
              </a:rPr>
              <a:t>dst_username</a:t>
            </a: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=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    </a:t>
            </a:r>
            <a:r>
              <a:rPr lang="en-US" dirty="0">
                <a:solidFill>
                  <a:srgbClr val="000000"/>
                </a:solidFill>
                <a:latin typeface="Inconsolata" pitchFamily="1" charset="0"/>
              </a:rPr>
              <a:t>src_email_id=src@abc.com </a:t>
            </a: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dst_email_id=</a:t>
            </a:r>
            <a:r>
              <a:rPr lang="en-US" dirty="0">
                <a:solidFill>
                  <a:srgbClr val="000000"/>
                </a:solidFill>
                <a:latin typeface="Inconsolata" pitchFamily="1" charset="0"/>
              </a:rPr>
              <a:t>test@abc.com</a:t>
            </a: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consolata" pitchFamily="1" charset="0"/>
              </a:rPr>
              <a:t>startTime</a:t>
            </a: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=2016-12- 06 23:51:38+00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consolata" pitchFamily="1" charset="0"/>
              </a:rPr>
              <a:t>url</a:t>
            </a: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=</a:t>
            </a:r>
            <a:r>
              <a:rPr lang="en-US" b="0" i="1" dirty="0">
                <a:solidFill>
                  <a:srgbClr val="000000"/>
                </a:solidFill>
                <a:effectLst/>
                <a:latin typeface="Inconsolata" pitchFamily="1" charset="0"/>
              </a:rPr>
              <a:t>http://greatfilesarey.asia/QA/files_to_pcaps/</a:t>
            </a: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74280968a4917da52b5555351eeda969.bin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consolata" pitchFamily="1" charset="0"/>
              </a:rPr>
              <a:t>fileHash</a:t>
            </a: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=bce00351cfc559afec5beb90ea387b03788e4af5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consolata" pitchFamily="1" charset="0"/>
              </a:rPr>
              <a:t>fileType</a:t>
            </a: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=PE32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consolata" pitchFamily="1" charset="0"/>
              </a:rPr>
              <a:t>executable (GUI) Intel 80386, for MS Windows</a:t>
            </a:r>
          </a:p>
        </p:txBody>
      </p:sp>
    </p:spTree>
    <p:extLst>
      <p:ext uri="{BB962C8B-B14F-4D97-AF65-F5344CB8AC3E}">
        <p14:creationId xmlns:p14="http://schemas.microsoft.com/office/powerpoint/2010/main" val="7130538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D981B-15A7-DD0E-131A-29F62E92B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CC34BA1-C5A9-8551-FA1B-8A14B583CDC8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DBCCB7C9-32B3-EC2E-DAF9-0D4B1647FC40}"/>
              </a:ext>
            </a:extLst>
          </p:cNvPr>
          <p:cNvSpPr txBox="1"/>
          <p:nvPr/>
        </p:nvSpPr>
        <p:spPr>
          <a:xfrm>
            <a:off x="2057400" y="219959"/>
            <a:ext cx="9956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Форматы нормализованных событий</a:t>
            </a:r>
            <a:r>
              <a:rPr lang="en-US" sz="2800" b="1" dirty="0">
                <a:solidFill>
                  <a:srgbClr val="FF0000"/>
                </a:solidFill>
              </a:rPr>
              <a:t> – Elastic Common Schema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796427-ED54-DD09-3B92-65A205E0C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55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6437AF33-915D-C1D9-3F2C-AD4605D837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4C8332-77FD-D43C-D02A-A4A5DC1F0EAB}"/>
              </a:ext>
            </a:extLst>
          </p:cNvPr>
          <p:cNvSpPr txBox="1"/>
          <p:nvPr/>
        </p:nvSpPr>
        <p:spPr>
          <a:xfrm>
            <a:off x="1009802" y="1304989"/>
            <a:ext cx="10343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Elastic common sch</a:t>
            </a:r>
            <a:r>
              <a:rPr lang="en-US" b="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 </a:t>
            </a: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ru-RU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представление событий в виде </a:t>
            </a: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JSON</a:t>
            </a:r>
            <a:r>
              <a:rPr lang="ru-RU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документа с предопределенными наборами полей (</a:t>
            </a: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Field sets). </a:t>
            </a:r>
            <a:r>
              <a:rPr lang="ru-RU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Специальный набор полей </a:t>
            </a: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</a:t>
            </a:r>
            <a:r>
              <a:rPr lang="ru-RU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содержит поля, представленные в корне документа.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F3B3F0-4555-10EA-047B-CEED3E77A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269488"/>
              </p:ext>
            </p:extLst>
          </p:nvPr>
        </p:nvGraphicFramePr>
        <p:xfrm>
          <a:off x="1016134" y="2591544"/>
          <a:ext cx="1018981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1818">
                  <a:extLst>
                    <a:ext uri="{9D8B030D-6E8A-4147-A177-3AD203B41FA5}">
                      <a16:colId xmlns:a16="http://schemas.microsoft.com/office/drawing/2014/main" val="520928249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3424374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Название набора полей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Краткое 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735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Базовый набор полей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077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Поля, описывающие агента мониторинга (сборщик событий)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203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Client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Поля, описывающие сторону субъекта (инициатора)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726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Event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Поля, описывающие детали события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130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Server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Поля, описывающие сторону объекта (сервера)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828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95429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214EA-58F6-FD44-E6AB-BF723858D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11DCD18-E0EC-487D-92B8-5D906F9966A2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FC2C5749-4581-F0E4-5DA5-A0EF33B33175}"/>
              </a:ext>
            </a:extLst>
          </p:cNvPr>
          <p:cNvSpPr txBox="1"/>
          <p:nvPr/>
        </p:nvSpPr>
        <p:spPr>
          <a:xfrm>
            <a:off x="2057400" y="219959"/>
            <a:ext cx="9956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Форматы нормализованных событий</a:t>
            </a:r>
            <a:r>
              <a:rPr lang="en-US" sz="2800" b="1" dirty="0">
                <a:solidFill>
                  <a:srgbClr val="FF0000"/>
                </a:solidFill>
              </a:rPr>
              <a:t> – Elastic Common Schema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C17276-1A33-9161-8837-2D395A2AA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56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A0C7ED06-D71D-757B-6A15-F825145208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431831-AE7C-E4F2-FA97-1B033F911F02}"/>
              </a:ext>
            </a:extLst>
          </p:cNvPr>
          <p:cNvSpPr txBox="1"/>
          <p:nvPr/>
        </p:nvSpPr>
        <p:spPr>
          <a:xfrm>
            <a:off x="117230" y="1089164"/>
            <a:ext cx="1189696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"_index"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 err="1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opensearch_dashboards_sample_data_logs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"_id"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"-FG7N5sBAaqORyG5ij4K"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"_version"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"_score"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669955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"host"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"artifacts.opensearch.org"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"index"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 err="1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opensearch_dashboards_sample_data_logs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</a:t>
            </a:r>
            <a:r>
              <a:rPr lang="en-US" sz="1200" dirty="0" err="1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"118.151.35.151"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"machine"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"ram"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16106127360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"</a:t>
            </a:r>
            <a:r>
              <a:rPr lang="en-US" sz="1200" dirty="0" err="1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 err="1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"memory"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669955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"message"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"118.151.35.151 - - [2018-09-20T21:45:26.749Z] \"GET /</a:t>
            </a:r>
            <a:r>
              <a:rPr lang="en-US" sz="1200" dirty="0" err="1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opensearch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/opensearch-1.0.0.deb HTTP/1.1\" 200 8823 \"-\" \"Mozilla/5.0 (X11; Linux i686) </a:t>
            </a:r>
            <a:r>
              <a:rPr lang="en-US" sz="1200" dirty="0" err="1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AppleWebKit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/534.24 (KHTML, like Gecko) Chrome/11.0.696.50 Safari/534.24\""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</a:t>
            </a:r>
            <a:r>
              <a:rPr lang="en-US" sz="1200" dirty="0" err="1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phpmemory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669955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</a:t>
            </a:r>
            <a:r>
              <a:rPr lang="en-US" sz="1200" dirty="0" err="1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referer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"http://nytimes.com/success/</a:t>
            </a:r>
            <a:r>
              <a:rPr lang="en-US" sz="1200" dirty="0" err="1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ulf-merbold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"request"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"/</a:t>
            </a:r>
            <a:r>
              <a:rPr lang="en-US" sz="1200" dirty="0" err="1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opensearch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/opensearch-1.0.0.deb"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"response"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"tags"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"success"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"security"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"timestamp"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"2026-02-05T21:45:26.749Z"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</a:t>
            </a:r>
            <a:r>
              <a:rPr lang="en-US" sz="1200" dirty="0" err="1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"https://artifacts.opensearch.org/downloads/</a:t>
            </a:r>
            <a:r>
              <a:rPr lang="en-US" sz="1200" dirty="0" err="1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opensearch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/opensearch-1.0.0.deb"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</a:t>
            </a:r>
            <a:r>
              <a:rPr lang="en-US" sz="1200" dirty="0" err="1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utc_time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"2026-02-05T21:45:26.749Z"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"event"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"dataset"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 err="1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sample_web_logs</a:t>
            </a:r>
            <a:r>
              <a:rPr lang="en-US" sz="12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4052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46CB6-CCFD-6A74-D771-AD554AA06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6">
            <a:extLst>
              <a:ext uri="{FF2B5EF4-FFF2-40B4-BE49-F238E27FC236}">
                <a16:creationId xmlns:a16="http://schemas.microsoft.com/office/drawing/2014/main" id="{4E6293B1-C696-DA6C-1331-F691613E2CF7}"/>
              </a:ext>
            </a:extLst>
          </p:cNvPr>
          <p:cNvSpPr/>
          <p:nvPr/>
        </p:nvSpPr>
        <p:spPr>
          <a:xfrm>
            <a:off x="274319" y="3060517"/>
            <a:ext cx="5572003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E76B01C-B3B0-4FDD-A5B8-D1726AD703DD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2CA43CD6-83E8-64AF-676F-8A659F7F36C8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Требования к хранилищу событий безопасности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506583-867C-6B10-CE6F-CA5934DD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57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E0F621F5-EC59-243B-6E63-8B451524D7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2" name="Shape 6">
            <a:extLst>
              <a:ext uri="{FF2B5EF4-FFF2-40B4-BE49-F238E27FC236}">
                <a16:creationId xmlns:a16="http://schemas.microsoft.com/office/drawing/2014/main" id="{1AA87A67-8D07-F743-598E-EDD66B2164EE}"/>
              </a:ext>
            </a:extLst>
          </p:cNvPr>
          <p:cNvSpPr/>
          <p:nvPr/>
        </p:nvSpPr>
        <p:spPr>
          <a:xfrm>
            <a:off x="274319" y="1890085"/>
            <a:ext cx="5572003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9BB2C4A4-F8B1-DD2C-AEE7-462B1BAFA03A}"/>
              </a:ext>
            </a:extLst>
          </p:cNvPr>
          <p:cNvSpPr/>
          <p:nvPr/>
        </p:nvSpPr>
        <p:spPr>
          <a:xfrm>
            <a:off x="274320" y="1890085"/>
            <a:ext cx="804672" cy="1024128"/>
          </a:xfrm>
          <a:prstGeom prst="rect">
            <a:avLst/>
          </a:prstGeom>
          <a:solidFill>
            <a:srgbClr val="1A2B4A">
              <a:alpha val="90000"/>
            </a:srgbClr>
          </a:solidFill>
          <a:ln/>
        </p:spPr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090979A9-8CEF-454D-16B9-E8DB5B853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82693"/>
            <a:ext cx="438912" cy="438912"/>
          </a:xfrm>
          <a:prstGeom prst="rect">
            <a:avLst/>
          </a:prstGeom>
        </p:spPr>
      </p:pic>
      <p:sp>
        <p:nvSpPr>
          <p:cNvPr id="25" name="Text 8">
            <a:extLst>
              <a:ext uri="{FF2B5EF4-FFF2-40B4-BE49-F238E27FC236}">
                <a16:creationId xmlns:a16="http://schemas.microsoft.com/office/drawing/2014/main" id="{3E567ED0-5534-8888-23DB-098C593D965D}"/>
              </a:ext>
            </a:extLst>
          </p:cNvPr>
          <p:cNvSpPr/>
          <p:nvPr/>
        </p:nvSpPr>
        <p:spPr>
          <a:xfrm>
            <a:off x="1188720" y="1908373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Производительность записи</a:t>
            </a:r>
            <a:endParaRPr lang="en-US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5D7CE6B7-2C9F-F2DC-4DCB-0F484F0E6FBA}"/>
              </a:ext>
            </a:extLst>
          </p:cNvPr>
          <p:cNvSpPr/>
          <p:nvPr/>
        </p:nvSpPr>
        <p:spPr>
          <a:xfrm>
            <a:off x="1182493" y="2297394"/>
            <a:ext cx="4560327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</a:t>
            </a:r>
            <a:r>
              <a:rPr lang="en-US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</a:t>
            </a:r>
            <a:r>
              <a:rPr lang="en-US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вставки и обновления индексов</a:t>
            </a:r>
            <a:r>
              <a:rPr lang="en-US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тысячи</a:t>
            </a:r>
            <a:r>
              <a:rPr lang="en-US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EPS</a:t>
            </a:r>
            <a:r>
              <a:rPr lang="ru-RU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</a:t>
            </a:r>
            <a:r>
              <a:rPr lang="en-US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потерь</a:t>
            </a:r>
            <a:endParaRPr lang="en-US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6581BA0B-2A66-0B39-7B7D-F710A93C9AFC}"/>
              </a:ext>
            </a:extLst>
          </p:cNvPr>
          <p:cNvSpPr/>
          <p:nvPr/>
        </p:nvSpPr>
        <p:spPr>
          <a:xfrm>
            <a:off x="6150863" y="1876272"/>
            <a:ext cx="5701501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F3AE3544-32AE-4520-CB61-E6A5739C18DB}"/>
              </a:ext>
            </a:extLst>
          </p:cNvPr>
          <p:cNvSpPr/>
          <p:nvPr/>
        </p:nvSpPr>
        <p:spPr>
          <a:xfrm>
            <a:off x="6150864" y="1890085"/>
            <a:ext cx="804672" cy="1024128"/>
          </a:xfrm>
          <a:prstGeom prst="rect">
            <a:avLst/>
          </a:prstGeom>
          <a:solidFill>
            <a:srgbClr val="006E9E">
              <a:alpha val="90000"/>
            </a:srgbClr>
          </a:solidFill>
          <a:ln/>
        </p:spPr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F6746E7C-22C6-AF6F-4344-BE769B207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744" y="2182693"/>
            <a:ext cx="438912" cy="438912"/>
          </a:xfrm>
          <a:prstGeom prst="rect">
            <a:avLst/>
          </a:prstGeom>
        </p:spPr>
      </p:pic>
      <p:sp>
        <p:nvSpPr>
          <p:cNvPr id="30" name="Text 12">
            <a:extLst>
              <a:ext uri="{FF2B5EF4-FFF2-40B4-BE49-F238E27FC236}">
                <a16:creationId xmlns:a16="http://schemas.microsoft.com/office/drawing/2014/main" id="{C72847DB-A94D-E3D4-EADE-BE52846B775C}"/>
              </a:ext>
            </a:extLst>
          </p:cNvPr>
          <p:cNvSpPr/>
          <p:nvPr/>
        </p:nvSpPr>
        <p:spPr>
          <a:xfrm>
            <a:off x="7056120" y="18902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поиска</a:t>
            </a:r>
            <a:endParaRPr lang="en-US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93C6F0D9-20D4-CC41-B58B-56E982D073F2}"/>
              </a:ext>
            </a:extLst>
          </p:cNvPr>
          <p:cNvSpPr/>
          <p:nvPr/>
        </p:nvSpPr>
        <p:spPr>
          <a:xfrm>
            <a:off x="7056119" y="2334891"/>
            <a:ext cx="4788407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временных диапазонов и полнотекстового поиска</a:t>
            </a:r>
            <a:endParaRPr lang="en-US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7EC201F6-D7AD-6E4C-12DB-84846B167BCC}"/>
              </a:ext>
            </a:extLst>
          </p:cNvPr>
          <p:cNvSpPr/>
          <p:nvPr/>
        </p:nvSpPr>
        <p:spPr>
          <a:xfrm>
            <a:off x="274320" y="3060517"/>
            <a:ext cx="804672" cy="1024128"/>
          </a:xfrm>
          <a:prstGeom prst="rect">
            <a:avLst/>
          </a:prstGeom>
          <a:solidFill>
            <a:srgbClr val="E07B39">
              <a:alpha val="90000"/>
            </a:srgbClr>
          </a:solidFill>
          <a:ln/>
        </p:spPr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9FFCDC94-2552-9BBF-6C5C-10D4D3BEF4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53125"/>
            <a:ext cx="438912" cy="438912"/>
          </a:xfrm>
          <a:prstGeom prst="rect">
            <a:avLst/>
          </a:prstGeom>
        </p:spPr>
      </p:pic>
      <p:sp>
        <p:nvSpPr>
          <p:cNvPr id="35" name="Text 16">
            <a:extLst>
              <a:ext uri="{FF2B5EF4-FFF2-40B4-BE49-F238E27FC236}">
                <a16:creationId xmlns:a16="http://schemas.microsoft.com/office/drawing/2014/main" id="{13E4EF8B-D7D3-E961-8338-621E7D1B204E}"/>
              </a:ext>
            </a:extLst>
          </p:cNvPr>
          <p:cNvSpPr/>
          <p:nvPr/>
        </p:nvSpPr>
        <p:spPr>
          <a:xfrm>
            <a:off x="1188720" y="3078805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Масштабируемость</a:t>
            </a:r>
            <a:endParaRPr lang="en-US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903BD3FE-37DD-88CD-4991-CE6900737DAA}"/>
              </a:ext>
            </a:extLst>
          </p:cNvPr>
          <p:cNvSpPr/>
          <p:nvPr/>
        </p:nvSpPr>
        <p:spPr>
          <a:xfrm>
            <a:off x="1188720" y="3490285"/>
            <a:ext cx="465760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Горизонтальное масштабирование при росте объёмов</a:t>
            </a:r>
            <a:endParaRPr lang="en-US" dirty="0"/>
          </a:p>
        </p:txBody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894DBEFE-5DF7-6F21-0983-AA230FE3563F}"/>
              </a:ext>
            </a:extLst>
          </p:cNvPr>
          <p:cNvSpPr/>
          <p:nvPr/>
        </p:nvSpPr>
        <p:spPr>
          <a:xfrm>
            <a:off x="6172586" y="3078805"/>
            <a:ext cx="56719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19">
            <a:extLst>
              <a:ext uri="{FF2B5EF4-FFF2-40B4-BE49-F238E27FC236}">
                <a16:creationId xmlns:a16="http://schemas.microsoft.com/office/drawing/2014/main" id="{4E801B6B-CD03-9E8A-3872-884F26E2FC53}"/>
              </a:ext>
            </a:extLst>
          </p:cNvPr>
          <p:cNvSpPr/>
          <p:nvPr/>
        </p:nvSpPr>
        <p:spPr>
          <a:xfrm>
            <a:off x="6150864" y="3078805"/>
            <a:ext cx="804672" cy="1024128"/>
          </a:xfrm>
          <a:prstGeom prst="rect">
            <a:avLst/>
          </a:prstGeom>
          <a:solidFill>
            <a:srgbClr val="D94040">
              <a:alpha val="90000"/>
            </a:srgbClr>
          </a:solidFill>
          <a:ln/>
        </p:spPr>
      </p:sp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5C9D10E5-4BA0-BED3-4FC8-71786F0EE6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3744" y="3371413"/>
            <a:ext cx="438912" cy="438912"/>
          </a:xfrm>
          <a:prstGeom prst="rect">
            <a:avLst/>
          </a:prstGeom>
        </p:spPr>
      </p:pic>
      <p:sp>
        <p:nvSpPr>
          <p:cNvPr id="40" name="Text 20">
            <a:extLst>
              <a:ext uri="{FF2B5EF4-FFF2-40B4-BE49-F238E27FC236}">
                <a16:creationId xmlns:a16="http://schemas.microsoft.com/office/drawing/2014/main" id="{1940DD3C-CE59-D18D-0969-83BD5E01F2A7}"/>
              </a:ext>
            </a:extLst>
          </p:cNvPr>
          <p:cNvSpPr/>
          <p:nvPr/>
        </p:nvSpPr>
        <p:spPr>
          <a:xfrm>
            <a:off x="7116693" y="308678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Целостность и неизменность</a:t>
            </a:r>
            <a:endParaRPr lang="en-US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CFC2E8F0-65BA-D7BD-52D2-5DB4637E7BBB}"/>
              </a:ext>
            </a:extLst>
          </p:cNvPr>
          <p:cNvSpPr/>
          <p:nvPr/>
        </p:nvSpPr>
        <p:spPr>
          <a:xfrm>
            <a:off x="7116693" y="3490285"/>
            <a:ext cx="474955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WORM-хранение, хэши и цифровые </a:t>
            </a:r>
            <a:r>
              <a:rPr lang="en-US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подписи</a:t>
            </a:r>
            <a:r>
              <a:rPr lang="en-US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записей</a:t>
            </a:r>
            <a:r>
              <a:rPr lang="ru-RU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(отдельных событий или порций)</a:t>
            </a:r>
            <a:endParaRPr lang="en-US" dirty="0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8AD3CB48-4620-908F-E5F6-F8BF74EF8FC0}"/>
              </a:ext>
            </a:extLst>
          </p:cNvPr>
          <p:cNvSpPr/>
          <p:nvPr/>
        </p:nvSpPr>
        <p:spPr>
          <a:xfrm>
            <a:off x="274319" y="4240093"/>
            <a:ext cx="11570206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079D6B9D-E281-9AF0-1ADC-5D6C425CC097}"/>
              </a:ext>
            </a:extLst>
          </p:cNvPr>
          <p:cNvSpPr/>
          <p:nvPr/>
        </p:nvSpPr>
        <p:spPr>
          <a:xfrm>
            <a:off x="265759" y="4230949"/>
            <a:ext cx="804672" cy="1024128"/>
          </a:xfrm>
          <a:prstGeom prst="rect">
            <a:avLst/>
          </a:prstGeom>
          <a:solidFill>
            <a:srgbClr val="2EAA6E">
              <a:alpha val="90000"/>
            </a:srgbClr>
          </a:solidFill>
          <a:ln/>
        </p:spPr>
      </p:sp>
      <p:pic>
        <p:nvPicPr>
          <p:cNvPr id="44" name="Image 4" descr="preencoded.png">
            <a:extLst>
              <a:ext uri="{FF2B5EF4-FFF2-40B4-BE49-F238E27FC236}">
                <a16:creationId xmlns:a16="http://schemas.microsoft.com/office/drawing/2014/main" id="{0428953F-789C-3C21-4678-022B001061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639" y="4523557"/>
            <a:ext cx="438912" cy="438912"/>
          </a:xfrm>
          <a:prstGeom prst="rect">
            <a:avLst/>
          </a:prstGeom>
        </p:spPr>
      </p:pic>
      <p:sp>
        <p:nvSpPr>
          <p:cNvPr id="45" name="Text 24">
            <a:extLst>
              <a:ext uri="{FF2B5EF4-FFF2-40B4-BE49-F238E27FC236}">
                <a16:creationId xmlns:a16="http://schemas.microsoft.com/office/drawing/2014/main" id="{FC31F2EB-F903-3098-EBEC-E6F292F2BF51}"/>
              </a:ext>
            </a:extLst>
          </p:cNvPr>
          <p:cNvSpPr/>
          <p:nvPr/>
        </p:nvSpPr>
        <p:spPr>
          <a:xfrm>
            <a:off x="1182492" y="4240093"/>
            <a:ext cx="343814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Политика хранения и доступа</a:t>
            </a:r>
            <a:endParaRPr lang="en-US" dirty="0"/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6CC861F2-E8DF-1E60-57BC-66FE3D086997}"/>
              </a:ext>
            </a:extLst>
          </p:cNvPr>
          <p:cNvSpPr/>
          <p:nvPr/>
        </p:nvSpPr>
        <p:spPr>
          <a:xfrm>
            <a:off x="1188719" y="4631533"/>
            <a:ext cx="1055464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Политики хранения: </a:t>
            </a:r>
            <a:r>
              <a:rPr lang="ru-RU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</a:t>
            </a:r>
            <a:r>
              <a:rPr lang="en-US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тёплый</a:t>
            </a:r>
            <a:r>
              <a:rPr lang="ru-RU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архив</a:t>
            </a:r>
            <a:r>
              <a:rPr lang="en-US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холодный</a:t>
            </a:r>
            <a:r>
              <a:rPr lang="ru-RU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архив</a:t>
            </a:r>
            <a:r>
              <a:rPr lang="en-US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(7 </a:t>
            </a:r>
            <a:r>
              <a:rPr lang="en-US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</a:t>
            </a:r>
            <a:r>
              <a:rPr lang="en-US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ru-RU" dirty="0">
              <a:solidFill>
                <a:srgbClr val="6B8C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Политики доступа</a:t>
            </a:r>
            <a:r>
              <a:rPr lang="en-US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ru-RU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на </a:t>
            </a:r>
            <a:r>
              <a:rPr lang="ru-RU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партиции</a:t>
            </a:r>
            <a:r>
              <a:rPr lang="ru-RU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типы событий, поля событий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8389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95212-EC22-7D2C-1B66-C15E6EB9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26F2BD8-4C96-6036-31F8-EB4472028BCE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379CD7B7-6CE8-78FB-3DB8-DD459543A976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Файловое хранилище для событий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E087E8-B227-7F5D-F422-CDC49B98A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58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08D374AE-CF55-EADD-F43A-E26215966F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D44CAD0-DFB8-3D03-50F3-C60ED794EE54}"/>
              </a:ext>
            </a:extLst>
          </p:cNvPr>
          <p:cNvSpPr/>
          <p:nvPr/>
        </p:nvSpPr>
        <p:spPr>
          <a:xfrm>
            <a:off x="1274565" y="2126358"/>
            <a:ext cx="1308978" cy="783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Текст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342D02-4F34-DE4F-AD07-DEC6F60140AE}"/>
              </a:ext>
            </a:extLst>
          </p:cNvPr>
          <p:cNvSpPr/>
          <p:nvPr/>
        </p:nvSpPr>
        <p:spPr>
          <a:xfrm>
            <a:off x="3473478" y="3804234"/>
            <a:ext cx="2216121" cy="783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Двоичный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1E5E0A-50C7-BA6E-C896-A3E566B1A45C}"/>
              </a:ext>
            </a:extLst>
          </p:cNvPr>
          <p:cNvSpPr/>
          <p:nvPr/>
        </p:nvSpPr>
        <p:spPr>
          <a:xfrm>
            <a:off x="3473478" y="4951847"/>
            <a:ext cx="2222472" cy="783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Сжатый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58D98-FC18-F4CC-ECDE-2865FD3B83E0}"/>
              </a:ext>
            </a:extLst>
          </p:cNvPr>
          <p:cNvSpPr/>
          <p:nvPr/>
        </p:nvSpPr>
        <p:spPr>
          <a:xfrm>
            <a:off x="3473479" y="1509008"/>
            <a:ext cx="2216120" cy="783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«Плоский» файл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F3074B-A782-64C4-E6A7-138015BBB063}"/>
              </a:ext>
            </a:extLst>
          </p:cNvPr>
          <p:cNvSpPr/>
          <p:nvPr/>
        </p:nvSpPr>
        <p:spPr>
          <a:xfrm>
            <a:off x="3473478" y="2656621"/>
            <a:ext cx="2216121" cy="783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Индексированные файлы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30ADBB4-6222-EC8C-122D-2CA3A71E306C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 flipV="1">
            <a:off x="2583543" y="1900894"/>
            <a:ext cx="889936" cy="617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BE489B0-2695-63B1-46E0-CEB0B7EE520F}"/>
              </a:ext>
            </a:extLst>
          </p:cNvPr>
          <p:cNvCxnSpPr>
            <a:stCxn id="10" idx="3"/>
            <a:endCxn id="14" idx="1"/>
          </p:cNvCxnSpPr>
          <p:nvPr/>
        </p:nvCxnSpPr>
        <p:spPr>
          <a:xfrm>
            <a:off x="2583543" y="2518244"/>
            <a:ext cx="889935" cy="530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ight Bracket 18">
            <a:extLst>
              <a:ext uri="{FF2B5EF4-FFF2-40B4-BE49-F238E27FC236}">
                <a16:creationId xmlns:a16="http://schemas.microsoft.com/office/drawing/2014/main" id="{3793299F-1230-3521-D26C-A451481CB379}"/>
              </a:ext>
            </a:extLst>
          </p:cNvPr>
          <p:cNvSpPr/>
          <p:nvPr/>
        </p:nvSpPr>
        <p:spPr>
          <a:xfrm>
            <a:off x="5695950" y="1430316"/>
            <a:ext cx="508000" cy="2125684"/>
          </a:xfrm>
          <a:prstGeom prst="rightBracket">
            <a:avLst>
              <a:gd name="adj" fmla="val 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288468-A359-6426-C3B6-0A5D476EA171}"/>
              </a:ext>
            </a:extLst>
          </p:cNvPr>
          <p:cNvSpPr txBox="1"/>
          <p:nvPr/>
        </p:nvSpPr>
        <p:spPr>
          <a:xfrm>
            <a:off x="6358283" y="1430316"/>
            <a:ext cx="48827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Читаются чем угодно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Подходит для длительного хранения (текст всегда можно будет прочитать)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Занимает много места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Ограниченная индексация (полное имя файла – дата)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Ограниченные возможности управления доступом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3493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F00E0-AE1E-F8B8-C1F3-6C3A50217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8465FD-4B9E-C627-80DE-77D09B1FD3AD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DC82638E-9C6A-7CF6-5155-8E97E624DE4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Файловое хранилище для событий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6C664D-86A8-A359-4830-9E6EBB33D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59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BCD4EBA7-9689-16CA-E61B-68199D6BD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C277E7F-425A-50E8-E9ED-37290B102337}"/>
              </a:ext>
            </a:extLst>
          </p:cNvPr>
          <p:cNvSpPr/>
          <p:nvPr/>
        </p:nvSpPr>
        <p:spPr>
          <a:xfrm>
            <a:off x="1274565" y="2126358"/>
            <a:ext cx="1308978" cy="783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Текст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88BC30-A2C1-F9F3-FBF9-7A64E109B9C7}"/>
              </a:ext>
            </a:extLst>
          </p:cNvPr>
          <p:cNvSpPr/>
          <p:nvPr/>
        </p:nvSpPr>
        <p:spPr>
          <a:xfrm>
            <a:off x="3473478" y="3804234"/>
            <a:ext cx="2216121" cy="783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Двоичный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C5695A-1470-55CE-9F4A-52D7C637BE2C}"/>
              </a:ext>
            </a:extLst>
          </p:cNvPr>
          <p:cNvSpPr/>
          <p:nvPr/>
        </p:nvSpPr>
        <p:spPr>
          <a:xfrm>
            <a:off x="3473478" y="4951847"/>
            <a:ext cx="2222472" cy="783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Сжатый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ABD9C6-E497-BB83-9E84-296959B07BF6}"/>
              </a:ext>
            </a:extLst>
          </p:cNvPr>
          <p:cNvSpPr/>
          <p:nvPr/>
        </p:nvSpPr>
        <p:spPr>
          <a:xfrm>
            <a:off x="3473479" y="1509008"/>
            <a:ext cx="2216120" cy="783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«Плоский» файл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1C7939-A221-EA6A-74EB-C6B909DC75EA}"/>
              </a:ext>
            </a:extLst>
          </p:cNvPr>
          <p:cNvSpPr/>
          <p:nvPr/>
        </p:nvSpPr>
        <p:spPr>
          <a:xfrm>
            <a:off x="3473478" y="2656621"/>
            <a:ext cx="2216121" cy="783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Индексированные файлы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10702D-EF2C-3933-134E-9F11CC46CD42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 flipV="1">
            <a:off x="2583543" y="1900894"/>
            <a:ext cx="889936" cy="617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4508903-F9D2-E6B3-B472-B5CB7605F6DF}"/>
              </a:ext>
            </a:extLst>
          </p:cNvPr>
          <p:cNvCxnSpPr>
            <a:stCxn id="10" idx="3"/>
            <a:endCxn id="14" idx="1"/>
          </p:cNvCxnSpPr>
          <p:nvPr/>
        </p:nvCxnSpPr>
        <p:spPr>
          <a:xfrm>
            <a:off x="2583543" y="2518244"/>
            <a:ext cx="889935" cy="530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ight Bracket 18">
            <a:extLst>
              <a:ext uri="{FF2B5EF4-FFF2-40B4-BE49-F238E27FC236}">
                <a16:creationId xmlns:a16="http://schemas.microsoft.com/office/drawing/2014/main" id="{19132D09-9570-BDD8-A825-8C21781DDCBE}"/>
              </a:ext>
            </a:extLst>
          </p:cNvPr>
          <p:cNvSpPr/>
          <p:nvPr/>
        </p:nvSpPr>
        <p:spPr>
          <a:xfrm>
            <a:off x="5695950" y="3613934"/>
            <a:ext cx="508000" cy="1139327"/>
          </a:xfrm>
          <a:prstGeom prst="rightBracket">
            <a:avLst>
              <a:gd name="adj" fmla="val 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CB87FB-574C-5D3C-FC50-8ED048FF0AD4}"/>
              </a:ext>
            </a:extLst>
          </p:cNvPr>
          <p:cNvSpPr txBox="1"/>
          <p:nvPr/>
        </p:nvSpPr>
        <p:spPr>
          <a:xfrm>
            <a:off x="6358283" y="3180456"/>
            <a:ext cx="48827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Требует специальное ПО для чтения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Риски недоступности через длительное время (не будет ПО, способного читать формат)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Требует меньше места для хранения и передачи (но неэффективно сжатие)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Риски нарушения целостности (небольшое искажение файла может сделать его целиком нечитаемым)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7423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FF715-E61E-E39A-FDB4-B88432EAB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89E1B76-8292-E69A-04C7-2E40D24744A5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D3420764-0E77-F23B-BA4F-6D2B7977D308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Файловое хранилище для событий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B3FE81-33EB-366D-F2FD-8A966D868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60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56770EC9-CC79-EED2-95FF-774D7ECD9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90E1293-BFFC-5D2C-01CD-89F78A696E06}"/>
              </a:ext>
            </a:extLst>
          </p:cNvPr>
          <p:cNvSpPr/>
          <p:nvPr/>
        </p:nvSpPr>
        <p:spPr>
          <a:xfrm>
            <a:off x="1274565" y="2126358"/>
            <a:ext cx="1308978" cy="783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Текст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AAC80D-957A-0122-37E3-C7788A787CC6}"/>
              </a:ext>
            </a:extLst>
          </p:cNvPr>
          <p:cNvSpPr/>
          <p:nvPr/>
        </p:nvSpPr>
        <p:spPr>
          <a:xfrm>
            <a:off x="3473478" y="3804234"/>
            <a:ext cx="2216121" cy="783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Двоичный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C03DC3-6706-E1D3-AA2F-36D666B97845}"/>
              </a:ext>
            </a:extLst>
          </p:cNvPr>
          <p:cNvSpPr/>
          <p:nvPr/>
        </p:nvSpPr>
        <p:spPr>
          <a:xfrm>
            <a:off x="3473478" y="4951847"/>
            <a:ext cx="2222472" cy="783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Сжатый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4F4777-80F6-23B6-2887-22A2F4B85A82}"/>
              </a:ext>
            </a:extLst>
          </p:cNvPr>
          <p:cNvSpPr/>
          <p:nvPr/>
        </p:nvSpPr>
        <p:spPr>
          <a:xfrm>
            <a:off x="3473479" y="1509008"/>
            <a:ext cx="2216120" cy="783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«Плоский» файл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EF1FB9-D107-1EAB-093F-88DBF3E3E191}"/>
              </a:ext>
            </a:extLst>
          </p:cNvPr>
          <p:cNvSpPr/>
          <p:nvPr/>
        </p:nvSpPr>
        <p:spPr>
          <a:xfrm>
            <a:off x="3473478" y="2656621"/>
            <a:ext cx="2216121" cy="783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Индексированные файлы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7A19B16-D5CF-6891-1D52-D2FC2F54C7EF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 flipV="1">
            <a:off x="2583543" y="1900894"/>
            <a:ext cx="889936" cy="617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B4FBD3-B668-2C4D-6C6B-74E84B06D3F7}"/>
              </a:ext>
            </a:extLst>
          </p:cNvPr>
          <p:cNvCxnSpPr>
            <a:stCxn id="10" idx="3"/>
            <a:endCxn id="14" idx="1"/>
          </p:cNvCxnSpPr>
          <p:nvPr/>
        </p:nvCxnSpPr>
        <p:spPr>
          <a:xfrm>
            <a:off x="2583543" y="2518244"/>
            <a:ext cx="889935" cy="530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ight Bracket 18">
            <a:extLst>
              <a:ext uri="{FF2B5EF4-FFF2-40B4-BE49-F238E27FC236}">
                <a16:creationId xmlns:a16="http://schemas.microsoft.com/office/drawing/2014/main" id="{6700962E-FD14-2AF9-44C6-9AB8B7901E55}"/>
              </a:ext>
            </a:extLst>
          </p:cNvPr>
          <p:cNvSpPr/>
          <p:nvPr/>
        </p:nvSpPr>
        <p:spPr>
          <a:xfrm>
            <a:off x="5695950" y="4806897"/>
            <a:ext cx="508000" cy="1082298"/>
          </a:xfrm>
          <a:prstGeom prst="rightBracket">
            <a:avLst>
              <a:gd name="adj" fmla="val 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5D3B9F-9B3A-F38D-5241-52A264FCF6EA}"/>
              </a:ext>
            </a:extLst>
          </p:cNvPr>
          <p:cNvSpPr txBox="1"/>
          <p:nvPr/>
        </p:nvSpPr>
        <p:spPr>
          <a:xfrm>
            <a:off x="6358283" y="4290244"/>
            <a:ext cx="48827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Исключает произвольный онлайн доступ (сначала необходимо распаковать файл)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Имеет смысл только для изначально текстовых форматов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Применяется в качестве архивного хранения (редкие обращения к содержимому)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Риски нарушения целостности (небольшое искажение файла может сделать его целиком нечитаемым)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5355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EAFBF-49A9-325D-FC9B-D6774C8EC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5EA495E-B7E5-839D-635B-D801BDBC93D2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1391784B-6CCD-C192-AC79-D44515E8B7FB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Хранение событий в реляционной БД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809407-E193-133A-1FCB-AC64D14E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61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BD975474-9856-C631-94A2-E4CAB94B8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Shape 6">
            <a:extLst>
              <a:ext uri="{FF2B5EF4-FFF2-40B4-BE49-F238E27FC236}">
                <a16:creationId xmlns:a16="http://schemas.microsoft.com/office/drawing/2014/main" id="{0B0CD862-5FA1-BE1B-4BD1-78E943528610}"/>
              </a:ext>
            </a:extLst>
          </p:cNvPr>
          <p:cNvSpPr/>
          <p:nvPr/>
        </p:nvSpPr>
        <p:spPr>
          <a:xfrm>
            <a:off x="274320" y="1760220"/>
            <a:ext cx="4389120" cy="333756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F5765C52-F37D-7193-0715-60E0CCD35975}"/>
              </a:ext>
            </a:extLst>
          </p:cNvPr>
          <p:cNvSpPr/>
          <p:nvPr/>
        </p:nvSpPr>
        <p:spPr>
          <a:xfrm>
            <a:off x="411480" y="1853411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схемы </a:t>
            </a:r>
            <a:r>
              <a:rPr lang="en-US" sz="1100" b="1" dirty="0" err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таблицы</a:t>
            </a: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событий</a:t>
            </a:r>
            <a:endParaRPr lang="en-US" sz="11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14BE8D52-09B9-4778-0034-60E1334C4EF2}"/>
              </a:ext>
            </a:extLst>
          </p:cNvPr>
          <p:cNvSpPr/>
          <p:nvPr/>
        </p:nvSpPr>
        <p:spPr>
          <a:xfrm>
            <a:off x="365760" y="2182595"/>
            <a:ext cx="4206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security_events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 BIGSERIAL PRIMARY KEY,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ts          TIMESTAMPTZ NOT NULL,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src_ip      INET,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dst_ip      INET,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event_type  VARCHAR(64),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severity    SMALLINT,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source_id   INT REFERENCES sources(id),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raw_message TEXT,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extra       JSONB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PARTITION BY RANGE (ts);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ON security_events (ts DESC);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ON security_events (src_ip, ts);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ON security_events USING GIN (extra);</a:t>
            </a:r>
            <a:endParaRPr lang="en-US" sz="9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076B82-76E3-CDDA-1302-5288C2C5FAA1}"/>
              </a:ext>
            </a:extLst>
          </p:cNvPr>
          <p:cNvSpPr txBox="1"/>
          <p:nvPr/>
        </p:nvSpPr>
        <p:spPr>
          <a:xfrm>
            <a:off x="5099428" y="1949814"/>
            <a:ext cx="68182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Автоматическое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партицирование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по датам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TimescaleDB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–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снижение нагрузки на запись и поиск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Индексация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B-tree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 числовых полей,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GIN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(или аналоги) для текстовых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Эффективная работа с событиями за счет возможностей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Но жесткая нормализация – сложно добавить столбец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Сложное горизонтальное масштабирование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Сохраненные представления 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persistent view)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таблицы отчетов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(reporting table)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позволяют быстро получать типовые результаты обработки событий</a:t>
            </a:r>
          </a:p>
        </p:txBody>
      </p:sp>
    </p:spTree>
    <p:extLst>
      <p:ext uri="{BB962C8B-B14F-4D97-AF65-F5344CB8AC3E}">
        <p14:creationId xmlns:p14="http://schemas.microsoft.com/office/powerpoint/2010/main" val="7245374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7966D-09F9-29A9-062F-91B0A7C6E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5ACBC70-E75C-3B0F-2956-6B67E84338EC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7285CED6-AC69-74BF-AEEB-C486648F1922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Структура </a:t>
            </a:r>
            <a:r>
              <a:rPr lang="en-US" sz="2800" b="1" dirty="0">
                <a:solidFill>
                  <a:srgbClr val="FF0000"/>
                </a:solidFill>
              </a:rPr>
              <a:t>B-tree </a:t>
            </a:r>
            <a:r>
              <a:rPr lang="ru-RU" sz="2800" b="1" dirty="0">
                <a:solidFill>
                  <a:srgbClr val="FF0000"/>
                </a:solidFill>
              </a:rPr>
              <a:t>индекса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CFA84D-D120-7652-4628-753D99164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62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220CE3EF-6548-B1EF-A552-6516E01C8A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333851-D591-6B38-DE52-A5D04DFA8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100" y="2028825"/>
            <a:ext cx="6334125" cy="28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184E92-516B-8932-03C1-D4D8C0CB2B58}"/>
              </a:ext>
            </a:extLst>
          </p:cNvPr>
          <p:cNvSpPr txBox="1"/>
          <p:nvPr/>
        </p:nvSpPr>
        <p:spPr>
          <a:xfrm>
            <a:off x="7500026" y="2407015"/>
            <a:ext cx="44176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Позволяет искать по операциям равенства, больше, меньше и диапазон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Время поиска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время добавления нового элемента –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Подходит только для порядковых данных (числовых или категориальных)</a:t>
            </a:r>
          </a:p>
        </p:txBody>
      </p:sp>
    </p:spTree>
    <p:extLst>
      <p:ext uri="{BB962C8B-B14F-4D97-AF65-F5344CB8AC3E}">
        <p14:creationId xmlns:p14="http://schemas.microsoft.com/office/powerpoint/2010/main" val="15874568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1CAD4-D269-E860-6A75-ACB293D78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D59ACE2-BFD4-63C1-0ED7-612CF743ED76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684DB6A-D004-1580-5E37-CF11166D8D69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Структура </a:t>
            </a:r>
            <a:r>
              <a:rPr lang="en-US" sz="2800" b="1" dirty="0">
                <a:solidFill>
                  <a:srgbClr val="FF0000"/>
                </a:solidFill>
              </a:rPr>
              <a:t>GIN </a:t>
            </a:r>
            <a:r>
              <a:rPr lang="ru-RU" sz="2800" b="1" dirty="0">
                <a:solidFill>
                  <a:srgbClr val="FF0000"/>
                </a:solidFill>
              </a:rPr>
              <a:t>индекса - </a:t>
            </a:r>
            <a:r>
              <a:rPr lang="en-US" sz="2800" b="1" dirty="0">
                <a:solidFill>
                  <a:srgbClr val="FF0000"/>
                </a:solidFill>
              </a:rPr>
              <a:t>Generalized Inverted Index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EE9691-A28F-4D70-7495-A33802A5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63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F00FD293-38C9-94CB-D43F-63F0CC972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D832974-11AA-7B41-1674-B974BC11B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100" y="1107951"/>
            <a:ext cx="6636858" cy="560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219548-1D50-7EEA-0701-B117093240FD}"/>
              </a:ext>
            </a:extLst>
          </p:cNvPr>
          <p:cNvSpPr txBox="1"/>
          <p:nvPr/>
        </p:nvSpPr>
        <p:spPr>
          <a:xfrm>
            <a:off x="7500026" y="2407015"/>
            <a:ext cx="44176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Работает по аналогии с предметным указателем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«Дорого» стоит добавление элементов в индекс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Перестроение индекса при изменении данных – крайне «дорогая» операция (хорошо, что события не могут меняться)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Работает с любыми данными (текст – худший случай)</a:t>
            </a:r>
          </a:p>
        </p:txBody>
      </p:sp>
    </p:spTree>
    <p:extLst>
      <p:ext uri="{BB962C8B-B14F-4D97-AF65-F5344CB8AC3E}">
        <p14:creationId xmlns:p14="http://schemas.microsoft.com/office/powerpoint/2010/main" val="27082537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A0063-E953-E142-2895-B6C9818D2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B835D53-565D-1112-C007-E46A76FADFF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E306136D-F7A6-F37D-BBA3-824A9CC28939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Хранение событий в </a:t>
            </a:r>
            <a:r>
              <a:rPr lang="en-US" sz="2800" b="1" dirty="0">
                <a:solidFill>
                  <a:srgbClr val="FF0000"/>
                </a:solidFill>
              </a:rPr>
              <a:t>NoSQL </a:t>
            </a:r>
            <a:r>
              <a:rPr lang="ru-RU" sz="2800" b="1" dirty="0">
                <a:solidFill>
                  <a:srgbClr val="FF0000"/>
                </a:solidFill>
              </a:rPr>
              <a:t>БД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0C653E-5C33-4201-A7CF-F26A3D1D2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64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C3185275-B6C2-8E56-D752-1A3F866D4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CD5207-431C-8949-1436-88A396B95386}"/>
              </a:ext>
            </a:extLst>
          </p:cNvPr>
          <p:cNvSpPr txBox="1"/>
          <p:nvPr/>
        </p:nvSpPr>
        <p:spPr>
          <a:xfrm>
            <a:off x="5099428" y="1949814"/>
            <a:ext cx="68182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Все данные сохраняются в виде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JSON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документов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 данных формируется полнотекстовый индекс 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GIN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или более эффективные алгоритмы)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Единица хранения данных –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шард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полностью самодостаточна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Шарды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можно создавать в любом количестве и размещать на любом количестве узлов кластера, нет необходимости в координаторе транзакций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NoSQL 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 гарантирует запись всех событий при высокой нагрузке</a:t>
            </a:r>
          </a:p>
        </p:txBody>
      </p:sp>
      <p:pic>
        <p:nvPicPr>
          <p:cNvPr id="3074" name="Picture 2" descr="Elastic Search - начало работы">
            <a:extLst>
              <a:ext uri="{FF2B5EF4-FFF2-40B4-BE49-F238E27FC236}">
                <a16:creationId xmlns:a16="http://schemas.microsoft.com/office/drawing/2014/main" id="{50D2B445-AD71-FE28-8BDE-B30A41C8E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1411217"/>
            <a:ext cx="4299626" cy="2237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Установка, настройка и эксплуатация стэка OpenSearch в классической среде /  Хабр">
            <a:extLst>
              <a:ext uri="{FF2B5EF4-FFF2-40B4-BE49-F238E27FC236}">
                <a16:creationId xmlns:a16="http://schemas.microsoft.com/office/drawing/2014/main" id="{F41250C8-1364-A9CE-B13F-9E7D0EEA7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100" y="4118378"/>
            <a:ext cx="3970846" cy="1985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7680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60F6F-1D5E-C580-3437-C24AB4B32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8CB10FE-97F2-0FEE-49F0-6B3E1ECA8239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2FE3CE92-BD8A-F280-B327-C44C9396EA1A}"/>
              </a:ext>
            </a:extLst>
          </p:cNvPr>
          <p:cNvSpPr txBox="1"/>
          <p:nvPr/>
        </p:nvSpPr>
        <p:spPr>
          <a:xfrm>
            <a:off x="2057400" y="219959"/>
            <a:ext cx="10063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Принцип работы </a:t>
            </a:r>
            <a:r>
              <a:rPr lang="ru-RU" sz="2800" b="1" dirty="0" err="1">
                <a:solidFill>
                  <a:srgbClr val="FF0000"/>
                </a:solidFill>
              </a:rPr>
              <a:t>шардов</a:t>
            </a:r>
            <a:r>
              <a:rPr lang="ru-RU" sz="2800" b="1" dirty="0">
                <a:solidFill>
                  <a:srgbClr val="FF0000"/>
                </a:solidFill>
              </a:rPr>
              <a:t> и кластера </a:t>
            </a:r>
            <a:r>
              <a:rPr lang="en-US" sz="2800" b="1" dirty="0">
                <a:solidFill>
                  <a:srgbClr val="FF0000"/>
                </a:solidFill>
              </a:rPr>
              <a:t>Elastic/</a:t>
            </a:r>
            <a:r>
              <a:rPr lang="en-US" sz="2800" b="1" dirty="0" err="1">
                <a:solidFill>
                  <a:srgbClr val="FF0000"/>
                </a:solidFill>
              </a:rPr>
              <a:t>Opensearch</a:t>
            </a:r>
            <a:r>
              <a:rPr lang="ru-RU" sz="2800" b="1" dirty="0">
                <a:solidFill>
                  <a:srgbClr val="FF0000"/>
                </a:solidFill>
              </a:rPr>
              <a:t>. Чтение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B54565-EBC5-F48C-1636-BB025A488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65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6A713B10-5484-7B22-3310-D26702471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61E9D3-3105-F085-5C31-CE0B6255A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1025" y="3264347"/>
            <a:ext cx="685800" cy="1009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3B385A-E682-9ACA-5189-028E837DD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472" y="3264347"/>
            <a:ext cx="685800" cy="10096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952F8E-7D37-7071-B4EF-72A0CE4A1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919" y="3264347"/>
            <a:ext cx="685800" cy="1009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ACB83B-5FCF-80CF-996C-CA425019668A}"/>
              </a:ext>
            </a:extLst>
          </p:cNvPr>
          <p:cNvSpPr txBox="1"/>
          <p:nvPr/>
        </p:nvSpPr>
        <p:spPr>
          <a:xfrm>
            <a:off x="2201049" y="4294637"/>
            <a:ext cx="2045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Координирующий </a:t>
            </a:r>
          </a:p>
          <a:p>
            <a:pPr algn="ctr"/>
            <a:r>
              <a:rPr lang="ru-RU" dirty="0"/>
              <a:t>узел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8BCA12-77B0-C9E6-F97C-25D45174B8DB}"/>
              </a:ext>
            </a:extLst>
          </p:cNvPr>
          <p:cNvSpPr txBox="1"/>
          <p:nvPr/>
        </p:nvSpPr>
        <p:spPr>
          <a:xfrm>
            <a:off x="4754030" y="4294637"/>
            <a:ext cx="1884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Дополнительный</a:t>
            </a:r>
          </a:p>
          <a:p>
            <a:pPr algn="ctr"/>
            <a:r>
              <a:rPr lang="ru-RU" dirty="0"/>
              <a:t>узел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DF2CA5-A75A-2ECF-6B16-D3330CF97E20}"/>
              </a:ext>
            </a:extLst>
          </p:cNvPr>
          <p:cNvSpPr txBox="1"/>
          <p:nvPr/>
        </p:nvSpPr>
        <p:spPr>
          <a:xfrm>
            <a:off x="7226477" y="4294637"/>
            <a:ext cx="1884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Дополнительный</a:t>
            </a:r>
          </a:p>
          <a:p>
            <a:pPr algn="ctr"/>
            <a:r>
              <a:rPr lang="ru-RU" dirty="0"/>
              <a:t>узел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8A6743-0AB7-5ABF-D4A1-F712B258ED5F}"/>
              </a:ext>
            </a:extLst>
          </p:cNvPr>
          <p:cNvSpPr/>
          <p:nvPr/>
        </p:nvSpPr>
        <p:spPr>
          <a:xfrm>
            <a:off x="2057400" y="3121611"/>
            <a:ext cx="930629" cy="40856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Шард</a:t>
            </a:r>
            <a:r>
              <a:rPr lang="ru-RU" dirty="0"/>
              <a:t>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DDC933-123C-78AB-F22D-DB5B049C183F}"/>
              </a:ext>
            </a:extLst>
          </p:cNvPr>
          <p:cNvSpPr/>
          <p:nvPr/>
        </p:nvSpPr>
        <p:spPr>
          <a:xfrm>
            <a:off x="2057399" y="3671474"/>
            <a:ext cx="930629" cy="40856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Шард</a:t>
            </a:r>
            <a:r>
              <a:rPr lang="ru-RU" dirty="0"/>
              <a:t>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DCD6E2-470E-5B27-CEC6-292DDD3588B5}"/>
              </a:ext>
            </a:extLst>
          </p:cNvPr>
          <p:cNvSpPr/>
          <p:nvPr/>
        </p:nvSpPr>
        <p:spPr>
          <a:xfrm>
            <a:off x="4554538" y="3121611"/>
            <a:ext cx="930629" cy="40856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Шард</a:t>
            </a:r>
            <a:r>
              <a:rPr lang="ru-RU" dirty="0"/>
              <a:t>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502A0B-8185-750A-2461-8FADAD104ED5}"/>
              </a:ext>
            </a:extLst>
          </p:cNvPr>
          <p:cNvSpPr/>
          <p:nvPr/>
        </p:nvSpPr>
        <p:spPr>
          <a:xfrm>
            <a:off x="7051676" y="3120640"/>
            <a:ext cx="930629" cy="40856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Шард</a:t>
            </a:r>
            <a:r>
              <a:rPr lang="ru-RU" dirty="0"/>
              <a:t> 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79E3F7-06E8-D830-06DC-101448D22CE0}"/>
              </a:ext>
            </a:extLst>
          </p:cNvPr>
          <p:cNvSpPr/>
          <p:nvPr/>
        </p:nvSpPr>
        <p:spPr>
          <a:xfrm>
            <a:off x="7051676" y="3624050"/>
            <a:ext cx="930629" cy="40856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Шард</a:t>
            </a:r>
            <a:r>
              <a:rPr lang="ru-RU" dirty="0"/>
              <a:t> 5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DC5F2BE-3756-7703-C8AA-7C281FB9052D}"/>
              </a:ext>
            </a:extLst>
          </p:cNvPr>
          <p:cNvCxnSpPr/>
          <p:nvPr/>
        </p:nvCxnSpPr>
        <p:spPr>
          <a:xfrm>
            <a:off x="3239311" y="1904683"/>
            <a:ext cx="0" cy="1215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337915B-32FE-588A-F45E-BFB952CDFF07}"/>
              </a:ext>
            </a:extLst>
          </p:cNvPr>
          <p:cNvSpPr txBox="1"/>
          <p:nvPr/>
        </p:nvSpPr>
        <p:spPr>
          <a:xfrm>
            <a:off x="3264127" y="1752621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Запрос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27DA824-A8FA-5E86-1D73-02A48CD70E1B}"/>
              </a:ext>
            </a:extLst>
          </p:cNvPr>
          <p:cNvSpPr/>
          <p:nvPr/>
        </p:nvSpPr>
        <p:spPr>
          <a:xfrm>
            <a:off x="3390915" y="2708564"/>
            <a:ext cx="2305456" cy="535143"/>
          </a:xfrm>
          <a:custGeom>
            <a:avLst/>
            <a:gdLst>
              <a:gd name="csX0" fmla="*/ 0 w 2305456"/>
              <a:gd name="csY0" fmla="*/ 496233 h 535143"/>
              <a:gd name="csX1" fmla="*/ 836579 w 2305456"/>
              <a:gd name="csY1" fmla="*/ 122 h 535143"/>
              <a:gd name="csX2" fmla="*/ 2305456 w 2305456"/>
              <a:gd name="csY2" fmla="*/ 535143 h 535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305456" h="535143">
                <a:moveTo>
                  <a:pt x="0" y="496233"/>
                </a:moveTo>
                <a:cubicBezTo>
                  <a:pt x="226168" y="244935"/>
                  <a:pt x="452336" y="-6363"/>
                  <a:pt x="836579" y="122"/>
                </a:cubicBezTo>
                <a:cubicBezTo>
                  <a:pt x="1220822" y="6607"/>
                  <a:pt x="1763139" y="270875"/>
                  <a:pt x="2305456" y="535143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857DF07-66A7-DFBA-63A6-3993C2A4B406}"/>
              </a:ext>
            </a:extLst>
          </p:cNvPr>
          <p:cNvSpPr/>
          <p:nvPr/>
        </p:nvSpPr>
        <p:spPr>
          <a:xfrm>
            <a:off x="3336587" y="1906609"/>
            <a:ext cx="4805464" cy="1284063"/>
          </a:xfrm>
          <a:custGeom>
            <a:avLst/>
            <a:gdLst>
              <a:gd name="csX0" fmla="*/ 0 w 4805464"/>
              <a:gd name="csY0" fmla="*/ 1284063 h 1284063"/>
              <a:gd name="csX1" fmla="*/ 2227634 w 4805464"/>
              <a:gd name="csY1" fmla="*/ 12 h 1284063"/>
              <a:gd name="csX2" fmla="*/ 4805464 w 4805464"/>
              <a:gd name="csY2" fmla="*/ 1264608 h 12840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805464" h="1284063">
                <a:moveTo>
                  <a:pt x="0" y="1284063"/>
                </a:moveTo>
                <a:cubicBezTo>
                  <a:pt x="713361" y="643658"/>
                  <a:pt x="1426723" y="3254"/>
                  <a:pt x="2227634" y="12"/>
                </a:cubicBezTo>
                <a:cubicBezTo>
                  <a:pt x="3028545" y="-3230"/>
                  <a:pt x="3917004" y="630689"/>
                  <a:pt x="4805464" y="1264608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4610D5-50DF-9CFC-8F31-B016C7B5CB14}"/>
              </a:ext>
            </a:extLst>
          </p:cNvPr>
          <p:cNvSpPr txBox="1"/>
          <p:nvPr/>
        </p:nvSpPr>
        <p:spPr>
          <a:xfrm>
            <a:off x="4754030" y="2465813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Запрос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D81BF7-9E04-58F5-3D9C-BA22C601D434}"/>
              </a:ext>
            </a:extLst>
          </p:cNvPr>
          <p:cNvSpPr txBox="1"/>
          <p:nvPr/>
        </p:nvSpPr>
        <p:spPr>
          <a:xfrm>
            <a:off x="6360534" y="1752621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Запрос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803F583-22B2-1502-DD81-77BA3240D8F7}"/>
              </a:ext>
            </a:extLst>
          </p:cNvPr>
          <p:cNvSpPr/>
          <p:nvPr/>
        </p:nvSpPr>
        <p:spPr>
          <a:xfrm rot="10800000">
            <a:off x="3423172" y="4991611"/>
            <a:ext cx="2305456" cy="535143"/>
          </a:xfrm>
          <a:custGeom>
            <a:avLst/>
            <a:gdLst>
              <a:gd name="csX0" fmla="*/ 0 w 2305456"/>
              <a:gd name="csY0" fmla="*/ 496233 h 535143"/>
              <a:gd name="csX1" fmla="*/ 836579 w 2305456"/>
              <a:gd name="csY1" fmla="*/ 122 h 535143"/>
              <a:gd name="csX2" fmla="*/ 2305456 w 2305456"/>
              <a:gd name="csY2" fmla="*/ 535143 h 535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305456" h="535143">
                <a:moveTo>
                  <a:pt x="0" y="496233"/>
                </a:moveTo>
                <a:cubicBezTo>
                  <a:pt x="226168" y="244935"/>
                  <a:pt x="452336" y="-6363"/>
                  <a:pt x="836579" y="122"/>
                </a:cubicBezTo>
                <a:cubicBezTo>
                  <a:pt x="1220822" y="6607"/>
                  <a:pt x="1763139" y="270875"/>
                  <a:pt x="2305456" y="535143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305AB86-7CCE-77FC-6B95-0CCBF78BFD4E}"/>
              </a:ext>
            </a:extLst>
          </p:cNvPr>
          <p:cNvSpPr/>
          <p:nvPr/>
        </p:nvSpPr>
        <p:spPr>
          <a:xfrm rot="10459321">
            <a:off x="3217242" y="4884724"/>
            <a:ext cx="4805464" cy="1284063"/>
          </a:xfrm>
          <a:custGeom>
            <a:avLst/>
            <a:gdLst>
              <a:gd name="csX0" fmla="*/ 0 w 4805464"/>
              <a:gd name="csY0" fmla="*/ 1284063 h 1284063"/>
              <a:gd name="csX1" fmla="*/ 2227634 w 4805464"/>
              <a:gd name="csY1" fmla="*/ 12 h 1284063"/>
              <a:gd name="csX2" fmla="*/ 4805464 w 4805464"/>
              <a:gd name="csY2" fmla="*/ 1264608 h 12840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805464" h="1284063">
                <a:moveTo>
                  <a:pt x="0" y="1284063"/>
                </a:moveTo>
                <a:cubicBezTo>
                  <a:pt x="713361" y="643658"/>
                  <a:pt x="1426723" y="3254"/>
                  <a:pt x="2227634" y="12"/>
                </a:cubicBezTo>
                <a:cubicBezTo>
                  <a:pt x="3028545" y="-3230"/>
                  <a:pt x="3917004" y="630689"/>
                  <a:pt x="4805464" y="1264608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AE1454-0C59-3B97-157D-A195D07FC5B6}"/>
              </a:ext>
            </a:extLst>
          </p:cNvPr>
          <p:cNvSpPr txBox="1"/>
          <p:nvPr/>
        </p:nvSpPr>
        <p:spPr>
          <a:xfrm>
            <a:off x="5353472" y="5258654"/>
            <a:ext cx="123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Результат1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24EA23-12B7-3E36-4CE2-57AF9182B6DD}"/>
              </a:ext>
            </a:extLst>
          </p:cNvPr>
          <p:cNvSpPr txBox="1"/>
          <p:nvPr/>
        </p:nvSpPr>
        <p:spPr>
          <a:xfrm>
            <a:off x="6710742" y="5851784"/>
            <a:ext cx="123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Результат2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E198834-90F6-4C2F-6695-72ACA0CDBF6C}"/>
              </a:ext>
            </a:extLst>
          </p:cNvPr>
          <p:cNvCxnSpPr>
            <a:cxnSpLocks/>
          </p:cNvCxnSpPr>
          <p:nvPr/>
        </p:nvCxnSpPr>
        <p:spPr>
          <a:xfrm flipV="1">
            <a:off x="3059380" y="1904683"/>
            <a:ext cx="0" cy="1211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0546BB2-ECCD-F96E-832F-A7F345E074D7}"/>
              </a:ext>
            </a:extLst>
          </p:cNvPr>
          <p:cNvSpPr txBox="1"/>
          <p:nvPr/>
        </p:nvSpPr>
        <p:spPr>
          <a:xfrm>
            <a:off x="157431" y="2281147"/>
            <a:ext cx="2895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Результат1 + Результат2 + …</a:t>
            </a:r>
          </a:p>
        </p:txBody>
      </p:sp>
    </p:spTree>
    <p:extLst>
      <p:ext uri="{BB962C8B-B14F-4D97-AF65-F5344CB8AC3E}">
        <p14:creationId xmlns:p14="http://schemas.microsoft.com/office/powerpoint/2010/main" val="8263516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00098-054D-A463-6FB5-6207B48AA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934EF18-E59C-C0A9-AA1A-6DA6B64FA808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428074BD-19AE-AF9D-7DEB-3F5B73C66D75}"/>
              </a:ext>
            </a:extLst>
          </p:cNvPr>
          <p:cNvSpPr txBox="1"/>
          <p:nvPr/>
        </p:nvSpPr>
        <p:spPr>
          <a:xfrm>
            <a:off x="2057400" y="219959"/>
            <a:ext cx="10063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Принцип работы </a:t>
            </a:r>
            <a:r>
              <a:rPr lang="ru-RU" sz="2800" b="1" dirty="0" err="1">
                <a:solidFill>
                  <a:srgbClr val="FF0000"/>
                </a:solidFill>
              </a:rPr>
              <a:t>шардов</a:t>
            </a:r>
            <a:r>
              <a:rPr lang="ru-RU" sz="2800" b="1" dirty="0">
                <a:solidFill>
                  <a:srgbClr val="FF0000"/>
                </a:solidFill>
              </a:rPr>
              <a:t> и кластера </a:t>
            </a:r>
            <a:r>
              <a:rPr lang="en-US" sz="2800" b="1" dirty="0">
                <a:solidFill>
                  <a:srgbClr val="FF0000"/>
                </a:solidFill>
              </a:rPr>
              <a:t>Elastic/</a:t>
            </a:r>
            <a:r>
              <a:rPr lang="en-US" sz="2800" b="1" dirty="0" err="1">
                <a:solidFill>
                  <a:srgbClr val="FF0000"/>
                </a:solidFill>
              </a:rPr>
              <a:t>Opensearch</a:t>
            </a:r>
            <a:r>
              <a:rPr lang="ru-RU" sz="2800" b="1" dirty="0">
                <a:solidFill>
                  <a:srgbClr val="FF0000"/>
                </a:solidFill>
              </a:rPr>
              <a:t>. Запись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BBE551-8368-AE39-94A7-E0D49888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66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0FCEA971-EB2F-6458-4576-2300B8F9C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633A8AF-C068-EF1F-7FDC-CC6C85BD4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1025" y="3264347"/>
            <a:ext cx="685800" cy="1009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2CCF11-C58D-1450-88D3-0FA0EE74B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472" y="3264347"/>
            <a:ext cx="685800" cy="10096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CFCF5F-0A89-AAD5-793C-6C2ED9DE0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919" y="3264347"/>
            <a:ext cx="685800" cy="1009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E3B473-FFCB-FA18-F5ED-1FE892D66588}"/>
              </a:ext>
            </a:extLst>
          </p:cNvPr>
          <p:cNvSpPr txBox="1"/>
          <p:nvPr/>
        </p:nvSpPr>
        <p:spPr>
          <a:xfrm>
            <a:off x="2201049" y="4294637"/>
            <a:ext cx="2045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Координирующий </a:t>
            </a:r>
          </a:p>
          <a:p>
            <a:pPr algn="ctr"/>
            <a:r>
              <a:rPr lang="ru-RU" dirty="0"/>
              <a:t>узел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7BA98E-9C7D-BE55-FAB0-D8D95E3A0897}"/>
              </a:ext>
            </a:extLst>
          </p:cNvPr>
          <p:cNvSpPr txBox="1"/>
          <p:nvPr/>
        </p:nvSpPr>
        <p:spPr>
          <a:xfrm>
            <a:off x="4754030" y="4294637"/>
            <a:ext cx="1884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Дополнительный</a:t>
            </a:r>
          </a:p>
          <a:p>
            <a:pPr algn="ctr"/>
            <a:r>
              <a:rPr lang="ru-RU" dirty="0"/>
              <a:t>узел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256457-F707-AADB-7885-1C714ABFFD23}"/>
              </a:ext>
            </a:extLst>
          </p:cNvPr>
          <p:cNvSpPr txBox="1"/>
          <p:nvPr/>
        </p:nvSpPr>
        <p:spPr>
          <a:xfrm>
            <a:off x="7226477" y="4294637"/>
            <a:ext cx="1884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Дополнительный</a:t>
            </a:r>
          </a:p>
          <a:p>
            <a:pPr algn="ctr"/>
            <a:r>
              <a:rPr lang="ru-RU" dirty="0"/>
              <a:t>узел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37A1EC-C5DF-1DD8-9A74-82B9E0DB34F7}"/>
              </a:ext>
            </a:extLst>
          </p:cNvPr>
          <p:cNvSpPr/>
          <p:nvPr/>
        </p:nvSpPr>
        <p:spPr>
          <a:xfrm>
            <a:off x="2057400" y="3121611"/>
            <a:ext cx="930629" cy="40856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Шард</a:t>
            </a:r>
            <a:r>
              <a:rPr lang="ru-RU" dirty="0"/>
              <a:t>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5C5BC9-05D9-E340-0BD0-8F8AB59FC522}"/>
              </a:ext>
            </a:extLst>
          </p:cNvPr>
          <p:cNvSpPr/>
          <p:nvPr/>
        </p:nvSpPr>
        <p:spPr>
          <a:xfrm>
            <a:off x="2057399" y="3671474"/>
            <a:ext cx="930629" cy="40856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Шард</a:t>
            </a:r>
            <a:r>
              <a:rPr lang="ru-RU" dirty="0"/>
              <a:t>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B736D2-5E74-F802-0378-D0E93EA5831C}"/>
              </a:ext>
            </a:extLst>
          </p:cNvPr>
          <p:cNvSpPr/>
          <p:nvPr/>
        </p:nvSpPr>
        <p:spPr>
          <a:xfrm>
            <a:off x="4554538" y="3121611"/>
            <a:ext cx="930629" cy="40856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Шард</a:t>
            </a:r>
            <a:r>
              <a:rPr lang="ru-RU" dirty="0"/>
              <a:t>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1D5870-3078-5639-9777-02E733776EBF}"/>
              </a:ext>
            </a:extLst>
          </p:cNvPr>
          <p:cNvSpPr/>
          <p:nvPr/>
        </p:nvSpPr>
        <p:spPr>
          <a:xfrm>
            <a:off x="7051676" y="3120640"/>
            <a:ext cx="930629" cy="40856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Шард</a:t>
            </a:r>
            <a:r>
              <a:rPr lang="ru-RU" dirty="0"/>
              <a:t> 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E658A0-9A62-DA87-56C4-E38A857FE61B}"/>
              </a:ext>
            </a:extLst>
          </p:cNvPr>
          <p:cNvSpPr/>
          <p:nvPr/>
        </p:nvSpPr>
        <p:spPr>
          <a:xfrm>
            <a:off x="7051676" y="3624050"/>
            <a:ext cx="930629" cy="40856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solidFill>
              <a:srgbClr val="42C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Шард</a:t>
            </a:r>
            <a:r>
              <a:rPr lang="ru-RU" dirty="0"/>
              <a:t> 5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7884CF2-6231-5B12-8327-8DDECA0E6A0D}"/>
              </a:ext>
            </a:extLst>
          </p:cNvPr>
          <p:cNvCxnSpPr/>
          <p:nvPr/>
        </p:nvCxnSpPr>
        <p:spPr>
          <a:xfrm>
            <a:off x="3239311" y="1904683"/>
            <a:ext cx="0" cy="1215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B378BC2-59CA-4E04-0662-279E87453214}"/>
              </a:ext>
            </a:extLst>
          </p:cNvPr>
          <p:cNvSpPr txBox="1"/>
          <p:nvPr/>
        </p:nvSpPr>
        <p:spPr>
          <a:xfrm>
            <a:off x="3264127" y="1752621"/>
            <a:ext cx="1678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JSON-</a:t>
            </a:r>
            <a:r>
              <a:rPr lang="ru-RU" dirty="0"/>
              <a:t>документ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C915C5-358B-10FE-37BE-395C68FF490B}"/>
              </a:ext>
            </a:extLst>
          </p:cNvPr>
          <p:cNvSpPr txBox="1"/>
          <p:nvPr/>
        </p:nvSpPr>
        <p:spPr>
          <a:xfrm>
            <a:off x="2243767" y="5753169"/>
            <a:ext cx="6482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Вычисление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hash(_id) % </a:t>
            </a:r>
            <a:r>
              <a:rPr lang="ru-RU" dirty="0"/>
              <a:t>число </a:t>
            </a:r>
            <a:r>
              <a:rPr lang="ru-RU" dirty="0" err="1"/>
              <a:t>шард</a:t>
            </a:r>
            <a:r>
              <a:rPr lang="en-US" dirty="0"/>
              <a:t> – </a:t>
            </a:r>
            <a:r>
              <a:rPr lang="ru-RU" dirty="0"/>
              <a:t>номер </a:t>
            </a:r>
            <a:r>
              <a:rPr lang="ru-RU" dirty="0" err="1"/>
              <a:t>шарда</a:t>
            </a:r>
            <a:r>
              <a:rPr lang="ru-RU" dirty="0"/>
              <a:t> для записи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70AEE58-B950-7368-3450-4BC378E82BE6}"/>
              </a:ext>
            </a:extLst>
          </p:cNvPr>
          <p:cNvSpPr/>
          <p:nvPr/>
        </p:nvSpPr>
        <p:spPr>
          <a:xfrm>
            <a:off x="3414409" y="4075889"/>
            <a:ext cx="3745148" cy="1417159"/>
          </a:xfrm>
          <a:custGeom>
            <a:avLst/>
            <a:gdLst>
              <a:gd name="csX0" fmla="*/ 0 w 3745148"/>
              <a:gd name="csY0" fmla="*/ 875490 h 1417159"/>
              <a:gd name="csX1" fmla="*/ 2354093 w 3745148"/>
              <a:gd name="csY1" fmla="*/ 1381328 h 1417159"/>
              <a:gd name="csX2" fmla="*/ 3745148 w 3745148"/>
              <a:gd name="csY2" fmla="*/ 0 h 1417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745148" h="1417159">
                <a:moveTo>
                  <a:pt x="0" y="875490"/>
                </a:moveTo>
                <a:cubicBezTo>
                  <a:pt x="864951" y="1201366"/>
                  <a:pt x="1729902" y="1527243"/>
                  <a:pt x="2354093" y="1381328"/>
                </a:cubicBezTo>
                <a:cubicBezTo>
                  <a:pt x="2978284" y="1235413"/>
                  <a:pt x="3361716" y="617706"/>
                  <a:pt x="3745148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18C386-6BF0-15B3-251F-F04085045C31}"/>
              </a:ext>
            </a:extLst>
          </p:cNvPr>
          <p:cNvSpPr txBox="1"/>
          <p:nvPr/>
        </p:nvSpPr>
        <p:spPr>
          <a:xfrm>
            <a:off x="340001" y="6352143"/>
            <a:ext cx="11386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Ограничение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ru-RU" dirty="0"/>
              <a:t>нельзя менять число </a:t>
            </a:r>
            <a:r>
              <a:rPr lang="ru-RU" dirty="0" err="1"/>
              <a:t>шардов</a:t>
            </a:r>
            <a:r>
              <a:rPr lang="ru-RU" dirty="0"/>
              <a:t> без перестройки индекса (ломается схема жесткой маршрутизации)</a:t>
            </a:r>
          </a:p>
        </p:txBody>
      </p:sp>
    </p:spTree>
    <p:extLst>
      <p:ext uri="{BB962C8B-B14F-4D97-AF65-F5344CB8AC3E}">
        <p14:creationId xmlns:p14="http://schemas.microsoft.com/office/powerpoint/2010/main" val="9263599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D437A-D9CF-C0BE-6FC9-D46B97A3A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C70E0E1-30E4-4018-CFAA-1E7899E0D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338" y="0"/>
            <a:ext cx="12200338" cy="685800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8F1B262-D488-11CB-D1DE-A013E944BFF2}"/>
              </a:ext>
            </a:extLst>
          </p:cNvPr>
          <p:cNvSpPr txBox="1">
            <a:spLocks/>
          </p:cNvSpPr>
          <p:nvPr/>
        </p:nvSpPr>
        <p:spPr>
          <a:xfrm>
            <a:off x="2640093" y="1699721"/>
            <a:ext cx="6903475" cy="213880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Сбор, хранение и обработка конфигураций и данных мониторинга</a:t>
            </a:r>
          </a:p>
        </p:txBody>
      </p:sp>
    </p:spTree>
    <p:extLst>
      <p:ext uri="{BB962C8B-B14F-4D97-AF65-F5344CB8AC3E}">
        <p14:creationId xmlns:p14="http://schemas.microsoft.com/office/powerpoint/2010/main" val="14939405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7B58E-9D93-23BD-EA9E-722B2FD5C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95B832F-7579-40BE-A6BF-B1DBD6200A7D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76C0E0FA-4551-1230-6F10-D0EC610B051C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Особенности сбора и хранения конфигураций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518D97-18ED-07A1-CE94-FB4E10C37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68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BC772F41-6656-E09B-987E-89E6EF2108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22F734-A843-6A89-A626-DB967E9EC14C}"/>
              </a:ext>
            </a:extLst>
          </p:cNvPr>
          <p:cNvSpPr txBox="1"/>
          <p:nvPr/>
        </p:nvSpPr>
        <p:spPr>
          <a:xfrm>
            <a:off x="603100" y="2494895"/>
            <a:ext cx="48827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 точки зрения сбора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Конфигурации близки по структуре и способам сбора к событиям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Ниже объем данных и периодичность сбора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 значит и нагрузка на узел)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Конфигурация может быть распределена по различным объектам узла (файлы, данные БД, ключи реестра и пр.)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7F8E31-778B-D6CF-68D2-FD1F9D36D828}"/>
              </a:ext>
            </a:extLst>
          </p:cNvPr>
          <p:cNvSpPr txBox="1"/>
          <p:nvPr/>
        </p:nvSpPr>
        <p:spPr>
          <a:xfrm>
            <a:off x="6757190" y="2494895"/>
            <a:ext cx="48827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 точки зрения хранения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Хранится актуальная копия и, опционально, история изменений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Хранится «золотая» копия – эталон, с которым сравнивается текущая копия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 конфигурации могут быть секреты (ключи, пароли и пр.)</a:t>
            </a:r>
          </a:p>
        </p:txBody>
      </p:sp>
    </p:spTree>
    <p:extLst>
      <p:ext uri="{BB962C8B-B14F-4D97-AF65-F5344CB8AC3E}">
        <p14:creationId xmlns:p14="http://schemas.microsoft.com/office/powerpoint/2010/main" val="8035381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AD191-8182-3669-6B29-D0B2EF1E4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E911CCA-2E06-7393-1A6F-C85C06B3B9C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FBD34CA0-C512-7AB0-3F65-E1E9AC476C8F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Реализация хранения с поддержкой версионности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8E9779-722C-DEB5-ADA0-F0F7D376B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69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B435127F-A0DB-D7B1-09C4-48273B0159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7381BF-1287-333C-DCEB-D1D94878C000}"/>
              </a:ext>
            </a:extLst>
          </p:cNvPr>
          <p:cNvSpPr txBox="1"/>
          <p:nvPr/>
        </p:nvSpPr>
        <p:spPr>
          <a:xfrm>
            <a:off x="1178247" y="1689314"/>
            <a:ext cx="3543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Хранение </a:t>
            </a:r>
            <a:r>
              <a:rPr lang="ru-RU" b="1" dirty="0" err="1"/>
              <a:t>снэпшотов</a:t>
            </a:r>
            <a:r>
              <a:rPr lang="ru-RU" b="1" dirty="0"/>
              <a:t> (модель </a:t>
            </a:r>
            <a:r>
              <a:rPr lang="en-US" b="1" dirty="0"/>
              <a:t>git)</a:t>
            </a:r>
            <a:endParaRPr lang="ru-RU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B69404-428C-9F87-5648-3B52E8B3B145}"/>
              </a:ext>
            </a:extLst>
          </p:cNvPr>
          <p:cNvSpPr/>
          <p:nvPr/>
        </p:nvSpPr>
        <p:spPr>
          <a:xfrm>
            <a:off x="347886" y="2335645"/>
            <a:ext cx="1472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V1.0</a:t>
            </a:r>
            <a:endParaRPr lang="ru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D42DDA-B771-42D2-7056-663635EE2BE5}"/>
              </a:ext>
            </a:extLst>
          </p:cNvPr>
          <p:cNvSpPr/>
          <p:nvPr/>
        </p:nvSpPr>
        <p:spPr>
          <a:xfrm>
            <a:off x="2213558" y="2335645"/>
            <a:ext cx="1472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V1.1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C2F121-FBF0-3F0F-EE75-455559CFDF8A}"/>
              </a:ext>
            </a:extLst>
          </p:cNvPr>
          <p:cNvSpPr/>
          <p:nvPr/>
        </p:nvSpPr>
        <p:spPr>
          <a:xfrm>
            <a:off x="4025889" y="2335645"/>
            <a:ext cx="1472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V1.2</a:t>
            </a:r>
            <a:endParaRPr lang="ru-R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1FE936-6F79-D609-8787-62FE4B4F6917}"/>
              </a:ext>
            </a:extLst>
          </p:cNvPr>
          <p:cNvSpPr/>
          <p:nvPr/>
        </p:nvSpPr>
        <p:spPr>
          <a:xfrm>
            <a:off x="347886" y="2978238"/>
            <a:ext cx="1472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/passwd</a:t>
            </a:r>
            <a:endParaRPr lang="ru-RU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A779AA-1EC7-7AEE-5E10-2FEC125FE6A5}"/>
              </a:ext>
            </a:extLst>
          </p:cNvPr>
          <p:cNvSpPr/>
          <p:nvPr/>
        </p:nvSpPr>
        <p:spPr>
          <a:xfrm>
            <a:off x="347886" y="3510845"/>
            <a:ext cx="1472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/shadow</a:t>
            </a:r>
            <a:endParaRPr lang="ru-RU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89E5F1-25F6-06C6-20CA-A1A355B0A602}"/>
              </a:ext>
            </a:extLst>
          </p:cNvPr>
          <p:cNvSpPr/>
          <p:nvPr/>
        </p:nvSpPr>
        <p:spPr>
          <a:xfrm>
            <a:off x="347886" y="4043452"/>
            <a:ext cx="1472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/hosts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EBAB0D-ABC0-A604-B830-F2AEFC64B00B}"/>
              </a:ext>
            </a:extLst>
          </p:cNvPr>
          <p:cNvSpPr/>
          <p:nvPr/>
        </p:nvSpPr>
        <p:spPr>
          <a:xfrm>
            <a:off x="347886" y="4576059"/>
            <a:ext cx="1472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fstab</a:t>
            </a:r>
            <a:endParaRPr lang="ru-RU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D64EACE-7F81-D745-B2ED-B277D7FCBBB0}"/>
              </a:ext>
            </a:extLst>
          </p:cNvPr>
          <p:cNvSpPr/>
          <p:nvPr/>
        </p:nvSpPr>
        <p:spPr>
          <a:xfrm>
            <a:off x="2213558" y="4043452"/>
            <a:ext cx="1472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/hosts</a:t>
            </a:r>
            <a:endParaRPr lang="ru-RU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318E10-4817-3410-696C-32DC5D87FC4F}"/>
              </a:ext>
            </a:extLst>
          </p:cNvPr>
          <p:cNvSpPr/>
          <p:nvPr/>
        </p:nvSpPr>
        <p:spPr>
          <a:xfrm>
            <a:off x="2213558" y="2978238"/>
            <a:ext cx="1472400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/passwd</a:t>
            </a:r>
            <a:endParaRPr lang="ru-RU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AD86486-8ED0-3C0E-1961-6F60B7B77B7C}"/>
              </a:ext>
            </a:extLst>
          </p:cNvPr>
          <p:cNvSpPr/>
          <p:nvPr/>
        </p:nvSpPr>
        <p:spPr>
          <a:xfrm>
            <a:off x="2213558" y="3510845"/>
            <a:ext cx="1472400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/shadow</a:t>
            </a:r>
            <a:endParaRPr lang="ru-RU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C95D868-EE4A-419D-D3CB-AFE725BB61D7}"/>
              </a:ext>
            </a:extLst>
          </p:cNvPr>
          <p:cNvSpPr/>
          <p:nvPr/>
        </p:nvSpPr>
        <p:spPr>
          <a:xfrm>
            <a:off x="2213558" y="4576058"/>
            <a:ext cx="1472400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fstab</a:t>
            </a:r>
            <a:endParaRPr lang="ru-RU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659E103-C08F-719D-58BE-5AA67F50F412}"/>
              </a:ext>
            </a:extLst>
          </p:cNvPr>
          <p:cNvCxnSpPr>
            <a:stCxn id="19" idx="3"/>
            <a:endCxn id="36" idx="1"/>
          </p:cNvCxnSpPr>
          <p:nvPr/>
        </p:nvCxnSpPr>
        <p:spPr>
          <a:xfrm>
            <a:off x="1820286" y="3162904"/>
            <a:ext cx="39327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6240DCA-48C1-7649-F178-3D5F3A2EADA6}"/>
              </a:ext>
            </a:extLst>
          </p:cNvPr>
          <p:cNvCxnSpPr>
            <a:cxnSpLocks/>
            <a:stCxn id="20" idx="3"/>
            <a:endCxn id="37" idx="1"/>
          </p:cNvCxnSpPr>
          <p:nvPr/>
        </p:nvCxnSpPr>
        <p:spPr>
          <a:xfrm>
            <a:off x="1820286" y="3695511"/>
            <a:ext cx="39327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5E33EB1-D4A4-5A61-E57B-A59204DA8839}"/>
              </a:ext>
            </a:extLst>
          </p:cNvPr>
          <p:cNvCxnSpPr>
            <a:cxnSpLocks/>
            <a:stCxn id="22" idx="3"/>
            <a:endCxn id="38" idx="1"/>
          </p:cNvCxnSpPr>
          <p:nvPr/>
        </p:nvCxnSpPr>
        <p:spPr>
          <a:xfrm flipV="1">
            <a:off x="1820286" y="4760724"/>
            <a:ext cx="393272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A676196-7BF7-8852-74F2-D60DEEF8041F}"/>
              </a:ext>
            </a:extLst>
          </p:cNvPr>
          <p:cNvSpPr/>
          <p:nvPr/>
        </p:nvSpPr>
        <p:spPr>
          <a:xfrm>
            <a:off x="4025890" y="4043452"/>
            <a:ext cx="1472400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/etc</a:t>
            </a:r>
            <a:r>
              <a:rPr lang="en-US" dirty="0"/>
              <a:t>/hosts</a:t>
            </a:r>
            <a:endParaRPr lang="ru-RU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1CCBA82-234F-FDED-972D-0F3A9C8E88CE}"/>
              </a:ext>
            </a:extLst>
          </p:cNvPr>
          <p:cNvSpPr/>
          <p:nvPr/>
        </p:nvSpPr>
        <p:spPr>
          <a:xfrm>
            <a:off x="4025890" y="2978238"/>
            <a:ext cx="1472400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/passwd</a:t>
            </a:r>
            <a:endParaRPr lang="ru-RU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7A9850C-0281-597F-A8D2-A6B4CE6E59DD}"/>
              </a:ext>
            </a:extLst>
          </p:cNvPr>
          <p:cNvSpPr/>
          <p:nvPr/>
        </p:nvSpPr>
        <p:spPr>
          <a:xfrm>
            <a:off x="4025890" y="3510845"/>
            <a:ext cx="1472400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/shadow</a:t>
            </a:r>
            <a:endParaRPr lang="ru-RU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FA24852-BBE0-0386-0539-E68214D21A6A}"/>
              </a:ext>
            </a:extLst>
          </p:cNvPr>
          <p:cNvSpPr/>
          <p:nvPr/>
        </p:nvSpPr>
        <p:spPr>
          <a:xfrm>
            <a:off x="4025890" y="4576058"/>
            <a:ext cx="1472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/etc/</a:t>
            </a:r>
            <a:r>
              <a:rPr lang="en-US" dirty="0" err="1"/>
              <a:t>fstab</a:t>
            </a:r>
            <a:endParaRPr lang="ru-RU" dirty="0"/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BA0BC961-30B3-6C99-7606-3850FDF9A3F9}"/>
              </a:ext>
            </a:extLst>
          </p:cNvPr>
          <p:cNvCxnSpPr>
            <a:stCxn id="19" idx="0"/>
            <a:endCxn id="49" idx="0"/>
          </p:cNvCxnSpPr>
          <p:nvPr/>
        </p:nvCxnSpPr>
        <p:spPr>
          <a:xfrm rot="5400000" flipH="1" flipV="1">
            <a:off x="2923088" y="1139236"/>
            <a:ext cx="12700" cy="3678004"/>
          </a:xfrm>
          <a:prstGeom prst="bentConnector3">
            <a:avLst>
              <a:gd name="adj1" fmla="val 10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2E8287C8-5247-BF7E-981B-539713188E42}"/>
              </a:ext>
            </a:extLst>
          </p:cNvPr>
          <p:cNvCxnSpPr>
            <a:cxnSpLocks/>
            <a:stCxn id="20" idx="0"/>
            <a:endCxn id="50" idx="0"/>
          </p:cNvCxnSpPr>
          <p:nvPr/>
        </p:nvCxnSpPr>
        <p:spPr>
          <a:xfrm rot="5400000" flipH="1" flipV="1">
            <a:off x="2923088" y="1671843"/>
            <a:ext cx="12700" cy="3678004"/>
          </a:xfrm>
          <a:prstGeom prst="bentConnector3">
            <a:avLst>
              <a:gd name="adj1" fmla="val 712496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48EA5D6-446B-DFEC-4A42-676ABC23E180}"/>
              </a:ext>
            </a:extLst>
          </p:cNvPr>
          <p:cNvCxnSpPr>
            <a:cxnSpLocks/>
            <a:endCxn id="48" idx="1"/>
          </p:cNvCxnSpPr>
          <p:nvPr/>
        </p:nvCxnSpPr>
        <p:spPr>
          <a:xfrm flipV="1">
            <a:off x="3685958" y="4228118"/>
            <a:ext cx="339932" cy="736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782DCC15-C602-34E3-81B3-A4BA0B6D35BC}"/>
              </a:ext>
            </a:extLst>
          </p:cNvPr>
          <p:cNvSpPr txBox="1"/>
          <p:nvPr/>
        </p:nvSpPr>
        <p:spPr>
          <a:xfrm>
            <a:off x="7470731" y="1689314"/>
            <a:ext cx="327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Хранение дельты (модель </a:t>
            </a:r>
            <a:r>
              <a:rPr lang="en-US" b="1" dirty="0" err="1"/>
              <a:t>svn</a:t>
            </a:r>
            <a:r>
              <a:rPr lang="en-US" b="1" dirty="0"/>
              <a:t>)</a:t>
            </a:r>
            <a:endParaRPr lang="ru-RU" b="1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3655E28-E4E8-972F-2D9A-0C8B77051FB6}"/>
              </a:ext>
            </a:extLst>
          </p:cNvPr>
          <p:cNvSpPr/>
          <p:nvPr/>
        </p:nvSpPr>
        <p:spPr>
          <a:xfrm>
            <a:off x="6640370" y="2335645"/>
            <a:ext cx="1472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V1.0</a:t>
            </a:r>
            <a:endParaRPr lang="ru-RU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D8566E7-F4F3-6D9B-CA17-D68CF3728997}"/>
              </a:ext>
            </a:extLst>
          </p:cNvPr>
          <p:cNvSpPr/>
          <p:nvPr/>
        </p:nvSpPr>
        <p:spPr>
          <a:xfrm>
            <a:off x="8506042" y="2335645"/>
            <a:ext cx="1472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V1.1</a:t>
            </a:r>
            <a:endParaRPr lang="ru-RU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79ABCC5-32A6-67D7-5D50-7CFFF6816D80}"/>
              </a:ext>
            </a:extLst>
          </p:cNvPr>
          <p:cNvSpPr/>
          <p:nvPr/>
        </p:nvSpPr>
        <p:spPr>
          <a:xfrm>
            <a:off x="10318373" y="2335645"/>
            <a:ext cx="1472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V1.2</a:t>
            </a:r>
            <a:endParaRPr lang="ru-RU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1D42CCF-70F0-522E-C240-553F3A59D36E}"/>
              </a:ext>
            </a:extLst>
          </p:cNvPr>
          <p:cNvSpPr/>
          <p:nvPr/>
        </p:nvSpPr>
        <p:spPr>
          <a:xfrm>
            <a:off x="6640370" y="2978238"/>
            <a:ext cx="1472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/passwd</a:t>
            </a:r>
            <a:endParaRPr lang="ru-RU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67E2509-0956-4B94-4EA9-ECBFBFC27EDF}"/>
              </a:ext>
            </a:extLst>
          </p:cNvPr>
          <p:cNvSpPr/>
          <p:nvPr/>
        </p:nvSpPr>
        <p:spPr>
          <a:xfrm>
            <a:off x="6640370" y="3510845"/>
            <a:ext cx="1472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/shadow</a:t>
            </a:r>
            <a:endParaRPr lang="ru-RU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A7A2380-AC56-B911-3173-0FF1433CCC2A}"/>
              </a:ext>
            </a:extLst>
          </p:cNvPr>
          <p:cNvSpPr/>
          <p:nvPr/>
        </p:nvSpPr>
        <p:spPr>
          <a:xfrm>
            <a:off x="6640370" y="4043452"/>
            <a:ext cx="1472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/hosts</a:t>
            </a:r>
            <a:endParaRPr lang="ru-RU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FD962DA-096B-8A14-9BA1-C6646742840E}"/>
              </a:ext>
            </a:extLst>
          </p:cNvPr>
          <p:cNvSpPr/>
          <p:nvPr/>
        </p:nvSpPr>
        <p:spPr>
          <a:xfrm>
            <a:off x="6640370" y="4576059"/>
            <a:ext cx="1472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fstab</a:t>
            </a:r>
            <a:endParaRPr lang="ru-RU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591A06C-6FC5-48EA-6BF7-5FAF040BBC31}"/>
              </a:ext>
            </a:extLst>
          </p:cNvPr>
          <p:cNvSpPr/>
          <p:nvPr/>
        </p:nvSpPr>
        <p:spPr>
          <a:xfrm>
            <a:off x="8506042" y="4043452"/>
            <a:ext cx="1472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diff1</a:t>
            </a:r>
            <a:endParaRPr lang="ru-RU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B2EC7D1-B344-2068-7228-6535573A95A2}"/>
              </a:ext>
            </a:extLst>
          </p:cNvPr>
          <p:cNvSpPr/>
          <p:nvPr/>
        </p:nvSpPr>
        <p:spPr>
          <a:xfrm>
            <a:off x="8506042" y="2978238"/>
            <a:ext cx="1472400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/passwd</a:t>
            </a:r>
            <a:endParaRPr lang="ru-RU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65BCC9E-1514-FBCC-DE27-BB1CDC2F9888}"/>
              </a:ext>
            </a:extLst>
          </p:cNvPr>
          <p:cNvSpPr/>
          <p:nvPr/>
        </p:nvSpPr>
        <p:spPr>
          <a:xfrm>
            <a:off x="8506042" y="3510845"/>
            <a:ext cx="1472400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/shadow</a:t>
            </a:r>
            <a:endParaRPr lang="ru-RU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94B388B-C295-1336-399E-86565BB21749}"/>
              </a:ext>
            </a:extLst>
          </p:cNvPr>
          <p:cNvSpPr/>
          <p:nvPr/>
        </p:nvSpPr>
        <p:spPr>
          <a:xfrm>
            <a:off x="8506042" y="4576058"/>
            <a:ext cx="1472400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fstab</a:t>
            </a:r>
            <a:endParaRPr lang="ru-RU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CAD10AF-319E-44A7-4873-00C32FDE015F}"/>
              </a:ext>
            </a:extLst>
          </p:cNvPr>
          <p:cNvCxnSpPr>
            <a:stCxn id="71" idx="3"/>
            <a:endCxn id="76" idx="1"/>
          </p:cNvCxnSpPr>
          <p:nvPr/>
        </p:nvCxnSpPr>
        <p:spPr>
          <a:xfrm>
            <a:off x="8112770" y="3162904"/>
            <a:ext cx="39327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C9ABDB3-0D16-826A-0186-E81E1AD5D7BF}"/>
              </a:ext>
            </a:extLst>
          </p:cNvPr>
          <p:cNvCxnSpPr>
            <a:cxnSpLocks/>
            <a:stCxn id="72" idx="3"/>
            <a:endCxn id="77" idx="1"/>
          </p:cNvCxnSpPr>
          <p:nvPr/>
        </p:nvCxnSpPr>
        <p:spPr>
          <a:xfrm>
            <a:off x="8112770" y="3695511"/>
            <a:ext cx="39327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0110FB3-D3E9-A13A-A619-ED6D52B6B56E}"/>
              </a:ext>
            </a:extLst>
          </p:cNvPr>
          <p:cNvCxnSpPr>
            <a:cxnSpLocks/>
            <a:stCxn id="74" idx="3"/>
            <a:endCxn id="78" idx="1"/>
          </p:cNvCxnSpPr>
          <p:nvPr/>
        </p:nvCxnSpPr>
        <p:spPr>
          <a:xfrm flipV="1">
            <a:off x="8112770" y="4760724"/>
            <a:ext cx="393272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03D9423D-4BDE-F7EE-254C-60E125F09020}"/>
              </a:ext>
            </a:extLst>
          </p:cNvPr>
          <p:cNvSpPr/>
          <p:nvPr/>
        </p:nvSpPr>
        <p:spPr>
          <a:xfrm>
            <a:off x="10318374" y="4043452"/>
            <a:ext cx="1472400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/etc</a:t>
            </a:r>
            <a:r>
              <a:rPr lang="en-US" dirty="0"/>
              <a:t>/hosts</a:t>
            </a:r>
            <a:endParaRPr lang="ru-RU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6DFE56D-77E5-5A4D-FBFC-C1B00BA644DF}"/>
              </a:ext>
            </a:extLst>
          </p:cNvPr>
          <p:cNvSpPr/>
          <p:nvPr/>
        </p:nvSpPr>
        <p:spPr>
          <a:xfrm>
            <a:off x="10318374" y="2978238"/>
            <a:ext cx="1472400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/passwd</a:t>
            </a:r>
            <a:endParaRPr lang="ru-RU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DA0D1F3-9A0A-57C4-B52D-48CF02081905}"/>
              </a:ext>
            </a:extLst>
          </p:cNvPr>
          <p:cNvSpPr/>
          <p:nvPr/>
        </p:nvSpPr>
        <p:spPr>
          <a:xfrm>
            <a:off x="10318374" y="3510845"/>
            <a:ext cx="1472400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/shadow</a:t>
            </a:r>
            <a:endParaRPr lang="ru-RU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E2B1CE2-E94D-326A-026A-CE3184812F8E}"/>
              </a:ext>
            </a:extLst>
          </p:cNvPr>
          <p:cNvSpPr/>
          <p:nvPr/>
        </p:nvSpPr>
        <p:spPr>
          <a:xfrm>
            <a:off x="10318374" y="4576058"/>
            <a:ext cx="1472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diff2</a:t>
            </a:r>
            <a:endParaRPr lang="ru-RU" dirty="0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B972E9A-FEAE-1AF7-D09A-D37ED09484F2}"/>
              </a:ext>
            </a:extLst>
          </p:cNvPr>
          <p:cNvCxnSpPr>
            <a:cxnSpLocks/>
            <a:stCxn id="75" idx="3"/>
            <a:endCxn id="82" idx="1"/>
          </p:cNvCxnSpPr>
          <p:nvPr/>
        </p:nvCxnSpPr>
        <p:spPr>
          <a:xfrm>
            <a:off x="9978442" y="4228118"/>
            <a:ext cx="33993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C9732C1-4AC6-0072-AB45-B66324E5C128}"/>
              </a:ext>
            </a:extLst>
          </p:cNvPr>
          <p:cNvCxnSpPr>
            <a:cxnSpLocks/>
            <a:stCxn id="73" idx="3"/>
            <a:endCxn id="75" idx="1"/>
          </p:cNvCxnSpPr>
          <p:nvPr/>
        </p:nvCxnSpPr>
        <p:spPr>
          <a:xfrm>
            <a:off x="8112770" y="4228118"/>
            <a:ext cx="39327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587C3D0-F78C-FF01-DBC7-6EBD4F1D7F2B}"/>
              </a:ext>
            </a:extLst>
          </p:cNvPr>
          <p:cNvCxnSpPr>
            <a:cxnSpLocks/>
          </p:cNvCxnSpPr>
          <p:nvPr/>
        </p:nvCxnSpPr>
        <p:spPr>
          <a:xfrm>
            <a:off x="9978442" y="4760724"/>
            <a:ext cx="33993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27113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BF679-2798-E19D-11EC-AE120AAAC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02C7720-E6EE-0E08-5E9E-71F4A78DDAE7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F1DB40DF-EB39-02A2-DF4E-73506C34DC90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Способы сбора конфигураций</a:t>
            </a:r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61133391-B06C-E6ED-2E51-3EB50F4FA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475FF83-D6CD-9AAD-6682-88E1E9E9D760}"/>
              </a:ext>
            </a:extLst>
          </p:cNvPr>
          <p:cNvCxnSpPr/>
          <p:nvPr/>
        </p:nvCxnSpPr>
        <p:spPr>
          <a:xfrm>
            <a:off x="5943600" y="1046757"/>
            <a:ext cx="0" cy="562224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3A1DE2AF-895A-367F-C884-8535E5163B8A}"/>
              </a:ext>
            </a:extLst>
          </p:cNvPr>
          <p:cNvSpPr/>
          <p:nvPr/>
        </p:nvSpPr>
        <p:spPr>
          <a:xfrm>
            <a:off x="6460288" y="1832611"/>
            <a:ext cx="2393151" cy="274476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Сетевой узел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83DB0A-7E55-F3ED-23F6-E71543D0F815}"/>
              </a:ext>
            </a:extLst>
          </p:cNvPr>
          <p:cNvSpPr/>
          <p:nvPr/>
        </p:nvSpPr>
        <p:spPr>
          <a:xfrm>
            <a:off x="9181235" y="1832609"/>
            <a:ext cx="2393151" cy="27447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 хранения событий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D5F4A5-D2AA-CD25-81CF-568290FF1930}"/>
              </a:ext>
            </a:extLst>
          </p:cNvPr>
          <p:cNvSpPr/>
          <p:nvPr/>
        </p:nvSpPr>
        <p:spPr>
          <a:xfrm>
            <a:off x="6648857" y="3032952"/>
            <a:ext cx="1980000" cy="54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Сборщик конфигураций</a:t>
            </a:r>
          </a:p>
        </p:txBody>
      </p:sp>
      <p:sp>
        <p:nvSpPr>
          <p:cNvPr id="48" name="Cylinder 47">
            <a:extLst>
              <a:ext uri="{FF2B5EF4-FFF2-40B4-BE49-F238E27FC236}">
                <a16:creationId xmlns:a16="http://schemas.microsoft.com/office/drawing/2014/main" id="{6F840D5E-627C-D941-08C9-BBB8EB899964}"/>
              </a:ext>
            </a:extLst>
          </p:cNvPr>
          <p:cNvSpPr/>
          <p:nvPr/>
        </p:nvSpPr>
        <p:spPr>
          <a:xfrm>
            <a:off x="6648857" y="3793485"/>
            <a:ext cx="1980000" cy="68695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Локальная база конфигураций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408AD43-2382-D03D-A7B5-1F7D2657FE19}"/>
              </a:ext>
            </a:extLst>
          </p:cNvPr>
          <p:cNvCxnSpPr>
            <a:cxnSpLocks/>
            <a:stCxn id="48" idx="1"/>
            <a:endCxn id="47" idx="2"/>
          </p:cNvCxnSpPr>
          <p:nvPr/>
        </p:nvCxnSpPr>
        <p:spPr>
          <a:xfrm flipV="1">
            <a:off x="7638857" y="3580394"/>
            <a:ext cx="0" cy="213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Номер слайда 5">
            <a:extLst>
              <a:ext uri="{FF2B5EF4-FFF2-40B4-BE49-F238E27FC236}">
                <a16:creationId xmlns:a16="http://schemas.microsoft.com/office/drawing/2014/main" id="{7BFBD0CD-E257-A75E-C33E-BC20C1FB8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F9AC15E-FCD1-4167-800F-1DB8497ABFCE}" type="slidenum">
              <a:rPr lang="ru-RU" smtClean="0"/>
              <a:t>70</a:t>
            </a:fld>
            <a:endParaRPr lang="ru-RU" dirty="0"/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10DD34F3-D405-C6A9-C3D6-7163953FF851}"/>
              </a:ext>
            </a:extLst>
          </p:cNvPr>
          <p:cNvSpPr/>
          <p:nvPr/>
        </p:nvSpPr>
        <p:spPr>
          <a:xfrm>
            <a:off x="9387810" y="2844711"/>
            <a:ext cx="1980000" cy="92392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Хранилище конфигураций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2CDA6F2-7D7A-A2B6-84CB-4176A4CF00C8}"/>
              </a:ext>
            </a:extLst>
          </p:cNvPr>
          <p:cNvCxnSpPr>
            <a:cxnSpLocks/>
            <a:stCxn id="47" idx="3"/>
            <a:endCxn id="39" idx="2"/>
          </p:cNvCxnSpPr>
          <p:nvPr/>
        </p:nvCxnSpPr>
        <p:spPr>
          <a:xfrm>
            <a:off x="8628857" y="3306673"/>
            <a:ext cx="75895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9BC41C4-6107-0A87-2BFD-0188C01215AC}"/>
              </a:ext>
            </a:extLst>
          </p:cNvPr>
          <p:cNvSpPr txBox="1"/>
          <p:nvPr/>
        </p:nvSpPr>
        <p:spPr>
          <a:xfrm>
            <a:off x="8190010" y="1433823"/>
            <a:ext cx="169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Агентный</a:t>
            </a:r>
            <a:r>
              <a:rPr lang="ru-RU" dirty="0"/>
              <a:t> сбор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23EC7B-227F-4988-EA63-01144044626F}"/>
              </a:ext>
            </a:extLst>
          </p:cNvPr>
          <p:cNvSpPr txBox="1"/>
          <p:nvPr/>
        </p:nvSpPr>
        <p:spPr>
          <a:xfrm>
            <a:off x="1855200" y="1433823"/>
            <a:ext cx="2248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«</a:t>
            </a:r>
            <a:r>
              <a:rPr lang="ru-RU" dirty="0" err="1"/>
              <a:t>Безагентный</a:t>
            </a:r>
            <a:r>
              <a:rPr lang="ru-RU" dirty="0"/>
              <a:t>» сбор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9CCF6E-1DE0-6A8D-9744-5C03CC23DAD0}"/>
              </a:ext>
            </a:extLst>
          </p:cNvPr>
          <p:cNvSpPr/>
          <p:nvPr/>
        </p:nvSpPr>
        <p:spPr>
          <a:xfrm>
            <a:off x="312815" y="1858898"/>
            <a:ext cx="2393151" cy="14055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Сетевой узел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D490C8-D804-96DF-2170-6CF555EBC3D3}"/>
              </a:ext>
            </a:extLst>
          </p:cNvPr>
          <p:cNvSpPr/>
          <p:nvPr/>
        </p:nvSpPr>
        <p:spPr>
          <a:xfrm>
            <a:off x="3033762" y="1858897"/>
            <a:ext cx="2393151" cy="14055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Сервер сбора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2F0CB7-75AD-B759-F5F8-FA4B2A61F546}"/>
              </a:ext>
            </a:extLst>
          </p:cNvPr>
          <p:cNvSpPr/>
          <p:nvPr/>
        </p:nvSpPr>
        <p:spPr>
          <a:xfrm>
            <a:off x="3282816" y="2441973"/>
            <a:ext cx="1980000" cy="54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Сборщик конфигураций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36A0167-1A2C-3895-3893-3BE1921C61E6}"/>
              </a:ext>
            </a:extLst>
          </p:cNvPr>
          <p:cNvCxnSpPr>
            <a:cxnSpLocks/>
          </p:cNvCxnSpPr>
          <p:nvPr/>
        </p:nvCxnSpPr>
        <p:spPr>
          <a:xfrm flipV="1">
            <a:off x="2499390" y="2715694"/>
            <a:ext cx="783426" cy="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686173B-9374-374B-B81C-5709E6418E9E}"/>
              </a:ext>
            </a:extLst>
          </p:cNvPr>
          <p:cNvSpPr/>
          <p:nvPr/>
        </p:nvSpPr>
        <p:spPr>
          <a:xfrm>
            <a:off x="519390" y="2243184"/>
            <a:ext cx="1980000" cy="9450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Сервис удаленного управления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A96E83-7BCF-1E55-E904-BEDE1D83F294}"/>
              </a:ext>
            </a:extLst>
          </p:cNvPr>
          <p:cNvSpPr/>
          <p:nvPr/>
        </p:nvSpPr>
        <p:spPr>
          <a:xfrm>
            <a:off x="312815" y="3538158"/>
            <a:ext cx="2393151" cy="14055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Сетевой узел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DF3166-BD33-A467-D8C2-26BFA58B53E1}"/>
              </a:ext>
            </a:extLst>
          </p:cNvPr>
          <p:cNvSpPr/>
          <p:nvPr/>
        </p:nvSpPr>
        <p:spPr>
          <a:xfrm>
            <a:off x="3033762" y="3538157"/>
            <a:ext cx="2393151" cy="14055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Сервер сбора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E60C27-7E3F-750C-CCA6-FB5FC7C78237}"/>
              </a:ext>
            </a:extLst>
          </p:cNvPr>
          <p:cNvSpPr/>
          <p:nvPr/>
        </p:nvSpPr>
        <p:spPr>
          <a:xfrm>
            <a:off x="3282816" y="4121233"/>
            <a:ext cx="1980000" cy="54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Скрипт сбора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62E8A27-6B77-FCB9-FFFD-E7AC967827A3}"/>
              </a:ext>
            </a:extLst>
          </p:cNvPr>
          <p:cNvCxnSpPr>
            <a:cxnSpLocks/>
          </p:cNvCxnSpPr>
          <p:nvPr/>
        </p:nvCxnSpPr>
        <p:spPr>
          <a:xfrm flipV="1">
            <a:off x="2499390" y="4394954"/>
            <a:ext cx="783426" cy="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13445454-7B86-04F6-D1AD-0208DF0981E0}"/>
              </a:ext>
            </a:extLst>
          </p:cNvPr>
          <p:cNvSpPr/>
          <p:nvPr/>
        </p:nvSpPr>
        <p:spPr>
          <a:xfrm>
            <a:off x="519390" y="3922444"/>
            <a:ext cx="1980000" cy="9450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Удаленная консоль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977CB7-22EA-60CA-EA4B-818AD3A21E1F}"/>
              </a:ext>
            </a:extLst>
          </p:cNvPr>
          <p:cNvSpPr/>
          <p:nvPr/>
        </p:nvSpPr>
        <p:spPr>
          <a:xfrm>
            <a:off x="312815" y="5217416"/>
            <a:ext cx="2393151" cy="14055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Сетевой узел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BEC7A2-AFEB-D1B4-83D2-7489BC548305}"/>
              </a:ext>
            </a:extLst>
          </p:cNvPr>
          <p:cNvSpPr/>
          <p:nvPr/>
        </p:nvSpPr>
        <p:spPr>
          <a:xfrm>
            <a:off x="3033762" y="5217415"/>
            <a:ext cx="2393151" cy="14055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Сервер сбора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1CE8E65-B699-6019-3B59-461015593872}"/>
              </a:ext>
            </a:extLst>
          </p:cNvPr>
          <p:cNvSpPr/>
          <p:nvPr/>
        </p:nvSpPr>
        <p:spPr>
          <a:xfrm>
            <a:off x="3282816" y="5800491"/>
            <a:ext cx="1980000" cy="54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Сборщик файлов конфигураций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7480FAC-FF1E-DFA0-FF1C-13062DC9DD07}"/>
              </a:ext>
            </a:extLst>
          </p:cNvPr>
          <p:cNvCxnSpPr>
            <a:cxnSpLocks/>
          </p:cNvCxnSpPr>
          <p:nvPr/>
        </p:nvCxnSpPr>
        <p:spPr>
          <a:xfrm flipV="1">
            <a:off x="2499390" y="6074212"/>
            <a:ext cx="783426" cy="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C7EAFF0C-C115-3ADC-0044-63FF768DDE93}"/>
              </a:ext>
            </a:extLst>
          </p:cNvPr>
          <p:cNvSpPr/>
          <p:nvPr/>
        </p:nvSpPr>
        <p:spPr>
          <a:xfrm>
            <a:off x="519390" y="5601702"/>
            <a:ext cx="1980000" cy="9450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Сетевая ФС</a:t>
            </a:r>
          </a:p>
        </p:txBody>
      </p:sp>
    </p:spTree>
    <p:extLst>
      <p:ext uri="{BB962C8B-B14F-4D97-AF65-F5344CB8AC3E}">
        <p14:creationId xmlns:p14="http://schemas.microsoft.com/office/powerpoint/2010/main" val="141845990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04637-7A6C-3CA7-E32B-BED630714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FD244E3-B4DB-EC21-87ED-B6D05F341C2A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A027CB83-BA96-6C89-8B47-56B7BAEF48C2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Безопасное хранение и работа с секретами</a:t>
            </a:r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C06EB6F4-0B8C-337E-A84D-4215542F9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1506D9BD-B4A1-737D-FF0F-676A446FA71E}"/>
              </a:ext>
            </a:extLst>
          </p:cNvPr>
          <p:cNvSpPr/>
          <p:nvPr/>
        </p:nvSpPr>
        <p:spPr>
          <a:xfrm>
            <a:off x="7609895" y="1518559"/>
            <a:ext cx="1628372" cy="27447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HSM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6" name="Номер слайда 5">
            <a:extLst>
              <a:ext uri="{FF2B5EF4-FFF2-40B4-BE49-F238E27FC236}">
                <a16:creationId xmlns:a16="http://schemas.microsoft.com/office/drawing/2014/main" id="{80E2FC46-34FB-B492-7C9F-C3DCBA78D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F9AC15E-FCD1-4167-800F-1DB8497ABFCE}" type="slidenum">
              <a:rPr lang="ru-RU" smtClean="0"/>
              <a:t>71</a:t>
            </a:fld>
            <a:endParaRPr lang="ru-RU" dirty="0"/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05881F4B-451F-A5B9-86BE-345EF1512DC7}"/>
              </a:ext>
            </a:extLst>
          </p:cNvPr>
          <p:cNvSpPr/>
          <p:nvPr/>
        </p:nvSpPr>
        <p:spPr>
          <a:xfrm>
            <a:off x="4432829" y="3152944"/>
            <a:ext cx="1980000" cy="92392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Хранилище секретов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94E58-9952-5551-BEF1-D1AC2AEC3205}"/>
              </a:ext>
            </a:extLst>
          </p:cNvPr>
          <p:cNvSpPr/>
          <p:nvPr/>
        </p:nvSpPr>
        <p:spPr>
          <a:xfrm>
            <a:off x="7883271" y="1868528"/>
            <a:ext cx="1232446" cy="54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MK</a:t>
            </a:r>
            <a:endParaRPr lang="ru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7F76BE-AFC3-E27C-BA32-474093D86088}"/>
              </a:ext>
            </a:extLst>
          </p:cNvPr>
          <p:cNvSpPr/>
          <p:nvPr/>
        </p:nvSpPr>
        <p:spPr>
          <a:xfrm>
            <a:off x="7883271" y="2621267"/>
            <a:ext cx="1232446" cy="54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KEK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D74A7B-693B-CF5F-BF7D-5F1FA26E0127}"/>
              </a:ext>
            </a:extLst>
          </p:cNvPr>
          <p:cNvSpPr/>
          <p:nvPr/>
        </p:nvSpPr>
        <p:spPr>
          <a:xfrm>
            <a:off x="7883271" y="3341186"/>
            <a:ext cx="1232446" cy="54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DEK</a:t>
            </a:r>
            <a:endParaRPr lang="ru-RU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184A800-D7CD-6E27-78F0-2B13FD44BFFB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8499494" y="2415970"/>
            <a:ext cx="0" cy="205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AF0CC22-5993-83FA-C3BA-5A9969F99530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8499494" y="3168709"/>
            <a:ext cx="0" cy="172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DCAACC-7EFE-F285-D32D-2143A4760D3C}"/>
              </a:ext>
            </a:extLst>
          </p:cNvPr>
          <p:cNvCxnSpPr>
            <a:cxnSpLocks/>
            <a:stCxn id="12" idx="1"/>
            <a:endCxn id="39" idx="4"/>
          </p:cNvCxnSpPr>
          <p:nvPr/>
        </p:nvCxnSpPr>
        <p:spPr>
          <a:xfrm flipH="1">
            <a:off x="6412829" y="3614907"/>
            <a:ext cx="147044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4AE4589-F5FF-9EE2-9071-CCA1B20840FD}"/>
              </a:ext>
            </a:extLst>
          </p:cNvPr>
          <p:cNvSpPr/>
          <p:nvPr/>
        </p:nvSpPr>
        <p:spPr>
          <a:xfrm>
            <a:off x="4276600" y="1518558"/>
            <a:ext cx="2316875" cy="274476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KMIP </a:t>
            </a:r>
            <a:r>
              <a:rPr lang="ru-RU" dirty="0">
                <a:solidFill>
                  <a:schemeClr val="tx1"/>
                </a:solidFill>
              </a:rPr>
              <a:t>сервер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95CE31-A59F-9721-2E90-C05E5B3A9582}"/>
              </a:ext>
            </a:extLst>
          </p:cNvPr>
          <p:cNvSpPr/>
          <p:nvPr/>
        </p:nvSpPr>
        <p:spPr>
          <a:xfrm>
            <a:off x="348794" y="1518558"/>
            <a:ext cx="2391830" cy="274476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Обладатель ключа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71D745-F8BB-37E0-F4EC-B7330EE7C22B}"/>
              </a:ext>
            </a:extLst>
          </p:cNvPr>
          <p:cNvSpPr/>
          <p:nvPr/>
        </p:nvSpPr>
        <p:spPr>
          <a:xfrm>
            <a:off x="4391586" y="1973027"/>
            <a:ext cx="1980000" cy="54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Сертификат сервера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C2C01C-6909-93A8-B46B-3B78572CDB41}"/>
              </a:ext>
            </a:extLst>
          </p:cNvPr>
          <p:cNvSpPr/>
          <p:nvPr/>
        </p:nvSpPr>
        <p:spPr>
          <a:xfrm>
            <a:off x="552905" y="1973027"/>
            <a:ext cx="1980000" cy="547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Сертификат клиента</a:t>
            </a:r>
          </a:p>
        </p:txBody>
      </p:sp>
      <p:sp>
        <p:nvSpPr>
          <p:cNvPr id="40" name="Cylinder 39">
            <a:extLst>
              <a:ext uri="{FF2B5EF4-FFF2-40B4-BE49-F238E27FC236}">
                <a16:creationId xmlns:a16="http://schemas.microsoft.com/office/drawing/2014/main" id="{D6071AE0-E710-1760-15B9-CEBD5ADBE0C1}"/>
              </a:ext>
            </a:extLst>
          </p:cNvPr>
          <p:cNvSpPr/>
          <p:nvPr/>
        </p:nvSpPr>
        <p:spPr>
          <a:xfrm rot="5400000">
            <a:off x="3265501" y="1459527"/>
            <a:ext cx="471193" cy="1574444"/>
          </a:xfrm>
          <a:prstGeom prst="can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AB8E10-3910-2C9C-A2B9-B15757D67F3E}"/>
              </a:ext>
            </a:extLst>
          </p:cNvPr>
          <p:cNvSpPr txBox="1"/>
          <p:nvPr/>
        </p:nvSpPr>
        <p:spPr>
          <a:xfrm>
            <a:off x="2772199" y="2062081"/>
            <a:ext cx="1516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mTLS</a:t>
            </a:r>
            <a:r>
              <a:rPr lang="en-US" dirty="0"/>
              <a:t> </a:t>
            </a:r>
            <a:r>
              <a:rPr lang="ru-RU" dirty="0"/>
              <a:t>туннель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8EC931B-1A70-0BEF-5193-85230C409E32}"/>
              </a:ext>
            </a:extLst>
          </p:cNvPr>
          <p:cNvCxnSpPr>
            <a:cxnSpLocks/>
            <a:stCxn id="37" idx="3"/>
            <a:endCxn id="40" idx="3"/>
          </p:cNvCxnSpPr>
          <p:nvPr/>
        </p:nvCxnSpPr>
        <p:spPr>
          <a:xfrm>
            <a:off x="2532905" y="2246748"/>
            <a:ext cx="18097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105A1A5-7229-7730-4B98-601700C04FC1}"/>
              </a:ext>
            </a:extLst>
          </p:cNvPr>
          <p:cNvCxnSpPr>
            <a:cxnSpLocks/>
            <a:stCxn id="31" idx="1"/>
            <a:endCxn id="40" idx="1"/>
          </p:cNvCxnSpPr>
          <p:nvPr/>
        </p:nvCxnSpPr>
        <p:spPr>
          <a:xfrm flipH="1">
            <a:off x="4288320" y="2246748"/>
            <a:ext cx="103266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7FB701B-9A32-E477-7918-8BE56517BC99}"/>
              </a:ext>
            </a:extLst>
          </p:cNvPr>
          <p:cNvSpPr txBox="1"/>
          <p:nvPr/>
        </p:nvSpPr>
        <p:spPr>
          <a:xfrm>
            <a:off x="6569058" y="3565462"/>
            <a:ext cx="1132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Шифр.</a:t>
            </a:r>
          </a:p>
          <a:p>
            <a:r>
              <a:rPr lang="ru-RU" dirty="0" err="1"/>
              <a:t>Расшифр</a:t>
            </a:r>
            <a:r>
              <a:rPr lang="ru-RU" dirty="0"/>
              <a:t>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92C295-CF20-924F-5867-3A248CA74E81}"/>
              </a:ext>
            </a:extLst>
          </p:cNvPr>
          <p:cNvSpPr txBox="1"/>
          <p:nvPr/>
        </p:nvSpPr>
        <p:spPr>
          <a:xfrm>
            <a:off x="414490" y="4499569"/>
            <a:ext cx="106997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MK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KEK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никогда не покидают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DEK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может передаваться обладателю только в зашифрованном виде (используя публичный ключ сертификата обладателя)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Взаимодействие обладателя и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KMIP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сервера только по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mTLS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протоколу (взаимная аутентификация)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Сервер осуществляет аутентификацию и авторизацию обладателя (к каким секретам имеет доступ обладатель, какие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KEK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DEK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ему принадлежат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Секрет в открытом виде присутствует только в оперативной памяти – запись только в безопасное хранилище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12A162-22EA-5967-54D4-C8B7FE11A6B2}"/>
              </a:ext>
            </a:extLst>
          </p:cNvPr>
          <p:cNvSpPr txBox="1"/>
          <p:nvPr/>
        </p:nvSpPr>
        <p:spPr>
          <a:xfrm>
            <a:off x="9387403" y="1666326"/>
            <a:ext cx="28045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HSM – Hardware security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KEK – Key encryption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DEK – Data encryption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KMIP – Key management Interoperability 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mTLS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mutual Transport layer security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2193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603100" y="1878519"/>
            <a:ext cx="59240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4400" b="1" dirty="0">
                <a:solidFill>
                  <a:srgbClr val="FF0000"/>
                </a:solidFill>
              </a:rPr>
              <a:t>Спасибо за внимание!</a:t>
            </a:r>
          </a:p>
        </p:txBody>
      </p:sp>
      <p:pic>
        <p:nvPicPr>
          <p:cNvPr id="7" name="Объект 1">
            <a:extLst>
              <a:ext uri="{FF2B5EF4-FFF2-40B4-BE49-F238E27FC236}">
                <a16:creationId xmlns:a16="http://schemas.microsoft.com/office/drawing/2014/main" id="{3D7E922A-E574-C847-BA5B-E66D8477CB3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9818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11460</TotalTime>
  <Words>4442</Words>
  <Application>Microsoft Office PowerPoint</Application>
  <PresentationFormat>Widescreen</PresentationFormat>
  <Paragraphs>964</Paragraphs>
  <Slides>72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2" baseType="lpstr">
      <vt:lpstr>Arial</vt:lpstr>
      <vt:lpstr>Calibri</vt:lpstr>
      <vt:lpstr>Calibri Light</vt:lpstr>
      <vt:lpstr>Consolas</vt:lpstr>
      <vt:lpstr>Courier New</vt:lpstr>
      <vt:lpstr>Inconsolata</vt:lpstr>
      <vt:lpstr>Lucida Console</vt:lpstr>
      <vt:lpstr>Menlo</vt:lpstr>
      <vt:lpstr>Tahoma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Владимир Михайлович Грязнов</dc:creator>
  <cp:lastModifiedBy>Николай Домуховский</cp:lastModifiedBy>
  <cp:revision>283</cp:revision>
  <dcterms:created xsi:type="dcterms:W3CDTF">2020-07-22T09:29:31Z</dcterms:created>
  <dcterms:modified xsi:type="dcterms:W3CDTF">2026-05-24T21:16:37Z</dcterms:modified>
</cp:coreProperties>
</file>