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57" r:id="rId3"/>
    <p:sldId id="426" r:id="rId4"/>
    <p:sldId id="338" r:id="rId5"/>
    <p:sldId id="487" r:id="rId6"/>
    <p:sldId id="486" r:id="rId7"/>
    <p:sldId id="488" r:id="rId8"/>
    <p:sldId id="496" r:id="rId9"/>
    <p:sldId id="489" r:id="rId10"/>
    <p:sldId id="490" r:id="rId11"/>
    <p:sldId id="491" r:id="rId12"/>
    <p:sldId id="492" r:id="rId13"/>
    <p:sldId id="497" r:id="rId14"/>
    <p:sldId id="494" r:id="rId15"/>
    <p:sldId id="495" r:id="rId16"/>
    <p:sldId id="498" r:id="rId17"/>
    <p:sldId id="499" r:id="rId18"/>
    <p:sldId id="500" r:id="rId19"/>
    <p:sldId id="501" r:id="rId20"/>
    <p:sldId id="502" r:id="rId21"/>
    <p:sldId id="503" r:id="rId22"/>
    <p:sldId id="318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C4F4"/>
    <a:srgbClr val="FF7474"/>
    <a:srgbClr val="7030A0"/>
    <a:srgbClr val="556F43"/>
    <a:srgbClr val="FFC000"/>
    <a:srgbClr val="8DB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0465" autoAdjust="0"/>
  </p:normalViewPr>
  <p:slideViewPr>
    <p:cSldViewPr snapToGrid="0">
      <p:cViewPr varScale="1">
        <p:scale>
          <a:sx n="102" d="100"/>
          <a:sy n="102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67A74-FEEF-45B0-ABD3-14EA22804807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A7E3A-ADC7-4226-B3BF-DCB7408A14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8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77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107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8EEB9-8D89-43F4-6DF0-350ACE5A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CD0F44D-5FAA-752A-F753-D16F6CD42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6803575-411F-994C-28F4-60C07B285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3139D8-E272-4A33-0A20-F900D6C40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951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2A228-2A8F-739B-1AE3-51DE1DEB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A0D176-7E8C-D830-E500-BDA5B8C95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F21917-B67C-2D2A-CBD8-4843A669E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AE1299-ED39-CB79-DFA2-F322826C1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707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8560-656B-40D8-BED9-651E1B88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88C6AD5-741A-A230-A38A-B5E0D9BBE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271B43-8C5F-110C-BD80-442CDA739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C6D448-A6B6-3CFE-D3A3-0D15C592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938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3BC51-959D-F5BD-1043-B92CCCC3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71E50A-B7AB-C864-DF86-9258A72BA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3DECB8-D39F-9D1E-0A04-282308FBD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DA4C58-BAFB-04FB-5224-6669C4707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741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6DAA-04CD-CB73-81F4-1D705CDD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0E1825-C539-CC78-F7A4-0349A9E65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21ADB1-640C-7944-1F77-A21A951E0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C7193E-8D13-6110-B1C4-36E61145B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612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A55C-03E8-7960-CE60-BE666C96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272A28-4F64-59C0-C71F-AB0C0C418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426767-294A-D682-781C-32D1A9609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F48947-78FD-E379-0CF3-0158A7584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451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D150-419E-8514-27F4-AE5BE61C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8992A6-4A77-01E1-47FE-CFDE0B538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64E6E3-5C11-AEA6-4BDA-C613F0A00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E9F8A2-F9CF-475C-7FF2-58188F913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173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E9CBB-A6F3-F401-3B51-6819D184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819F6F-D901-9E37-36C9-18772AB19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BFF0BB-EA82-AA0B-CFDF-86EDE9276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27DE7F-1D94-8458-42BC-690E52689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092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E723-97B4-E508-2FDA-4EFECFFED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BC1E4-47E7-FF1F-11CE-D6AFF7C6E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A27AD3-C27F-E20B-2BF5-06979E6BD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13B988-FFB2-4A1A-C47F-1745750A0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170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0BD4-3E4D-476F-C87F-DC02F328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AC1DF3-CAE4-EA81-EB01-AC6861FC8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947185-059E-3AC1-CB34-A00492B0B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246E7B-D651-E8C8-EFC7-4C79EB49E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097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3B53-A828-6D86-DDCF-9BF7F2DF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89FC48-4939-853E-2868-E6DEADD84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B1B16F-7A92-94B0-21B8-F443937EB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55B8DF-F29B-A02D-6F35-72DD1B74B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052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3DEA-4EF7-16F8-9C43-B4FBE6B45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8E3050-D244-E8E8-82DA-7A7D842E9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4B4BAA-2608-61FB-4C13-B018AD0B0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711FFC-E272-A4AB-7861-6436DCAC2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00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907C-D19B-D693-5CD0-27077188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D5ADEE-EB69-127C-88B6-24CAE77FC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924F1B1-6436-6F2B-C555-4BC72D389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6E8747-D0F3-523E-E0AF-B171834DE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784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07C4-1B78-A143-7F61-C64256A6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05B430-5D3C-6BB2-BD34-C7F2C4243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65813E-E9F9-AC92-282C-6647133D6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D83D72-5A7E-35C7-83EB-CA3448270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578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DD783-417C-9841-CE7D-96C4A806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128FDE-2EC8-CFD3-BB37-8BE1A2F23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FFE69F-5A2D-82A8-F29D-3D46E8BB1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A2B246-1025-BC7E-F44E-4DD252696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436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029D-0663-4EEC-027B-54B4F68C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C87E4F-026C-8AB4-245D-6F4010D0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58A2E2-FD9B-5658-F16E-D4671A95E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54F39E-485D-7691-F6D4-605C796B6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28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0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9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4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6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78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3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38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76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05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77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C4E9E-3BE5-4665-BAE6-72CA507E8656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59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37230" y="1784804"/>
            <a:ext cx="9379389" cy="34522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«Методы анализа данных»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Лекция 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Инструменты и методы анализа событий безопасности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52052" y="5484010"/>
            <a:ext cx="787619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Домуховский Николай Анатольевич</a:t>
            </a:r>
          </a:p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Заместитель директора по проектной работе, УНЦ ИБ ИРИТ-РТФ УрФУ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N.A.Domukhovsky@urfu.ru, telegram: @Nick1982ad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04525-F42B-0A4F-A843-6E85C99DDA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1037230" y="467642"/>
            <a:ext cx="2016631" cy="1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Напомню принципы работы на курсе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8E330A-A21C-4139-889E-E71E5BC27371}"/>
              </a:ext>
            </a:extLst>
          </p:cNvPr>
          <p:cNvSpPr/>
          <p:nvPr/>
        </p:nvSpPr>
        <p:spPr>
          <a:xfrm>
            <a:off x="2303178" y="2526991"/>
            <a:ext cx="27313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ИНИЦИАТИВНОСТЬ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ЛЮБОПЫТСТВО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A8F2BC51-42E3-FD97-A85C-3A82120DFBB6}"/>
              </a:ext>
            </a:extLst>
          </p:cNvPr>
          <p:cNvSpPr/>
          <p:nvPr/>
        </p:nvSpPr>
        <p:spPr>
          <a:xfrm>
            <a:off x="8249271" y="2526991"/>
            <a:ext cx="2468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БЕЗОПАСНАЯ СРЕДА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8D72102-BE75-B3FB-A425-0D0A658E521B}"/>
              </a:ext>
            </a:extLst>
          </p:cNvPr>
          <p:cNvSpPr/>
          <p:nvPr/>
        </p:nvSpPr>
        <p:spPr>
          <a:xfrm>
            <a:off x="8215575" y="3817675"/>
            <a:ext cx="2536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ОТВЕТСТВЕННОСТЬ</a:t>
            </a: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62CFCEAE-2271-C5CA-854A-210CA3005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422" y="2322017"/>
            <a:ext cx="1001265" cy="1001265"/>
          </a:xfrm>
          <a:prstGeom prst="rect">
            <a:avLst/>
          </a:prstGeom>
        </p:spPr>
      </p:pic>
      <p:pic>
        <p:nvPicPr>
          <p:cNvPr id="11" name="Рисунок 6">
            <a:extLst>
              <a:ext uri="{FF2B5EF4-FFF2-40B4-BE49-F238E27FC236}">
                <a16:creationId xmlns:a16="http://schemas.microsoft.com/office/drawing/2014/main" id="{3B2D323A-1547-5B2E-A8DA-7A522BC06D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91" y="3366644"/>
            <a:ext cx="1021487" cy="1023937"/>
          </a:xfrm>
          <a:prstGeom prst="rect">
            <a:avLst/>
          </a:prstGeom>
        </p:spPr>
      </p:pic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980E08DA-B2CE-175E-A853-FBF181BA0B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07" y="2364256"/>
            <a:ext cx="916788" cy="916788"/>
          </a:xfrm>
          <a:prstGeom prst="rect">
            <a:avLst/>
          </a:prstGeom>
        </p:spPr>
      </p:pic>
      <p:pic>
        <p:nvPicPr>
          <p:cNvPr id="13" name="Рисунок 8">
            <a:extLst>
              <a:ext uri="{FF2B5EF4-FFF2-40B4-BE49-F238E27FC236}">
                <a16:creationId xmlns:a16="http://schemas.microsoft.com/office/drawing/2014/main" id="{0AE441DB-6B7C-7E01-CAF0-FF567F1055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46" y="3470156"/>
            <a:ext cx="915216" cy="9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1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A4E5-4B0A-5724-8F62-00F07516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562FD5-ED39-7B77-5106-D6119EE4C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A853B87-440E-689C-967F-A2976E0A5E41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Нормализация событий с помощью 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Grok (</a:t>
            </a: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</a:t>
            </a: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LLM!)</a:t>
            </a:r>
            <a:endParaRPr lang="ru-RU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444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Вспомним регулярные выражения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06CDDD85-9F2A-A986-3476-DDD24759BC62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39516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Регулярные выражения </a:t>
            </a:r>
            <a:r>
              <a:rPr lang="ru-RU" dirty="0"/>
              <a:t>(англ. «</a:t>
            </a:r>
            <a:r>
              <a:rPr lang="ru-RU" dirty="0" err="1"/>
              <a:t>regular</a:t>
            </a:r>
            <a:r>
              <a:rPr lang="ru-RU" dirty="0"/>
              <a:t> </a:t>
            </a:r>
            <a:r>
              <a:rPr lang="ru-RU" dirty="0" err="1"/>
              <a:t>expressions</a:t>
            </a:r>
            <a:r>
              <a:rPr lang="ru-RU" dirty="0"/>
              <a:t>) — система поиска текстовых фрагментов в электронных документах, основанная на специальной системе записи шаблонов для поиска</a:t>
            </a:r>
            <a:endParaRPr lang="en-US" dirty="0"/>
          </a:p>
          <a:p>
            <a:r>
              <a:rPr lang="ru-RU" dirty="0"/>
              <a:t>Шаблон (англ. «</a:t>
            </a:r>
            <a:r>
              <a:rPr lang="ru-RU" dirty="0" err="1"/>
              <a:t>pattern</a:t>
            </a:r>
            <a:r>
              <a:rPr lang="ru-RU" dirty="0"/>
              <a:t>»), задающий правило поиска, по-русски также иногда называют «маской» или на английский манер «паттерном»</a:t>
            </a:r>
          </a:p>
        </p:txBody>
      </p:sp>
    </p:spTree>
    <p:extLst>
      <p:ext uri="{BB962C8B-B14F-4D97-AF65-F5344CB8AC3E}">
        <p14:creationId xmlns:p14="http://schemas.microsoft.com/office/powerpoint/2010/main" val="361292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95E3-2666-8052-6503-54E82D90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4466FA-07CA-94D5-8301-8476ED650983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166697D-4588-F9EC-742D-A035ED186A3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Виды регулярных выражений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240AC3-E459-66C4-12B5-38AE8291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85D514A-64DA-76AA-D152-F612E6F78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Объект 2">
            <a:extLst>
              <a:ext uri="{FF2B5EF4-FFF2-40B4-BE49-F238E27FC236}">
                <a16:creationId xmlns:a16="http://schemas.microsoft.com/office/drawing/2014/main" id="{C536C9EF-EE15-EB38-125C-1533FAA2DD8D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33374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POSIX (BRE, ERE)</a:t>
            </a:r>
          </a:p>
          <a:p>
            <a:r>
              <a:rPr lang="en-US" b="1" dirty="0"/>
              <a:t>PCRE</a:t>
            </a:r>
            <a:r>
              <a:rPr lang="en-US" dirty="0"/>
              <a:t> = </a:t>
            </a:r>
            <a:r>
              <a:rPr lang="en-US" b="1" dirty="0"/>
              <a:t>P</a:t>
            </a:r>
            <a:r>
              <a:rPr lang="en-US" dirty="0"/>
              <a:t>erl-</a:t>
            </a:r>
            <a:r>
              <a:rPr lang="en-US" b="1" dirty="0"/>
              <a:t>C</a:t>
            </a:r>
            <a:r>
              <a:rPr lang="en-US" dirty="0"/>
              <a:t>ompatible </a:t>
            </a:r>
            <a:r>
              <a:rPr lang="en-US" b="1" dirty="0"/>
              <a:t>R</a:t>
            </a:r>
            <a:r>
              <a:rPr lang="en-US" dirty="0"/>
              <a:t>egular </a:t>
            </a:r>
            <a:r>
              <a:rPr lang="en-US" b="1" dirty="0"/>
              <a:t>E</a:t>
            </a:r>
            <a:r>
              <a:rPr lang="en-US" dirty="0"/>
              <a:t>xpressions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Отличие – поддерживаемые метасимволы, операторы и иногда логика работы</a:t>
            </a:r>
          </a:p>
        </p:txBody>
      </p:sp>
    </p:spTree>
    <p:extLst>
      <p:ext uri="{BB962C8B-B14F-4D97-AF65-F5344CB8AC3E}">
        <p14:creationId xmlns:p14="http://schemas.microsoft.com/office/powerpoint/2010/main" val="89112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D6E7-8A23-54D0-09BC-D57BB77F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CC09C9-CAE5-CA93-3C32-40DACF0E4BBB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7984D6A-56C6-C6EC-B2AD-AAFB32C7A9D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Состав регулярного выражения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9E082E-7C57-8111-5314-CC56D18E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9682F30-3FE2-78A0-5059-429B4ECFC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001CD806-F65A-FFA8-3A5E-88F4D598F11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1. Символы</a:t>
            </a:r>
          </a:p>
          <a:p>
            <a:r>
              <a:rPr lang="ru-RU" dirty="0"/>
              <a:t>обычные</a:t>
            </a:r>
          </a:p>
          <a:p>
            <a:r>
              <a:rPr lang="ru-RU" dirty="0"/>
              <a:t>специальные (метасимволы)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2. Операции</a:t>
            </a:r>
          </a:p>
          <a:p>
            <a:r>
              <a:rPr lang="ru-RU" dirty="0"/>
              <a:t>квантификация</a:t>
            </a:r>
          </a:p>
          <a:p>
            <a:r>
              <a:rPr lang="ru-RU" dirty="0"/>
              <a:t>перечисление</a:t>
            </a:r>
          </a:p>
          <a:p>
            <a:r>
              <a:rPr lang="ru-RU" dirty="0"/>
              <a:t>группировка</a:t>
            </a:r>
          </a:p>
        </p:txBody>
      </p:sp>
    </p:spTree>
    <p:extLst>
      <p:ext uri="{BB962C8B-B14F-4D97-AF65-F5344CB8AC3E}">
        <p14:creationId xmlns:p14="http://schemas.microsoft.com/office/powerpoint/2010/main" val="424423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C840-8D99-1DA7-421D-8426A29A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FACD588-87DB-3FBA-9F85-B1C1A1BD6AD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49BEB44-1A45-7D80-73E2-B6EA6F8E4DD0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Метасимволы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0B6A8E-35F4-72EF-D758-E385D39E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44DA09F-DAF2-955A-56F6-FAD9CD315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49D8FE-D44A-C135-7535-D8F193365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716304"/>
              </p:ext>
            </p:extLst>
          </p:nvPr>
        </p:nvGraphicFramePr>
        <p:xfrm>
          <a:off x="925620" y="979473"/>
          <a:ext cx="10518520" cy="581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3">
                  <a:extLst>
                    <a:ext uri="{9D8B030D-6E8A-4147-A177-3AD203B41FA5}">
                      <a16:colId xmlns:a16="http://schemas.microsoft.com/office/drawing/2014/main" val="2343928134"/>
                    </a:ext>
                  </a:extLst>
                </a:gridCol>
                <a:gridCol w="3403076">
                  <a:extLst>
                    <a:ext uri="{9D8B030D-6E8A-4147-A177-3AD203B41FA5}">
                      <a16:colId xmlns:a16="http://schemas.microsoft.com/office/drawing/2014/main" val="2629398567"/>
                    </a:ext>
                  </a:extLst>
                </a:gridCol>
                <a:gridCol w="3092441">
                  <a:extLst>
                    <a:ext uri="{9D8B030D-6E8A-4147-A177-3AD203B41FA5}">
                      <a16:colId xmlns:a16="http://schemas.microsoft.com/office/drawing/2014/main" val="2697860414"/>
                    </a:ext>
                  </a:extLst>
                </a:gridCol>
                <a:gridCol w="2629630">
                  <a:extLst>
                    <a:ext uri="{9D8B030D-6E8A-4147-A177-3AD203B41FA5}">
                      <a16:colId xmlns:a16="http://schemas.microsoft.com/office/drawing/2014/main" val="919367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успешного распознавания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8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Цифра (числовой разряд)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file_\d\d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1600" dirty="0">
                          <a:effectLst/>
                        </a:rPr>
                        <a:t>file_25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10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Символ слова (не пробельный)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\w-\w\w\w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A-b_1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3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Пробельный 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a\sb\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b</a:t>
                      </a:r>
                      <a:br>
                        <a:rPr lang="en-US" sz="1600" dirty="0"/>
                      </a:b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460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 цифра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\D\D\D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35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Не символ</a:t>
                      </a:r>
                      <a:r>
                        <a:rPr lang="en-US" sz="1600" dirty="0"/>
                        <a:t> </a:t>
                      </a:r>
                      <a:r>
                        <a:rPr lang="ru-RU" sz="1600" dirty="0"/>
                        <a:t>слова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\W\W\W\W\W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*-+=)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24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Не пробельный 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\S\S\S\S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Yoyo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79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Любой 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a.c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9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Экранирование метасимволов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\.\*\+\?    \$\^\/\\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ru-RU" sz="1600" dirty="0">
                          <a:effectLst/>
                        </a:rPr>
                        <a:t>.*+?    $^/\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22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Точка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a\.c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a.c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85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\t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Табуляция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T\t\w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     a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98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\n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Перенос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См. ниже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См. ниже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06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\r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Возврат каретки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См. ниже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См. ниже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32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\</a:t>
                      </a:r>
                      <a:r>
                        <a:rPr lang="en-US" sz="1600" dirty="0"/>
                        <a:t>r</a:t>
                      </a:r>
                      <a:r>
                        <a:rPr lang="ru-RU" sz="1600" dirty="0"/>
                        <a:t>\</a:t>
                      </a:r>
                      <a:r>
                        <a:rPr lang="en-US" sz="1600" dirty="0"/>
                        <a:t>n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Перенос строки </a:t>
                      </a:r>
                      <a:r>
                        <a:rPr lang="en-US" sz="1600" dirty="0"/>
                        <a:t>Windows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AB\r\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nCD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br>
                        <a:rPr lang="en-US" sz="1600" dirty="0"/>
                      </a:b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28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65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BF03-FD59-94B5-5CD8-CE915F83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213D19-8560-F8C2-F83B-0F34D6B4D44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EB9541E-FDA6-9D52-A6A7-DA485F089ED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Метасимволы - граничные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1ECDCD-5A58-C67E-1D6D-2D8C774A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29A9A8D-7E0E-E702-F539-FFA22CFCC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EBCE1C-98BD-7FFC-45C9-30B783DD9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329037"/>
              </p:ext>
            </p:extLst>
          </p:nvPr>
        </p:nvGraphicFramePr>
        <p:xfrm>
          <a:off x="925620" y="1488520"/>
          <a:ext cx="10518520" cy="30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3">
                  <a:extLst>
                    <a:ext uri="{9D8B030D-6E8A-4147-A177-3AD203B41FA5}">
                      <a16:colId xmlns:a16="http://schemas.microsoft.com/office/drawing/2014/main" val="2343928134"/>
                    </a:ext>
                  </a:extLst>
                </a:gridCol>
                <a:gridCol w="3403076">
                  <a:extLst>
                    <a:ext uri="{9D8B030D-6E8A-4147-A177-3AD203B41FA5}">
                      <a16:colId xmlns:a16="http://schemas.microsoft.com/office/drawing/2014/main" val="2629398567"/>
                    </a:ext>
                  </a:extLst>
                </a:gridCol>
                <a:gridCol w="3092441">
                  <a:extLst>
                    <a:ext uri="{9D8B030D-6E8A-4147-A177-3AD203B41FA5}">
                      <a16:colId xmlns:a16="http://schemas.microsoft.com/office/drawing/2014/main" val="2697860414"/>
                    </a:ext>
                  </a:extLst>
                </a:gridCol>
                <a:gridCol w="2629630">
                  <a:extLst>
                    <a:ext uri="{9D8B030D-6E8A-4147-A177-3AD203B41FA5}">
                      <a16:colId xmlns:a16="http://schemas.microsoft.com/office/drawing/2014/main" val="919367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успешного распознавания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8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Начало строки (документа)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^abc .*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 err="1">
                          <a:effectLst/>
                        </a:rPr>
                        <a:t>abc</a:t>
                      </a:r>
                      <a:r>
                        <a:rPr lang="en-US" dirty="0">
                          <a:effectLst/>
                        </a:rPr>
                        <a:t> (</a:t>
                      </a:r>
                      <a:r>
                        <a:rPr lang="ru-RU" dirty="0">
                          <a:effectLst/>
                        </a:rPr>
                        <a:t>начало строки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10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Конец строки (документа)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.*? the end$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this is the 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33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\A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Начало строки (в многострочных документах)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\Aabc[\d\D]*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 err="1">
                          <a:effectLst/>
                        </a:rPr>
                        <a:t>abc</a:t>
                      </a:r>
                      <a:r>
                        <a:rPr lang="en-US" dirty="0">
                          <a:effectLst/>
                        </a:rPr>
                        <a:t> (</a:t>
                      </a:r>
                      <a:r>
                        <a:rPr lang="ru-RU" dirty="0">
                          <a:effectLst/>
                        </a:rPr>
                        <a:t>начало строки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460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\Z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Конец документа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the end\Z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this is...\n...</a:t>
                      </a:r>
                      <a:r>
                        <a:rPr lang="en-US" b="1" dirty="0">
                          <a:effectLst/>
                          <a:latin typeface="inherit"/>
                        </a:rPr>
                        <a:t>the end</a:t>
                      </a:r>
                      <a:r>
                        <a:rPr lang="en-US" dirty="0">
                          <a:effectLst/>
                        </a:rPr>
                        <a:t>\n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35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\b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Граница слова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Bob.*\bcat\b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Bob ate the 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24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\B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Не граница слова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c.*\Bcat\B.*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copycats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796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59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5C1E-05B9-D6A3-C91A-24A68B39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447585-3D35-FB36-BFCB-F7624E46286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AB6723E-C2B8-E304-6DA6-589C55C3469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Квантификаторы</a:t>
            </a:r>
            <a:r>
              <a:rPr lang="en-US" sz="2800" b="1" dirty="0">
                <a:solidFill>
                  <a:srgbClr val="FF0000"/>
                </a:solidFill>
              </a:rPr>
              <a:t> – </a:t>
            </a:r>
            <a:r>
              <a:rPr lang="ru-RU" sz="2800" b="1" dirty="0">
                <a:solidFill>
                  <a:srgbClr val="FF0000"/>
                </a:solidFill>
              </a:rPr>
              <a:t>сколько раз должна встретиться группа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A34757-4E0B-BD82-0CC0-803FF5F4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4606EC9-39F4-50B2-2643-92028C96E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A45737-0907-DEE5-E374-D6CF18CF9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286961"/>
              </p:ext>
            </p:extLst>
          </p:nvPr>
        </p:nvGraphicFramePr>
        <p:xfrm>
          <a:off x="838200" y="1825625"/>
          <a:ext cx="10518520" cy="399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3">
                  <a:extLst>
                    <a:ext uri="{9D8B030D-6E8A-4147-A177-3AD203B41FA5}">
                      <a16:colId xmlns:a16="http://schemas.microsoft.com/office/drawing/2014/main" val="3245873700"/>
                    </a:ext>
                  </a:extLst>
                </a:gridCol>
                <a:gridCol w="3403076">
                  <a:extLst>
                    <a:ext uri="{9D8B030D-6E8A-4147-A177-3AD203B41FA5}">
                      <a16:colId xmlns:a16="http://schemas.microsoft.com/office/drawing/2014/main" val="3589766703"/>
                    </a:ext>
                  </a:extLst>
                </a:gridCol>
                <a:gridCol w="3092441">
                  <a:extLst>
                    <a:ext uri="{9D8B030D-6E8A-4147-A177-3AD203B41FA5}">
                      <a16:colId xmlns:a16="http://schemas.microsoft.com/office/drawing/2014/main" val="1632152478"/>
                    </a:ext>
                  </a:extLst>
                </a:gridCol>
                <a:gridCol w="2629630">
                  <a:extLst>
                    <a:ext uri="{9D8B030D-6E8A-4147-A177-3AD203B41FA5}">
                      <a16:colId xmlns:a16="http://schemas.microsoft.com/office/drawing/2014/main" val="3435009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успешного распознавания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808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Один или более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Version \w-\w+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 A-b1_1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90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Точно </a:t>
                      </a:r>
                      <a:r>
                        <a:rPr lang="en-US" sz="1600" dirty="0"/>
                        <a:t>n </a:t>
                      </a:r>
                      <a:r>
                        <a:rPr lang="ru-RU" sz="1600" dirty="0"/>
                        <a:t>раз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\D{3}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2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{</a:t>
                      </a:r>
                      <a:r>
                        <a:rPr lang="en-US" sz="1600" dirty="0" err="1"/>
                        <a:t>n,m</a:t>
                      </a:r>
                      <a:r>
                        <a:rPr lang="en-US" sz="1600" dirty="0"/>
                        <a:t>}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От </a:t>
                      </a:r>
                      <a:r>
                        <a:rPr lang="en-US" sz="1600" dirty="0"/>
                        <a:t>n </a:t>
                      </a:r>
                      <a:r>
                        <a:rPr lang="ru-RU" sz="1600" dirty="0"/>
                        <a:t>до </a:t>
                      </a:r>
                      <a:r>
                        <a:rPr lang="en-US" sz="1600" dirty="0"/>
                        <a:t>m </a:t>
                      </a:r>
                      <a:r>
                        <a:rPr lang="ru-RU" sz="1600" dirty="0"/>
                        <a:t>раз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\d{2,4}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ru-RU" dirty="0">
                          <a:effectLst/>
                        </a:rPr>
                        <a:t>156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222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,}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 </a:t>
                      </a:r>
                      <a:r>
                        <a:rPr lang="ru-RU" sz="1600" dirty="0"/>
                        <a:t>и более раз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\w{3,}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 err="1">
                          <a:effectLst/>
                        </a:rPr>
                        <a:t>regex_tutorial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70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 и более раз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A*B*C*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AAACC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05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 и более раз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plurals?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plural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73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 и более раз, но «жадный»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\d+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ru-RU" dirty="0">
                          <a:effectLst/>
                        </a:rPr>
                        <a:t>12345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659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?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Когда следует за квантификатором, то делает его «ленивым» («</a:t>
                      </a:r>
                      <a:r>
                        <a:rPr lang="ru-RU" sz="1600" dirty="0" err="1"/>
                        <a:t>антижадным</a:t>
                      </a:r>
                      <a:r>
                        <a:rPr lang="ru-RU" sz="1600" dirty="0"/>
                        <a:t>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>
                          <a:effectLst/>
                        </a:rPr>
                        <a:t>\d+?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dirty="0">
                          <a:effectLst/>
                        </a:rPr>
                        <a:t>1 in </a:t>
                      </a:r>
                      <a:r>
                        <a:rPr lang="en-US" b="1" dirty="0">
                          <a:effectLst/>
                          <a:latin typeface="inherit"/>
                        </a:rPr>
                        <a:t>1</a:t>
                      </a:r>
                      <a:r>
                        <a:rPr lang="en-US" dirty="0">
                          <a:effectLst/>
                        </a:rPr>
                        <a:t>2345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36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48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CBE3-1D35-C6BD-175C-8C675037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7C35E8-8BC2-8D97-4286-17104C4F15D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41950B3-C6F8-1C98-B5AE-6177AD35885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Перечисление и группировка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53B7B1-9412-9087-2F3A-15BE4050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28FA15D-66E3-56A6-2BE8-38B0FD332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ECD90C-0DA7-3F6D-1A43-6F11DB5A6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86989"/>
              </p:ext>
            </p:extLst>
          </p:nvPr>
        </p:nvGraphicFramePr>
        <p:xfrm>
          <a:off x="838200" y="1825625"/>
          <a:ext cx="105185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3">
                  <a:extLst>
                    <a:ext uri="{9D8B030D-6E8A-4147-A177-3AD203B41FA5}">
                      <a16:colId xmlns:a16="http://schemas.microsoft.com/office/drawing/2014/main" val="1433872021"/>
                    </a:ext>
                  </a:extLst>
                </a:gridCol>
                <a:gridCol w="3403076">
                  <a:extLst>
                    <a:ext uri="{9D8B030D-6E8A-4147-A177-3AD203B41FA5}">
                      <a16:colId xmlns:a16="http://schemas.microsoft.com/office/drawing/2014/main" val="1523640074"/>
                    </a:ext>
                  </a:extLst>
                </a:gridCol>
                <a:gridCol w="3092441">
                  <a:extLst>
                    <a:ext uri="{9D8B030D-6E8A-4147-A177-3AD203B41FA5}">
                      <a16:colId xmlns:a16="http://schemas.microsoft.com/office/drawing/2014/main" val="77419469"/>
                    </a:ext>
                  </a:extLst>
                </a:gridCol>
                <a:gridCol w="2629630">
                  <a:extLst>
                    <a:ext uri="{9D8B030D-6E8A-4147-A177-3AD203B41FA5}">
                      <a16:colId xmlns:a16="http://schemas.microsoft.com/office/drawing/2014/main" val="144725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Символ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использования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Пример успешного распознавания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01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[…]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Один из символов в скобках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T[ao]p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i="1" dirty="0">
                          <a:effectLst/>
                          <a:latin typeface="inherit"/>
                        </a:rPr>
                        <a:t>Tap</a:t>
                      </a:r>
                      <a:r>
                        <a:rPr lang="en-US" dirty="0">
                          <a:effectLst/>
                        </a:rPr>
                        <a:t> or </a:t>
                      </a:r>
                      <a:r>
                        <a:rPr lang="en-US" i="1" dirty="0">
                          <a:effectLst/>
                          <a:latin typeface="inherit"/>
                        </a:rPr>
                        <a:t>Top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27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диапазон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[a-z]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Любая строчная латинская буква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8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[^x]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Не </a:t>
                      </a:r>
                      <a:r>
                        <a:rPr lang="en-US" sz="1600" dirty="0"/>
                        <a:t>x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[^a-z]{3}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A1!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53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(…)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Группа (рассматривается как единое целое для модификаторов), сохраняемая в результатах сопоставления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ru-RU" dirty="0">
                          <a:effectLst/>
                        </a:rPr>
                        <a:t>См. ниже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effectLst/>
                        </a:rPr>
                        <a:t>См. ниже</a:t>
                      </a:r>
                      <a:endParaRPr lang="en-US" sz="1600" dirty="0">
                        <a:effectLst/>
                      </a:endParaRPr>
                    </a:p>
                    <a:p>
                      <a:pPr algn="l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50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/>
                        <a:t>a|b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 </a:t>
                      </a:r>
                      <a:r>
                        <a:rPr lang="ru-RU" sz="1600" dirty="0"/>
                        <a:t>или </a:t>
                      </a:r>
                      <a:r>
                        <a:rPr lang="en-US" sz="1600" dirty="0"/>
                        <a:t>b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(</a:t>
                      </a:r>
                      <a:r>
                        <a:rPr lang="en-US" dirty="0" err="1">
                          <a:effectLst/>
                        </a:rPr>
                        <a:t>Tap|Top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effectLst/>
                          <a:latin typeface="inherit"/>
                        </a:rPr>
                        <a:t>Tap</a:t>
                      </a:r>
                      <a:r>
                        <a:rPr lang="en-US" sz="1600" dirty="0">
                          <a:effectLst/>
                        </a:rPr>
                        <a:t> or </a:t>
                      </a:r>
                      <a:r>
                        <a:rPr lang="en-US" sz="1600" i="1" dirty="0">
                          <a:effectLst/>
                          <a:latin typeface="inherit"/>
                        </a:rPr>
                        <a:t>Top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72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(</a:t>
                      </a:r>
                      <a:r>
                        <a:rPr lang="en-US" sz="1600" dirty="0"/>
                        <a:t>?:..)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Безымянная группа (нельзя адресовать в результатах сопоставления)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(?:</a:t>
                      </a:r>
                      <a:r>
                        <a:rPr lang="en-US" dirty="0" err="1">
                          <a:effectLst/>
                        </a:rPr>
                        <a:t>Tap|Top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  <a:p>
                      <a:pPr algn="l" fontAlgn="base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1" dirty="0">
                          <a:effectLst/>
                          <a:latin typeface="inherit"/>
                        </a:rPr>
                        <a:t>Tap</a:t>
                      </a:r>
                      <a:r>
                        <a:rPr lang="en-US" sz="1600" dirty="0">
                          <a:effectLst/>
                        </a:rPr>
                        <a:t> or </a:t>
                      </a:r>
                      <a:r>
                        <a:rPr lang="en-US" sz="1600" i="1" dirty="0">
                          <a:effectLst/>
                          <a:latin typeface="inherit"/>
                        </a:rPr>
                        <a:t>Top</a:t>
                      </a:r>
                      <a:endParaRPr lang="ru-RU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862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06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F590-0041-7623-4343-3E004CFD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3611F70-8B7B-5359-182A-7FEF270AFDE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D4FE3E7-C94A-9D83-E665-42D07DA2B27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rgbClr val="FF0000"/>
                </a:solidFill>
              </a:rPr>
              <a:t>LogStash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>
                <a:solidFill>
                  <a:srgbClr val="FF0000"/>
                </a:solidFill>
              </a:rPr>
              <a:t>и </a:t>
            </a:r>
            <a:r>
              <a:rPr lang="en-US" sz="2800" b="1" dirty="0">
                <a:solidFill>
                  <a:srgbClr val="FF0000"/>
                </a:solidFill>
              </a:rPr>
              <a:t>Grok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E7FBD-5911-5F4E-03E7-3BF47992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12A31675-5C51-EBA1-6FBE-9491D41BB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26" name="Picture 2" descr="basic logstash pipeline">
            <a:extLst>
              <a:ext uri="{FF2B5EF4-FFF2-40B4-BE49-F238E27FC236}">
                <a16:creationId xmlns:a16="http://schemas.microsoft.com/office/drawing/2014/main" id="{DE719E7D-7F16-1331-E601-C8442BDA7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7" y="2177445"/>
            <a:ext cx="10372725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llout: Bent Line with Accent Bar 1">
            <a:extLst>
              <a:ext uri="{FF2B5EF4-FFF2-40B4-BE49-F238E27FC236}">
                <a16:creationId xmlns:a16="http://schemas.microsoft.com/office/drawing/2014/main" id="{260584F4-D651-9CD1-F547-3C4F98BCDF1B}"/>
              </a:ext>
            </a:extLst>
          </p:cNvPr>
          <p:cNvSpPr/>
          <p:nvPr/>
        </p:nvSpPr>
        <p:spPr>
          <a:xfrm>
            <a:off x="4977352" y="1245180"/>
            <a:ext cx="1489435" cy="62885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9939"/>
              <a:gd name="adj6" fmla="val -4350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Плагины сбора</a:t>
            </a:r>
          </a:p>
        </p:txBody>
      </p:sp>
      <p:sp>
        <p:nvSpPr>
          <p:cNvPr id="5" name="Callout: Bent Line with Accent Bar 4">
            <a:extLst>
              <a:ext uri="{FF2B5EF4-FFF2-40B4-BE49-F238E27FC236}">
                <a16:creationId xmlns:a16="http://schemas.microsoft.com/office/drawing/2014/main" id="{A12EF1BC-DA1E-5A8B-B5C8-1FB1B24540A4}"/>
              </a:ext>
            </a:extLst>
          </p:cNvPr>
          <p:cNvSpPr/>
          <p:nvPr/>
        </p:nvSpPr>
        <p:spPr>
          <a:xfrm>
            <a:off x="8240597" y="1245180"/>
            <a:ext cx="1489435" cy="62885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9939"/>
              <a:gd name="adj6" fmla="val -4350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Плагины сохранения</a:t>
            </a:r>
          </a:p>
        </p:txBody>
      </p:sp>
      <p:sp>
        <p:nvSpPr>
          <p:cNvPr id="7" name="Callout: Bent Line with Accent Bar 6">
            <a:extLst>
              <a:ext uri="{FF2B5EF4-FFF2-40B4-BE49-F238E27FC236}">
                <a16:creationId xmlns:a16="http://schemas.microsoft.com/office/drawing/2014/main" id="{B4756F1B-F5F8-6946-4DCA-C108EEEB6D19}"/>
              </a:ext>
            </a:extLst>
          </p:cNvPr>
          <p:cNvSpPr/>
          <p:nvPr/>
        </p:nvSpPr>
        <p:spPr>
          <a:xfrm>
            <a:off x="7495879" y="4983970"/>
            <a:ext cx="1489435" cy="62885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87310"/>
              <a:gd name="adj6" fmla="val -6945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Плагины фильтрации (</a:t>
            </a:r>
            <a:r>
              <a:rPr lang="en-US" dirty="0">
                <a:solidFill>
                  <a:schemeClr val="tx1"/>
                </a:solidFill>
              </a:rPr>
              <a:t>Grok)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678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4AC46-FBE0-7C45-44DA-78993DB0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628612-77C0-B979-E884-DAF52B631EE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BB37263-47ED-A5CC-368C-19E84737825A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Разбираем </a:t>
            </a:r>
            <a:r>
              <a:rPr lang="en-US" sz="2800" b="1" dirty="0">
                <a:solidFill>
                  <a:srgbClr val="FF0000"/>
                </a:solidFill>
              </a:rPr>
              <a:t>Grok </a:t>
            </a:r>
            <a:r>
              <a:rPr lang="ru-RU" sz="2800" b="1" dirty="0">
                <a:solidFill>
                  <a:srgbClr val="FF0000"/>
                </a:solidFill>
              </a:rPr>
              <a:t>на примере </a:t>
            </a:r>
            <a:r>
              <a:rPr lang="en-US" sz="2800" b="1" dirty="0" err="1">
                <a:solidFill>
                  <a:srgbClr val="FF0000"/>
                </a:solidFill>
              </a:rPr>
              <a:t>pygrok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8C776D-690E-8E7A-A3BB-944DCFF0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22426449-BEB2-9CC1-4530-17BC9B41D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821AD-7931-6977-B74D-09CF81698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565" y="1044575"/>
            <a:ext cx="99345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92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45AB-2F6F-E3AD-CAB1-6B88C116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F202C5-3964-B669-23B9-241137414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BED1C81-5897-E84B-7A87-B6E0B2933068}"/>
              </a:ext>
            </a:extLst>
          </p:cNvPr>
          <p:cNvSpPr txBox="1">
            <a:spLocks/>
          </p:cNvSpPr>
          <p:nvPr/>
        </p:nvSpPr>
        <p:spPr>
          <a:xfrm>
            <a:off x="2640093" y="2359598"/>
            <a:ext cx="6903475" cy="213880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Event Processing - CEP</a:t>
            </a:r>
            <a:endParaRPr lang="ru-RU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811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1262-AE29-2F1B-E2F9-A2A32DAA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298E0C-E93A-CA43-A1E1-49E414D0D4E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915DA15-04A9-ADCB-692E-C02C856D707E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Что такое </a:t>
            </a:r>
            <a:r>
              <a:rPr lang="en-US" sz="2800" b="1" dirty="0">
                <a:solidFill>
                  <a:srgbClr val="FF0000"/>
                </a:solidFill>
              </a:rPr>
              <a:t>CEP?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AD9488-4B82-6DFB-F7E5-7904FF7D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7A1B11C-09EC-3290-3955-751470B6C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0444DC-ED86-D6CA-E4B0-C0E3E0C89DD5}"/>
              </a:ext>
            </a:extLst>
          </p:cNvPr>
          <p:cNvSpPr txBox="1"/>
          <p:nvPr/>
        </p:nvSpPr>
        <p:spPr>
          <a:xfrm>
            <a:off x="860453" y="1514342"/>
            <a:ext cx="107533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Event Processing (CEP) 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высокоскоростной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обработки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множества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уровнях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целью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выявления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значимых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анализа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влияния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принятия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реальном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</a:t>
            </a:r>
            <a:endParaRPr lang="en-US" sz="1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50A055A-00C0-A6B0-46BB-0B5819D6D458}"/>
              </a:ext>
            </a:extLst>
          </p:cNvPr>
          <p:cNvSpPr/>
          <p:nvPr/>
        </p:nvSpPr>
        <p:spPr>
          <a:xfrm>
            <a:off x="1845219" y="34290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7F2D292-0D28-88CE-5FA4-446579515E8B}"/>
              </a:ext>
            </a:extLst>
          </p:cNvPr>
          <p:cNvSpPr/>
          <p:nvPr/>
        </p:nvSpPr>
        <p:spPr>
          <a:xfrm>
            <a:off x="2805339" y="35661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E427787F-5B4A-CE99-7697-EA062F5CF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211" y="3685032"/>
            <a:ext cx="365760" cy="36576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B1B9F65E-5CEF-3E67-ED1E-413F7501DDEB}"/>
              </a:ext>
            </a:extLst>
          </p:cNvPr>
          <p:cNvSpPr/>
          <p:nvPr/>
        </p:nvSpPr>
        <p:spPr>
          <a:xfrm>
            <a:off x="1982379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Потоковая модель</a:t>
            </a:r>
            <a:endParaRPr lang="en-US" sz="13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DE1708E-A8FC-48C0-A7F6-30FA57C89045}"/>
              </a:ext>
            </a:extLst>
          </p:cNvPr>
          <p:cNvSpPr/>
          <p:nvPr/>
        </p:nvSpPr>
        <p:spPr>
          <a:xfrm>
            <a:off x="1982379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— это непрерывный поток событий, а не статические таблицы</a:t>
            </a:r>
            <a:endParaRPr lang="en-US" sz="11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6AE3A12-C6DE-9FAF-3B0C-1122614512ED}"/>
              </a:ext>
            </a:extLst>
          </p:cNvPr>
          <p:cNvSpPr/>
          <p:nvPr/>
        </p:nvSpPr>
        <p:spPr>
          <a:xfrm>
            <a:off x="4679859" y="34290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55C8B0B5-5683-3246-680B-6AB8A9C987F4}"/>
              </a:ext>
            </a:extLst>
          </p:cNvPr>
          <p:cNvSpPr/>
          <p:nvPr/>
        </p:nvSpPr>
        <p:spPr>
          <a:xfrm>
            <a:off x="5639979" y="35661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>
            <a:extLst>
              <a:ext uri="{FF2B5EF4-FFF2-40B4-BE49-F238E27FC236}">
                <a16:creationId xmlns:a16="http://schemas.microsoft.com/office/drawing/2014/main" id="{B559BED0-65B3-F5CF-C549-EDAFDE404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851" y="3685032"/>
            <a:ext cx="365760" cy="365760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05258A28-0C9D-68AC-B330-5E94D2C46FAC}"/>
              </a:ext>
            </a:extLst>
          </p:cNvPr>
          <p:cNvSpPr/>
          <p:nvPr/>
        </p:nvSpPr>
        <p:spPr>
          <a:xfrm>
            <a:off x="4817019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всего время</a:t>
            </a:r>
            <a:endParaRPr lang="en-US" sz="13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16AE1DC7-21E6-CD3D-D012-0A5FD8487C9A}"/>
              </a:ext>
            </a:extLst>
          </p:cNvPr>
          <p:cNvSpPr/>
          <p:nvPr/>
        </p:nvSpPr>
        <p:spPr>
          <a:xfrm>
            <a:off x="4817019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Временны́е окна, корреляция по времени, причинно-следственные связи</a:t>
            </a:r>
            <a:endParaRPr lang="en-US" sz="11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46169C49-87F4-60FE-4FEE-C009210F2DB6}"/>
              </a:ext>
            </a:extLst>
          </p:cNvPr>
          <p:cNvSpPr/>
          <p:nvPr/>
        </p:nvSpPr>
        <p:spPr>
          <a:xfrm>
            <a:off x="7514499" y="34290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3DB0EF5E-8502-2DBB-1E11-48F6E34BBE20}"/>
              </a:ext>
            </a:extLst>
          </p:cNvPr>
          <p:cNvSpPr/>
          <p:nvPr/>
        </p:nvSpPr>
        <p:spPr>
          <a:xfrm>
            <a:off x="8474619" y="35661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>
            <a:extLst>
              <a:ext uri="{FF2B5EF4-FFF2-40B4-BE49-F238E27FC236}">
                <a16:creationId xmlns:a16="http://schemas.microsoft.com/office/drawing/2014/main" id="{6ACAF55C-F200-E7CA-F678-3783043CC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3491" y="3685032"/>
            <a:ext cx="365760" cy="365760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CE0218A5-B12B-72B8-8E64-7F9E6147A843}"/>
              </a:ext>
            </a:extLst>
          </p:cNvPr>
          <p:cNvSpPr/>
          <p:nvPr/>
        </p:nvSpPr>
        <p:spPr>
          <a:xfrm>
            <a:off x="7651659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паттернов</a:t>
            </a:r>
            <a:endParaRPr lang="en-US" sz="13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29E7070-37C1-3443-75E1-A138CD669945}"/>
              </a:ext>
            </a:extLst>
          </p:cNvPr>
          <p:cNvSpPr/>
          <p:nvPr/>
        </p:nvSpPr>
        <p:spPr>
          <a:xfrm>
            <a:off x="7651659" y="4617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сложных шаблонов среди множества потоков событий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07924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E932-6DFC-4BF1-EFED-B71FE4EAA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9BCA12A-56FE-9E51-D316-1E6BDCC5E9A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4F4EA25-A07F-B1EF-9487-D4BDFCFB79F6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Отличия </a:t>
            </a:r>
            <a:r>
              <a:rPr lang="en-US" sz="2800" b="1" dirty="0">
                <a:solidFill>
                  <a:srgbClr val="FF0000"/>
                </a:solidFill>
              </a:rPr>
              <a:t>CEP </a:t>
            </a:r>
            <a:r>
              <a:rPr lang="ru-RU" sz="2800" b="1" dirty="0">
                <a:solidFill>
                  <a:srgbClr val="FF0000"/>
                </a:solidFill>
              </a:rPr>
              <a:t>от аналитики в СУБД (</a:t>
            </a:r>
            <a:r>
              <a:rPr lang="en-US" sz="2800" b="1" dirty="0">
                <a:solidFill>
                  <a:srgbClr val="FF0000"/>
                </a:solidFill>
              </a:rPr>
              <a:t>OLAP </a:t>
            </a:r>
            <a:r>
              <a:rPr lang="ru-RU" sz="2800" b="1" dirty="0">
                <a:solidFill>
                  <a:srgbClr val="FF0000"/>
                </a:solidFill>
              </a:rPr>
              <a:t>и пр.)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16E01A-78D2-A358-C8D2-FA73B27F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D1C63F1-2B2A-C7F0-8729-75DF9DEA2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BDF8938B-64CF-F347-9194-C22AE7D7CD30}"/>
              </a:ext>
            </a:extLst>
          </p:cNvPr>
          <p:cNvSpPr/>
          <p:nvPr/>
        </p:nvSpPr>
        <p:spPr>
          <a:xfrm>
            <a:off x="1981200" y="17830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2837FB-B9E8-3CE3-F2DA-ED6D7FA30941}"/>
              </a:ext>
            </a:extLst>
          </p:cNvPr>
          <p:cNvSpPr/>
          <p:nvPr/>
        </p:nvSpPr>
        <p:spPr>
          <a:xfrm>
            <a:off x="1981200" y="178308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Традиционная СУБД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A6CDD64-06A6-81FE-16DA-F91436249585}"/>
              </a:ext>
            </a:extLst>
          </p:cNvPr>
          <p:cNvSpPr/>
          <p:nvPr/>
        </p:nvSpPr>
        <p:spPr>
          <a:xfrm>
            <a:off x="2164080" y="24231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→ </a:t>
            </a:r>
            <a:r>
              <a:rPr lang="ru-RU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Обработать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сохраняются на диск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выполняются по требованию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— отдельное обращение к БД</a:t>
            </a:r>
            <a:endParaRPr lang="en-US" sz="1200" dirty="0"/>
          </a:p>
          <a:p>
            <a:pPr marL="0" indent="0">
              <a:buNone/>
            </a:pP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масштабируется для 1000+ запросов/сек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работать с временны́ми данными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Request → Response</a:t>
            </a:r>
            <a:endParaRPr lang="en-US" sz="12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B300C77-33D8-E114-BCB4-328810A6C57F}"/>
              </a:ext>
            </a:extLst>
          </p:cNvPr>
          <p:cNvSpPr/>
          <p:nvPr/>
        </p:nvSpPr>
        <p:spPr>
          <a:xfrm>
            <a:off x="6278880" y="17830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D0793D3-7890-56B9-BC7D-3458D299680F}"/>
              </a:ext>
            </a:extLst>
          </p:cNvPr>
          <p:cNvSpPr/>
          <p:nvPr/>
        </p:nvSpPr>
        <p:spPr>
          <a:xfrm>
            <a:off x="6278880" y="1783080"/>
            <a:ext cx="3931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CEP-движок (Esper)</a:t>
            </a:r>
            <a:endParaRPr lang="en-US" sz="15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C667F8A-5340-3DD9-D728-88C74A7F72B2}"/>
              </a:ext>
            </a:extLst>
          </p:cNvPr>
          <p:cNvSpPr/>
          <p:nvPr/>
        </p:nvSpPr>
        <p:spPr>
          <a:xfrm>
            <a:off x="6461760" y="24231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</a:t>
            </a:r>
            <a:r>
              <a:rPr lang="ru-RU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 → Данные проходят через него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в памяти (in-memory)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Непрерывные запросы (continuous queries)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в реальном времени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событий в секунду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и причинность — базовые концепции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Detection → Reaction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73625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1CEF-A456-73B0-69A5-6C2BE6F6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D8DFD13-63AE-496C-4648-9259A9AA46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CE44F0D-58D0-C4E1-9DEC-AE1F0F512AA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Язык </a:t>
            </a:r>
            <a:r>
              <a:rPr lang="en-US" sz="2800" b="1" dirty="0">
                <a:solidFill>
                  <a:srgbClr val="FF0000"/>
                </a:solidFill>
              </a:rPr>
              <a:t>EPL - Event Processing Language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FD991-72CA-32AC-B184-82C7EAC9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BF50134-978B-16B2-A7E7-05AE2BC5F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1559D6F5-2E60-A242-FC49-3B61471D76AC}"/>
              </a:ext>
            </a:extLst>
          </p:cNvPr>
          <p:cNvSpPr/>
          <p:nvPr/>
        </p:nvSpPr>
        <p:spPr>
          <a:xfrm>
            <a:off x="716437" y="1292454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sz="160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35D857EF-2240-7DD2-98F2-05DEF8F54AE2}"/>
              </a:ext>
            </a:extLst>
          </p:cNvPr>
          <p:cNvSpPr/>
          <p:nvPr/>
        </p:nvSpPr>
        <p:spPr>
          <a:xfrm>
            <a:off x="716437" y="1292454"/>
            <a:ext cx="64008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ru-RU" sz="160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92E4265-8A88-2D55-E676-6E4008DEB2D6}"/>
              </a:ext>
            </a:extLst>
          </p:cNvPr>
          <p:cNvSpPr/>
          <p:nvPr/>
        </p:nvSpPr>
        <p:spPr>
          <a:xfrm>
            <a:off x="1036477" y="133817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— декларативный SQL-подобный язык, расширенный для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обработки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событий. Совместим со стандартом SQL-92 и добавляет конструкции для анализа потоков, паттернов и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временны́х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</a:t>
            </a:r>
            <a:endParaRPr lang="en-US" sz="16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D4DE95D-0379-19D6-AF4D-5F19A87E27F5}"/>
              </a:ext>
            </a:extLst>
          </p:cNvPr>
          <p:cNvSpPr/>
          <p:nvPr/>
        </p:nvSpPr>
        <p:spPr>
          <a:xfrm>
            <a:off x="1785775" y="2910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↔ EPL: параллели и различия</a:t>
            </a:r>
            <a:endParaRPr lang="en-US" sz="1600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FE2F5A1D-FF3E-18DA-6F88-399ED359A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325317"/>
              </p:ext>
            </p:extLst>
          </p:nvPr>
        </p:nvGraphicFramePr>
        <p:xfrm>
          <a:off x="716437" y="3460115"/>
          <a:ext cx="10501461" cy="2346960"/>
        </p:xfrm>
        <a:graphic>
          <a:graphicData uri="http://schemas.openxmlformats.org/drawingml/2006/table">
            <a:tbl>
              <a:tblPr/>
              <a:tblGrid>
                <a:gridCol w="2567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7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Концепция 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Аналог в EPL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Различие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 (Table)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Поток (Stream)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Потоки бесконечны, данные не хранятся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 (Row)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 (Event)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 неизменяемо, привязано ко времени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... FROM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... FROM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Синтаксис совместим, расширен для потоков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WHERE, GROUP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WHERE, GROUP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агрегации по временным окнам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запрос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Непрерывный запрос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Выполняется постоянно, реагирует на события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Перенаправляет события в другой поток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130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4901-4810-938A-2E9A-71F71C1B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2F55F4-23D2-99F4-A347-D9DEE0A7727B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08A62B0-2804-70CC-2316-2B19C3259FCF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Ключевые конструкции </a:t>
            </a:r>
            <a:r>
              <a:rPr lang="en-US" sz="2800" b="1" dirty="0">
                <a:solidFill>
                  <a:srgbClr val="FF0000"/>
                </a:solidFill>
              </a:rPr>
              <a:t>EPL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CDCDA0-C359-6CA4-7025-F184F2FD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239DAA9-C5E6-6EDE-0A17-D4E1B6751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BF123980-9DF1-C461-A124-5847AFD35B1B}"/>
              </a:ext>
            </a:extLst>
          </p:cNvPr>
          <p:cNvSpPr/>
          <p:nvPr/>
        </p:nvSpPr>
        <p:spPr>
          <a:xfrm>
            <a:off x="457199" y="1188719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5803F5-150A-A500-96B7-0BCE15D73C15}"/>
              </a:ext>
            </a:extLst>
          </p:cNvPr>
          <p:cNvSpPr/>
          <p:nvPr/>
        </p:nvSpPr>
        <p:spPr>
          <a:xfrm>
            <a:off x="457200" y="1188719"/>
            <a:ext cx="87726" cy="1233969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BD815AD-A6CE-EB0F-153C-AD34E1074F3D}"/>
              </a:ext>
            </a:extLst>
          </p:cNvPr>
          <p:cNvSpPr/>
          <p:nvPr/>
        </p:nvSpPr>
        <p:spPr>
          <a:xfrm>
            <a:off x="640079" y="1243584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FROM / WHERE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0110A0-8702-882B-CE0D-5371CC8FB707}"/>
              </a:ext>
            </a:extLst>
          </p:cNvPr>
          <p:cNvSpPr/>
          <p:nvPr/>
        </p:nvSpPr>
        <p:spPr>
          <a:xfrm>
            <a:off x="640079" y="1536191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выборка и фильтрация событий из потоков — аналогично SQL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F2FEE3D-128B-D541-B922-0329D02E0646}"/>
              </a:ext>
            </a:extLst>
          </p:cNvPr>
          <p:cNvSpPr/>
          <p:nvPr/>
        </p:nvSpPr>
        <p:spPr>
          <a:xfrm>
            <a:off x="6263166" y="1188719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9778B66-8FCE-55A4-7DF1-933D2D3A97DF}"/>
              </a:ext>
            </a:extLst>
          </p:cNvPr>
          <p:cNvSpPr/>
          <p:nvPr/>
        </p:nvSpPr>
        <p:spPr>
          <a:xfrm>
            <a:off x="6263167" y="1188719"/>
            <a:ext cx="87726" cy="1233969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175FE46-9D78-479E-E8E5-E0CB91D342E1}"/>
              </a:ext>
            </a:extLst>
          </p:cNvPr>
          <p:cNvSpPr/>
          <p:nvPr/>
        </p:nvSpPr>
        <p:spPr>
          <a:xfrm>
            <a:off x="6446046" y="1243584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Windows</a:t>
            </a:r>
            <a:endParaRPr lang="en-US" sz="16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3B3487BF-6093-3D52-5CA0-DC63B0FD9ADF}"/>
              </a:ext>
            </a:extLst>
          </p:cNvPr>
          <p:cNvSpPr/>
          <p:nvPr/>
        </p:nvSpPr>
        <p:spPr>
          <a:xfrm>
            <a:off x="6446046" y="1536191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Скользящие и пакетные окна: win:time(), win:length(), win:time_batch()</a:t>
            </a:r>
            <a:endParaRPr lang="en-US" sz="16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CCAB1063-082E-1E77-07B3-838E00E007BF}"/>
              </a:ext>
            </a:extLst>
          </p:cNvPr>
          <p:cNvSpPr/>
          <p:nvPr/>
        </p:nvSpPr>
        <p:spPr>
          <a:xfrm>
            <a:off x="457199" y="2508475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2730C209-BA25-A5B1-CECB-41B36BEA18A8}"/>
              </a:ext>
            </a:extLst>
          </p:cNvPr>
          <p:cNvSpPr/>
          <p:nvPr/>
        </p:nvSpPr>
        <p:spPr>
          <a:xfrm>
            <a:off x="457200" y="2508475"/>
            <a:ext cx="87726" cy="1233969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11E757BE-8F34-B26D-4A6C-692793C461F1}"/>
              </a:ext>
            </a:extLst>
          </p:cNvPr>
          <p:cNvSpPr/>
          <p:nvPr/>
        </p:nvSpPr>
        <p:spPr>
          <a:xfrm>
            <a:off x="640079" y="2563340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</a:t>
            </a:r>
            <a:endParaRPr lang="en-US" sz="16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07E8C794-A685-D293-7D9A-88DF23E0B01D}"/>
              </a:ext>
            </a:extLst>
          </p:cNvPr>
          <p:cNvSpPr/>
          <p:nvPr/>
        </p:nvSpPr>
        <p:spPr>
          <a:xfrm>
            <a:off x="640079" y="2855947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Перенаправление результатов в новый именованный поток для каскадной обработки</a:t>
            </a:r>
            <a:endParaRPr lang="en-US" sz="16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D11777C8-AFF6-653C-F540-E915BFD53DBC}"/>
              </a:ext>
            </a:extLst>
          </p:cNvPr>
          <p:cNvSpPr/>
          <p:nvPr/>
        </p:nvSpPr>
        <p:spPr>
          <a:xfrm>
            <a:off x="6263166" y="2508475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93D0FAED-C9DB-548C-ED5F-F0C1DE52FF15}"/>
              </a:ext>
            </a:extLst>
          </p:cNvPr>
          <p:cNvSpPr/>
          <p:nvPr/>
        </p:nvSpPr>
        <p:spPr>
          <a:xfrm>
            <a:off x="6263167" y="2508475"/>
            <a:ext cx="87726" cy="1233969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C67C6359-6BCE-1E7C-30B7-C81BBBD18075}"/>
              </a:ext>
            </a:extLst>
          </p:cNvPr>
          <p:cNvSpPr/>
          <p:nvPr/>
        </p:nvSpPr>
        <p:spPr>
          <a:xfrm>
            <a:off x="6446046" y="2563340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HAVING</a:t>
            </a:r>
            <a:endParaRPr lang="en-US" sz="16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0621E325-B56B-105B-BEC8-FF4521740262}"/>
              </a:ext>
            </a:extLst>
          </p:cNvPr>
          <p:cNvSpPr/>
          <p:nvPr/>
        </p:nvSpPr>
        <p:spPr>
          <a:xfrm>
            <a:off x="6446046" y="2855947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и агрегация: count(), avg(), sum(), min(), max() по окнам</a:t>
            </a:r>
            <a:endParaRPr lang="en-US" sz="160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B8B1E0A3-9910-7993-FA2D-87E9E3235613}"/>
              </a:ext>
            </a:extLst>
          </p:cNvPr>
          <p:cNvSpPr/>
          <p:nvPr/>
        </p:nvSpPr>
        <p:spPr>
          <a:xfrm>
            <a:off x="457199" y="3799947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93653151-93E8-EC32-C335-8A5E9D608818}"/>
              </a:ext>
            </a:extLst>
          </p:cNvPr>
          <p:cNvSpPr/>
          <p:nvPr/>
        </p:nvSpPr>
        <p:spPr>
          <a:xfrm>
            <a:off x="457200" y="3799947"/>
            <a:ext cx="87726" cy="1233969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CEB7120E-FB0B-CB0E-1C0B-B9D86AFDE99F}"/>
              </a:ext>
            </a:extLst>
          </p:cNvPr>
          <p:cNvSpPr/>
          <p:nvPr/>
        </p:nvSpPr>
        <p:spPr>
          <a:xfrm>
            <a:off x="640079" y="3854812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6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895E3BA8-767C-F257-9F4F-215A8A469888}"/>
              </a:ext>
            </a:extLst>
          </p:cNvPr>
          <p:cNvSpPr/>
          <p:nvPr/>
        </p:nvSpPr>
        <p:spPr>
          <a:xfrm>
            <a:off x="640079" y="4147419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последовательностей: A → B, отсутствие (not), повтор ([N]), таймеры</a:t>
            </a:r>
            <a:endParaRPr lang="en-US" sz="16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B5CD778F-3C1B-A5CE-2498-B03A852AE167}"/>
              </a:ext>
            </a:extLst>
          </p:cNvPr>
          <p:cNvSpPr/>
          <p:nvPr/>
        </p:nvSpPr>
        <p:spPr>
          <a:xfrm>
            <a:off x="6263166" y="3799947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9C09D39F-D5E1-069F-05B6-9426DA9F7796}"/>
              </a:ext>
            </a:extLst>
          </p:cNvPr>
          <p:cNvSpPr/>
          <p:nvPr/>
        </p:nvSpPr>
        <p:spPr>
          <a:xfrm>
            <a:off x="6263167" y="3799947"/>
            <a:ext cx="87726" cy="1233969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0DA7DC20-8BC1-85C9-B18D-9CE1321D6EE7}"/>
              </a:ext>
            </a:extLst>
          </p:cNvPr>
          <p:cNvSpPr/>
          <p:nvPr/>
        </p:nvSpPr>
        <p:spPr>
          <a:xfrm>
            <a:off x="6446046" y="3854812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7D4C44B7-EF82-C2E6-FA40-A20D529F5E0E}"/>
              </a:ext>
            </a:extLst>
          </p:cNvPr>
          <p:cNvSpPr/>
          <p:nvPr/>
        </p:nvSpPr>
        <p:spPr>
          <a:xfrm>
            <a:off x="6446046" y="4147419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частотой вывода: output every N sec, output snapshot when terminated</a:t>
            </a:r>
            <a:endParaRPr lang="en-US" sz="16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BF66DF28-9399-3D62-373E-8D790E4B781E}"/>
              </a:ext>
            </a:extLst>
          </p:cNvPr>
          <p:cNvSpPr/>
          <p:nvPr/>
        </p:nvSpPr>
        <p:spPr>
          <a:xfrm>
            <a:off x="457199" y="5176258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F527AA51-2B49-9273-5480-B53C1F06F52A}"/>
              </a:ext>
            </a:extLst>
          </p:cNvPr>
          <p:cNvSpPr/>
          <p:nvPr/>
        </p:nvSpPr>
        <p:spPr>
          <a:xfrm>
            <a:off x="457200" y="5176258"/>
            <a:ext cx="87726" cy="123396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D776C1FB-F42F-AB7B-DEE3-D080D1683D64}"/>
              </a:ext>
            </a:extLst>
          </p:cNvPr>
          <p:cNvSpPr/>
          <p:nvPr/>
        </p:nvSpPr>
        <p:spPr>
          <a:xfrm>
            <a:off x="640079" y="5231123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CF564A34-C0CA-6F05-40BE-A33E5C17DB76}"/>
              </a:ext>
            </a:extLst>
          </p:cNvPr>
          <p:cNvSpPr/>
          <p:nvPr/>
        </p:nvSpPr>
        <p:spPr>
          <a:xfrm>
            <a:off x="640079" y="5523730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обработки: по ключу, по времени, вложенные контексты</a:t>
            </a:r>
            <a:endParaRPr lang="en-US" sz="16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6520C93F-CC52-9CB3-B342-71671C5B3B3B}"/>
              </a:ext>
            </a:extLst>
          </p:cNvPr>
          <p:cNvSpPr/>
          <p:nvPr/>
        </p:nvSpPr>
        <p:spPr>
          <a:xfrm>
            <a:off x="6263166" y="5176258"/>
            <a:ext cx="5576897" cy="123396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823A03A2-48FD-0810-61C1-984DC5F45CF1}"/>
              </a:ext>
            </a:extLst>
          </p:cNvPr>
          <p:cNvSpPr/>
          <p:nvPr/>
        </p:nvSpPr>
        <p:spPr>
          <a:xfrm>
            <a:off x="6263167" y="5176258"/>
            <a:ext cx="87726" cy="1233969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5889C142-5A55-C187-9598-E3E76F32EDBC}"/>
              </a:ext>
            </a:extLst>
          </p:cNvPr>
          <p:cNvSpPr/>
          <p:nvPr/>
        </p:nvSpPr>
        <p:spPr>
          <a:xfrm>
            <a:off x="6446046" y="5231123"/>
            <a:ext cx="5138265" cy="451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WINDOW / TABLE</a:t>
            </a:r>
            <a:endParaRPr lang="en-US" sz="1600" dirty="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4864FEE2-D70B-35D3-467A-8106C6668BCE}"/>
              </a:ext>
            </a:extLst>
          </p:cNvPr>
          <p:cNvSpPr/>
          <p:nvPr/>
        </p:nvSpPr>
        <p:spPr>
          <a:xfrm>
            <a:off x="6446046" y="5523730"/>
            <a:ext cx="5138265" cy="5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именованные окна и таблицы для хранения промежуточного состояния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61073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B3C1-6EA6-0959-7752-5AF04C69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0E904CE-5366-31CD-505D-53EBAAF80DF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38AD7C9-A174-2503-AB93-6E5B81428D9A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Data Windows — </a:t>
            </a:r>
            <a:r>
              <a:rPr lang="ru-RU" sz="2800" b="1" dirty="0">
                <a:solidFill>
                  <a:srgbClr val="FF0000"/>
                </a:solidFill>
              </a:rPr>
              <a:t>Окна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0E174B-534E-B68D-EB72-9B3F4D1F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871B7AC-EBCE-4879-2905-AD7BA9C49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2D01C1EB-7FE1-3ECF-3A4D-5325A08F693C}"/>
              </a:ext>
            </a:extLst>
          </p:cNvPr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определяют, какое подмножество событий анализировать. Два основных типа:</a:t>
            </a:r>
            <a:endParaRPr lang="en-US" sz="16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50E92FBD-98F6-B7CC-46B9-F6D6A4054E29}"/>
              </a:ext>
            </a:extLst>
          </p:cNvPr>
          <p:cNvSpPr/>
          <p:nvPr/>
        </p:nvSpPr>
        <p:spPr>
          <a:xfrm>
            <a:off x="542041" y="1738952"/>
            <a:ext cx="5185685" cy="38202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9DFC406-816C-B461-434D-4A6EE450BA43}"/>
              </a:ext>
            </a:extLst>
          </p:cNvPr>
          <p:cNvSpPr/>
          <p:nvPr/>
        </p:nvSpPr>
        <p:spPr>
          <a:xfrm>
            <a:off x="542041" y="1738952"/>
            <a:ext cx="5185685" cy="41148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Скользящие (Sliding)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2BF268D-154A-8353-1686-73C8D5F5C490}"/>
              </a:ext>
            </a:extLst>
          </p:cNvPr>
          <p:cNvSpPr/>
          <p:nvPr/>
        </p:nvSpPr>
        <p:spPr>
          <a:xfrm>
            <a:off x="724921" y="2241872"/>
            <a:ext cx="518568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#time(30 min)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30 минут событий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#length(100)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100 событий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#ext_timed(ts, 1 hour)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внешнему timestamp поля события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#unique(symbol)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последнее по уникальному ключу</a:t>
            </a:r>
            <a:endParaRPr lang="en-US" sz="16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DA106461-D09B-8C3C-C6A2-B7F26120C568}"/>
              </a:ext>
            </a:extLst>
          </p:cNvPr>
          <p:cNvSpPr/>
          <p:nvPr/>
        </p:nvSpPr>
        <p:spPr>
          <a:xfrm>
            <a:off x="6864913" y="1738951"/>
            <a:ext cx="4869887" cy="38202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D5DC81E-7EF9-5675-7247-22EF3D77BBB8}"/>
              </a:ext>
            </a:extLst>
          </p:cNvPr>
          <p:cNvSpPr/>
          <p:nvPr/>
        </p:nvSpPr>
        <p:spPr>
          <a:xfrm>
            <a:off x="6864912" y="1738951"/>
            <a:ext cx="4869887" cy="41148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Пакетные (Batch / Tumbling)</a:t>
            </a:r>
            <a:endParaRPr lang="en-US" sz="16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7DA48E0-0E14-8576-4852-697A43B75EEF}"/>
              </a:ext>
            </a:extLst>
          </p:cNvPr>
          <p:cNvSpPr/>
          <p:nvPr/>
        </p:nvSpPr>
        <p:spPr>
          <a:xfrm>
            <a:off x="7047793" y="2241871"/>
            <a:ext cx="46021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#time_batch(5 sec)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Накапливают события за 5 сек, затем выдают разом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#length_batch(10)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Выдают каждые 10 событий пачкой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#groupwin(symbol)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окон по ключу — отдельное окно для каждого значения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#expr(current_count &lt;= 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Динамический размер окна через выражение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7889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AF63-6497-01BB-C727-D3AE97C5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08F500-FAF4-5BA4-2D6D-CBF5722145C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759FD1E-D84B-D95D-FA52-9F0124CEB488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Паттерны событий (</a:t>
            </a:r>
            <a:r>
              <a:rPr lang="en-US" sz="2800" b="1" dirty="0">
                <a:solidFill>
                  <a:srgbClr val="FF0000"/>
                </a:solidFill>
              </a:rPr>
              <a:t>Patterns)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751A09-8D76-3494-AC76-C1186152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A21200F-E99F-A058-550B-F7CE2C296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6C23F29A-6DC8-06EF-767D-ABE50F2ABE08}"/>
              </a:ext>
            </a:extLst>
          </p:cNvPr>
          <p:cNvSpPr/>
          <p:nvPr/>
        </p:nvSpPr>
        <p:spPr>
          <a:xfrm>
            <a:off x="457199" y="1143000"/>
            <a:ext cx="113951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паттернов Esper реализует конечный автомат для обнаружения последовательностей, отсутствия и временны́х связей между событиями.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FE3E6B-B93E-EA74-574B-665E4AF5C2FA}"/>
              </a:ext>
            </a:extLst>
          </p:cNvPr>
          <p:cNvSpPr/>
          <p:nvPr/>
        </p:nvSpPr>
        <p:spPr>
          <a:xfrm>
            <a:off x="2125745" y="244665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C0BF9C0-1E38-4268-5C4E-AD6CA20FA0E0}"/>
              </a:ext>
            </a:extLst>
          </p:cNvPr>
          <p:cNvSpPr/>
          <p:nvPr/>
        </p:nvSpPr>
        <p:spPr>
          <a:xfrm>
            <a:off x="2217185" y="251980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-&gt; B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B31137D-0D79-5F94-D873-B53255F7F611}"/>
              </a:ext>
            </a:extLst>
          </p:cNvPr>
          <p:cNvSpPr/>
          <p:nvPr/>
        </p:nvSpPr>
        <p:spPr>
          <a:xfrm>
            <a:off x="3680225" y="249237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Followed-by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B8DA69E-D69A-B828-948E-D5D851C20295}"/>
              </a:ext>
            </a:extLst>
          </p:cNvPr>
          <p:cNvSpPr/>
          <p:nvPr/>
        </p:nvSpPr>
        <p:spPr>
          <a:xfrm>
            <a:off x="3680225" y="276669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A, за которым следует B</a:t>
            </a:r>
            <a:endParaRPr lang="en-US" sz="12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53099F1-86E8-F490-08EA-793F2D165D87}"/>
              </a:ext>
            </a:extLst>
          </p:cNvPr>
          <p:cNvSpPr/>
          <p:nvPr/>
        </p:nvSpPr>
        <p:spPr>
          <a:xfrm>
            <a:off x="6423425" y="244665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CEF807C-F249-9AC2-A3AA-4132B1D513D6}"/>
              </a:ext>
            </a:extLst>
          </p:cNvPr>
          <p:cNvSpPr/>
          <p:nvPr/>
        </p:nvSpPr>
        <p:spPr>
          <a:xfrm>
            <a:off x="6514865" y="251980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and B</a:t>
            </a:r>
            <a:endParaRPr lang="en-US" sz="1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4940655-61DD-37A7-DECF-AFFB86C92F9F}"/>
              </a:ext>
            </a:extLst>
          </p:cNvPr>
          <p:cNvSpPr/>
          <p:nvPr/>
        </p:nvSpPr>
        <p:spPr>
          <a:xfrm>
            <a:off x="7977905" y="249237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B1FA9A5-66B2-B735-5CD2-F254E040450C}"/>
              </a:ext>
            </a:extLst>
          </p:cNvPr>
          <p:cNvSpPr/>
          <p:nvPr/>
        </p:nvSpPr>
        <p:spPr>
          <a:xfrm>
            <a:off x="7977905" y="276669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события произошли (в любом порядке)</a:t>
            </a:r>
            <a:endParaRPr lang="en-US" sz="12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4D97006-276A-0DA1-28CA-8D164F0616D9}"/>
              </a:ext>
            </a:extLst>
          </p:cNvPr>
          <p:cNvSpPr/>
          <p:nvPr/>
        </p:nvSpPr>
        <p:spPr>
          <a:xfrm>
            <a:off x="2125745" y="322389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077CFE9-CBE2-90F6-C891-39C8A7EAFE88}"/>
              </a:ext>
            </a:extLst>
          </p:cNvPr>
          <p:cNvSpPr/>
          <p:nvPr/>
        </p:nvSpPr>
        <p:spPr>
          <a:xfrm>
            <a:off x="2217185" y="329704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or B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BE0550C-C5FD-8625-EE26-69677D1CBBC8}"/>
              </a:ext>
            </a:extLst>
          </p:cNvPr>
          <p:cNvSpPr/>
          <p:nvPr/>
        </p:nvSpPr>
        <p:spPr>
          <a:xfrm>
            <a:off x="3680225" y="326961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8780418-4CA4-DF01-A3B8-FF718CD83565}"/>
              </a:ext>
            </a:extLst>
          </p:cNvPr>
          <p:cNvSpPr/>
          <p:nvPr/>
        </p:nvSpPr>
        <p:spPr>
          <a:xfrm>
            <a:off x="3680225" y="354393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из двух событий</a:t>
            </a:r>
            <a:endParaRPr lang="en-US" sz="12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6861A58-9E62-73F0-F611-CB040463FA4E}"/>
              </a:ext>
            </a:extLst>
          </p:cNvPr>
          <p:cNvSpPr/>
          <p:nvPr/>
        </p:nvSpPr>
        <p:spPr>
          <a:xfrm>
            <a:off x="6423425" y="322389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DE695F31-0FDC-1E15-5098-D7980E8C2277}"/>
              </a:ext>
            </a:extLst>
          </p:cNvPr>
          <p:cNvSpPr/>
          <p:nvPr/>
        </p:nvSpPr>
        <p:spPr>
          <a:xfrm>
            <a:off x="6514865" y="329704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</a:t>
            </a:r>
            <a:endParaRPr lang="en-US" sz="12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C7FD368-341F-FA2B-ED8F-1127DFD9F100}"/>
              </a:ext>
            </a:extLst>
          </p:cNvPr>
          <p:cNvSpPr/>
          <p:nvPr/>
        </p:nvSpPr>
        <p:spPr>
          <a:xfrm>
            <a:off x="7977905" y="326961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49CAEA6E-329B-4533-8D01-661BF1D09FEB}"/>
              </a:ext>
            </a:extLst>
          </p:cNvPr>
          <p:cNvSpPr/>
          <p:nvPr/>
        </p:nvSpPr>
        <p:spPr>
          <a:xfrm>
            <a:off x="7977905" y="354393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события (используется с таймером)</a:t>
            </a:r>
            <a:endParaRPr lang="en-US" sz="12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182C90FC-0ECB-D76D-A6F2-FBEF3B9B04A9}"/>
              </a:ext>
            </a:extLst>
          </p:cNvPr>
          <p:cNvSpPr/>
          <p:nvPr/>
        </p:nvSpPr>
        <p:spPr>
          <a:xfrm>
            <a:off x="2125745" y="400113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37DC0B2D-AAAD-D3FB-97B3-36E5E316D34D}"/>
              </a:ext>
            </a:extLst>
          </p:cNvPr>
          <p:cNvSpPr/>
          <p:nvPr/>
        </p:nvSpPr>
        <p:spPr>
          <a:xfrm>
            <a:off x="2217185" y="407428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A</a:t>
            </a:r>
            <a:endParaRPr lang="en-US" sz="12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A9348E14-C49D-8F4F-637D-CD7269851833}"/>
              </a:ext>
            </a:extLst>
          </p:cNvPr>
          <p:cNvSpPr/>
          <p:nvPr/>
        </p:nvSpPr>
        <p:spPr>
          <a:xfrm>
            <a:off x="3680225" y="404685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endParaRPr lang="en-US" sz="12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EB40888-F8F3-C55F-B9FF-71EA28BFF5D1}"/>
              </a:ext>
            </a:extLst>
          </p:cNvPr>
          <p:cNvSpPr/>
          <p:nvPr/>
        </p:nvSpPr>
        <p:spPr>
          <a:xfrm>
            <a:off x="3680225" y="432117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повторение паттерна</a:t>
            </a:r>
            <a:endParaRPr lang="en-US" sz="120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E0B0EBE1-155A-0F56-47EA-7F6F888D962A}"/>
              </a:ext>
            </a:extLst>
          </p:cNvPr>
          <p:cNvSpPr/>
          <p:nvPr/>
        </p:nvSpPr>
        <p:spPr>
          <a:xfrm>
            <a:off x="6423425" y="400113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D49A886-F7D6-D761-E779-1502DB4CE018}"/>
              </a:ext>
            </a:extLst>
          </p:cNvPr>
          <p:cNvSpPr/>
          <p:nvPr/>
        </p:nvSpPr>
        <p:spPr>
          <a:xfrm>
            <a:off x="6514865" y="407428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[N] A</a:t>
            </a:r>
            <a:endParaRPr lang="en-US" sz="12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68ABC72F-E85A-54FB-9282-7D20C1100FCF}"/>
              </a:ext>
            </a:extLst>
          </p:cNvPr>
          <p:cNvSpPr/>
          <p:nvPr/>
        </p:nvSpPr>
        <p:spPr>
          <a:xfrm>
            <a:off x="7977905" y="404685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C9FAE0AF-77ED-EA20-CFC7-CAC7EAE2C745}"/>
              </a:ext>
            </a:extLst>
          </p:cNvPr>
          <p:cNvSpPr/>
          <p:nvPr/>
        </p:nvSpPr>
        <p:spPr>
          <a:xfrm>
            <a:off x="7977905" y="432117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N вхождений события A</a:t>
            </a:r>
            <a:endParaRPr lang="en-US" sz="120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7F268884-825F-3A6E-5003-426ADA0C34CA}"/>
              </a:ext>
            </a:extLst>
          </p:cNvPr>
          <p:cNvSpPr/>
          <p:nvPr/>
        </p:nvSpPr>
        <p:spPr>
          <a:xfrm>
            <a:off x="2125745" y="477837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403F4D5-9DBA-B174-9737-4FA49DCC4EAA}"/>
              </a:ext>
            </a:extLst>
          </p:cNvPr>
          <p:cNvSpPr/>
          <p:nvPr/>
        </p:nvSpPr>
        <p:spPr>
          <a:xfrm>
            <a:off x="2217185" y="485152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timer:interval()</a:t>
            </a:r>
            <a:endParaRPr lang="en-US" sz="12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511969EF-761C-E972-6F26-3FAFAF5D3957}"/>
              </a:ext>
            </a:extLst>
          </p:cNvPr>
          <p:cNvSpPr/>
          <p:nvPr/>
        </p:nvSpPr>
        <p:spPr>
          <a:xfrm>
            <a:off x="3680225" y="482409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Interval</a:t>
            </a:r>
            <a:endParaRPr lang="en-US" sz="12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C096B203-CA78-8FCE-F2B3-C814DC939CF7}"/>
              </a:ext>
            </a:extLst>
          </p:cNvPr>
          <p:cNvSpPr/>
          <p:nvPr/>
        </p:nvSpPr>
        <p:spPr>
          <a:xfrm>
            <a:off x="3680225" y="509841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Срабатывание через указанный промежуток</a:t>
            </a:r>
            <a:endParaRPr lang="en-US" sz="120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DC4A8DBE-4053-00D2-A2E0-C96955E53F9C}"/>
              </a:ext>
            </a:extLst>
          </p:cNvPr>
          <p:cNvSpPr/>
          <p:nvPr/>
        </p:nvSpPr>
        <p:spPr>
          <a:xfrm>
            <a:off x="6423425" y="4778375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9B0E4FAC-1249-7E18-0620-6C83D0EAB5DB}"/>
              </a:ext>
            </a:extLst>
          </p:cNvPr>
          <p:cNvSpPr/>
          <p:nvPr/>
        </p:nvSpPr>
        <p:spPr>
          <a:xfrm>
            <a:off x="6514865" y="4851527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timer:at()</a:t>
            </a:r>
            <a:endParaRPr lang="en-US" sz="12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FCFE586D-C2A3-FFA5-4DC7-6D7134AFEFD5}"/>
              </a:ext>
            </a:extLst>
          </p:cNvPr>
          <p:cNvSpPr/>
          <p:nvPr/>
        </p:nvSpPr>
        <p:spPr>
          <a:xfrm>
            <a:off x="7977905" y="482409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At</a:t>
            </a:r>
            <a:endParaRPr lang="en-US" sz="12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E478E7AD-3761-84FD-2591-31870D334915}"/>
              </a:ext>
            </a:extLst>
          </p:cNvPr>
          <p:cNvSpPr/>
          <p:nvPr/>
        </p:nvSpPr>
        <p:spPr>
          <a:xfrm>
            <a:off x="7977905" y="509841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Срабатывание по расписанию (cron-подобно)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3289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4744-127E-63DB-D9A9-86214EA1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06B5AC-090E-2FB4-D65B-E31AA8F97DF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D4EEED4E-35A4-D0A0-6AEE-97492BABCA31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Примеры запросов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365029-18A0-EA26-B411-711479D1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34B81A77-E9F9-9FC6-5111-2E46461CF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5CA9A5B8-53E4-115C-EEEA-EDA0AF7CCC69}"/>
              </a:ext>
            </a:extLst>
          </p:cNvPr>
          <p:cNvSpPr/>
          <p:nvPr/>
        </p:nvSpPr>
        <p:spPr>
          <a:xfrm>
            <a:off x="1871221" y="1847689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ADD50F-30AB-9152-3DE1-0AD0E3BCF64F}"/>
              </a:ext>
            </a:extLst>
          </p:cNvPr>
          <p:cNvSpPr/>
          <p:nvPr/>
        </p:nvSpPr>
        <p:spPr>
          <a:xfrm>
            <a:off x="2054101" y="1893409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событий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B9F10-CF87-2A80-9CCB-0AEE79424699}"/>
              </a:ext>
            </a:extLst>
          </p:cNvPr>
          <p:cNvSpPr/>
          <p:nvPr/>
        </p:nvSpPr>
        <p:spPr>
          <a:xfrm>
            <a:off x="4705861" y="1920841"/>
            <a:ext cx="3474720" cy="66751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96ADD9E-0EC9-2548-A033-8F96A5605902}"/>
              </a:ext>
            </a:extLst>
          </p:cNvPr>
          <p:cNvSpPr/>
          <p:nvPr/>
        </p:nvSpPr>
        <p:spPr>
          <a:xfrm>
            <a:off x="4797301" y="1939129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SensorEvent(temp &gt; 90)</a:t>
            </a:r>
            <a:endParaRPr lang="en-US" sz="9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224B7BB-4DFF-EC2F-C72E-4C575F3DE91E}"/>
              </a:ext>
            </a:extLst>
          </p:cNvPr>
          <p:cNvSpPr/>
          <p:nvPr/>
        </p:nvSpPr>
        <p:spPr>
          <a:xfrm>
            <a:off x="8317741" y="1893409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события датчиков, где температура выше 90°</a:t>
            </a:r>
            <a:endParaRPr lang="en-US" sz="1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286D4C9-E7A6-AB7E-CAEE-774938BE5A31}"/>
              </a:ext>
            </a:extLst>
          </p:cNvPr>
          <p:cNvSpPr/>
          <p:nvPr/>
        </p:nvSpPr>
        <p:spPr>
          <a:xfrm>
            <a:off x="1871221" y="2789521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D89A4D4-60FB-1E37-2E33-AF84088CA56D}"/>
              </a:ext>
            </a:extLst>
          </p:cNvPr>
          <p:cNvSpPr/>
          <p:nvPr/>
        </p:nvSpPr>
        <p:spPr>
          <a:xfrm>
            <a:off x="2054101" y="2835241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цена за скользящее окно 30 мин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0498191-7D91-6DBF-E4E1-E9F90976F3C4}"/>
              </a:ext>
            </a:extLst>
          </p:cNvPr>
          <p:cNvSpPr/>
          <p:nvPr/>
        </p:nvSpPr>
        <p:spPr>
          <a:xfrm>
            <a:off x="4705861" y="2862673"/>
            <a:ext cx="3474720" cy="66751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B68A560-B4A8-4A2C-B416-C412EF9929B6}"/>
              </a:ext>
            </a:extLst>
          </p:cNvPr>
          <p:cNvSpPr/>
          <p:nvPr/>
        </p:nvSpPr>
        <p:spPr>
          <a:xfrm>
            <a:off x="4797301" y="2880961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symbol, avg(price) as avgPrice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StockTick#time(30 min)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symbol</a:t>
            </a:r>
            <a:endParaRPr lang="en-US" sz="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8F2A645-E1EE-BF83-00C6-8DE32A16C771}"/>
              </a:ext>
            </a:extLst>
          </p:cNvPr>
          <p:cNvSpPr/>
          <p:nvPr/>
        </p:nvSpPr>
        <p:spPr>
          <a:xfrm>
            <a:off x="8317741" y="2835241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Непрерывная агрегация по группам</a:t>
            </a:r>
            <a:endParaRPr lang="en-US" sz="10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9269FAA-71E3-1E77-D9E4-26323ED2C167}"/>
              </a:ext>
            </a:extLst>
          </p:cNvPr>
          <p:cNvSpPr/>
          <p:nvPr/>
        </p:nvSpPr>
        <p:spPr>
          <a:xfrm>
            <a:off x="1871221" y="3731353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764C788-A048-B81E-249E-465BDF877DC1}"/>
              </a:ext>
            </a:extLst>
          </p:cNvPr>
          <p:cNvSpPr/>
          <p:nvPr/>
        </p:nvSpPr>
        <p:spPr>
          <a:xfrm>
            <a:off x="2054101" y="3777073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товаров за последние 30 минут</a:t>
            </a:r>
            <a:endParaRPr lang="en-US" sz="1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08CF4225-C5CB-2ADE-C115-BC1EE5F69767}"/>
              </a:ext>
            </a:extLst>
          </p:cNvPr>
          <p:cNvSpPr/>
          <p:nvPr/>
        </p:nvSpPr>
        <p:spPr>
          <a:xfrm>
            <a:off x="4705861" y="3804505"/>
            <a:ext cx="3474720" cy="66751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C63951C-3718-4F2B-AD44-397B72219A48}"/>
              </a:ext>
            </a:extLst>
          </p:cNvPr>
          <p:cNvSpPr/>
          <p:nvPr/>
        </p:nvSpPr>
        <p:spPr>
          <a:xfrm>
            <a:off x="4797301" y="3822793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itemId, count(*) as cnt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OrderEvent#time(30 min)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itemId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</a:t>
            </a:r>
            <a:endParaRPr lang="en-US" sz="9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102FAE3F-B094-9110-2744-88BBDF333086}"/>
              </a:ext>
            </a:extLst>
          </p:cNvPr>
          <p:cNvSpPr/>
          <p:nvPr/>
        </p:nvSpPr>
        <p:spPr>
          <a:xfrm>
            <a:off x="8317741" y="3777073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скользящему окну</a:t>
            </a:r>
            <a:endParaRPr lang="en-US" sz="1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0652039-7065-40B4-619E-39ECE8B3559D}"/>
              </a:ext>
            </a:extLst>
          </p:cNvPr>
          <p:cNvSpPr/>
          <p:nvPr/>
        </p:nvSpPr>
        <p:spPr>
          <a:xfrm>
            <a:off x="2054101" y="471890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Обнаружение: заказ не принят за 30 сек</a:t>
            </a:r>
            <a:endParaRPr lang="en-US" sz="12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925ECD3-81A2-A9C0-DBE8-07CBE53CEA6F}"/>
              </a:ext>
            </a:extLst>
          </p:cNvPr>
          <p:cNvSpPr/>
          <p:nvPr/>
        </p:nvSpPr>
        <p:spPr>
          <a:xfrm>
            <a:off x="4705861" y="4746337"/>
            <a:ext cx="3474720" cy="667512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C496F9D-23B6-A4E1-1156-810C4F7C6C9E}"/>
              </a:ext>
            </a:extLst>
          </p:cNvPr>
          <p:cNvSpPr/>
          <p:nvPr/>
        </p:nvSpPr>
        <p:spPr>
          <a:xfrm>
            <a:off x="4797301" y="4764625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pattern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[every s=Submit -&gt;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Accept(id=s.id)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timer:interval(30 sec)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9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6E141A4-BDC0-284B-6D10-41F0C162F778}"/>
              </a:ext>
            </a:extLst>
          </p:cNvPr>
          <p:cNvSpPr/>
          <p:nvPr/>
        </p:nvSpPr>
        <p:spPr>
          <a:xfrm>
            <a:off x="8317741" y="4718905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Паттерн: отсутствие события в интервале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16279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9DF3-EEE6-7B27-B361-2D59937F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6C43C9-92DA-086D-9987-2884931290F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719C3AD-13B5-1B39-BD0B-8934758F65A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Продвинутые возможности </a:t>
            </a:r>
            <a:r>
              <a:rPr lang="en-US" sz="2800" b="1" dirty="0">
                <a:solidFill>
                  <a:srgbClr val="FF0000"/>
                </a:solidFill>
              </a:rPr>
              <a:t>EPL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63FFEC-4AF5-2176-A07B-2362987D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DCF980D-6645-E171-F237-11E01D81E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AC474041-C8B5-5FD4-A21E-3A74C485A058}"/>
              </a:ext>
            </a:extLst>
          </p:cNvPr>
          <p:cNvSpPr/>
          <p:nvPr/>
        </p:nvSpPr>
        <p:spPr>
          <a:xfrm>
            <a:off x="1362173" y="1888837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E449A8-F40C-DF30-2619-4FE6463D4A8E}"/>
              </a:ext>
            </a:extLst>
          </p:cNvPr>
          <p:cNvSpPr/>
          <p:nvPr/>
        </p:nvSpPr>
        <p:spPr>
          <a:xfrm>
            <a:off x="1362173" y="1888837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152E3AF-88D1-DC0E-701A-C41BB1F220B2}"/>
              </a:ext>
            </a:extLst>
          </p:cNvPr>
          <p:cNvSpPr/>
          <p:nvPr/>
        </p:nvSpPr>
        <p:spPr>
          <a:xfrm>
            <a:off x="1545053" y="196198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Объединения </a:t>
            </a:r>
            <a:r>
              <a:rPr lang="en-US" sz="13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B33168F-40EF-EE13-8569-9E583F0FB886}"/>
              </a:ext>
            </a:extLst>
          </p:cNvPr>
          <p:cNvSpPr/>
          <p:nvPr/>
        </p:nvSpPr>
        <p:spPr>
          <a:xfrm>
            <a:off x="1545053" y="2254597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нескольких потоков событий по произвольным условиям — аналог SQL JOIN, но для потоков. Поддержка INNER, LEFT/RIGHT OUTER JOIN.</a:t>
            </a:r>
            <a:endParaRPr lang="en-US" sz="10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669EE03-14D2-C5BA-7C4A-2050578531AE}"/>
              </a:ext>
            </a:extLst>
          </p:cNvPr>
          <p:cNvSpPr/>
          <p:nvPr/>
        </p:nvSpPr>
        <p:spPr>
          <a:xfrm>
            <a:off x="5659853" y="1888837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ADF08EF-A951-5ADB-33A2-79F9EFA3C3ED}"/>
              </a:ext>
            </a:extLst>
          </p:cNvPr>
          <p:cNvSpPr/>
          <p:nvPr/>
        </p:nvSpPr>
        <p:spPr>
          <a:xfrm>
            <a:off x="5659853" y="1888837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C0130FA-CDF9-5433-C73F-C308F8E6D0C1}"/>
              </a:ext>
            </a:extLst>
          </p:cNvPr>
          <p:cNvSpPr/>
          <p:nvPr/>
        </p:nvSpPr>
        <p:spPr>
          <a:xfrm>
            <a:off x="5842733" y="196198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Подзапросы (Subqueries)</a:t>
            </a:r>
            <a:endParaRPr lang="en-US" sz="1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9F58851-42CA-55BA-27FF-FD8E932FE188}"/>
              </a:ext>
            </a:extLst>
          </p:cNvPr>
          <p:cNvSpPr/>
          <p:nvPr/>
        </p:nvSpPr>
        <p:spPr>
          <a:xfrm>
            <a:off x="5842733" y="2254597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поддерживает вложенные запросы в SELECT, WHERE, HAVING — для поиска и корреляции событий между потоками.</a:t>
            </a:r>
            <a:endParaRPr lang="en-US" sz="10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F519AF7-6961-92E3-341D-F55BD43D6F64}"/>
              </a:ext>
            </a:extLst>
          </p:cNvPr>
          <p:cNvSpPr/>
          <p:nvPr/>
        </p:nvSpPr>
        <p:spPr>
          <a:xfrm>
            <a:off x="1362173" y="3123277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50CA821-5C66-5233-BE31-346FF661EC96}"/>
              </a:ext>
            </a:extLst>
          </p:cNvPr>
          <p:cNvSpPr/>
          <p:nvPr/>
        </p:nvSpPr>
        <p:spPr>
          <a:xfrm>
            <a:off x="1362173" y="3123277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C9D50B6-1C4C-6C01-7238-43BF348A18B9}"/>
              </a:ext>
            </a:extLst>
          </p:cNvPr>
          <p:cNvSpPr/>
          <p:nvPr/>
        </p:nvSpPr>
        <p:spPr>
          <a:xfrm>
            <a:off x="1545053" y="319642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Windows &amp; Tables</a:t>
            </a:r>
            <a:endParaRPr lang="en-US" sz="13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12E52F2-DBCE-8FA6-2C17-5869DD342050}"/>
              </a:ext>
            </a:extLst>
          </p:cNvPr>
          <p:cNvSpPr/>
          <p:nvPr/>
        </p:nvSpPr>
        <p:spPr>
          <a:xfrm>
            <a:off x="1545053" y="3489037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структуры данных: Named Window хранит события, Table — агрегированное состояние. Доступны из любого оператора; поддерживают ON MERGE, ON DELETE.</a:t>
            </a:r>
            <a:endParaRPr lang="en-US" sz="10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C2C3D44-0448-5BE0-3E17-963D4BFAFE6E}"/>
              </a:ext>
            </a:extLst>
          </p:cNvPr>
          <p:cNvSpPr/>
          <p:nvPr/>
        </p:nvSpPr>
        <p:spPr>
          <a:xfrm>
            <a:off x="5659853" y="3123277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796A820-BED4-D260-4FA0-616F07C68043}"/>
              </a:ext>
            </a:extLst>
          </p:cNvPr>
          <p:cNvSpPr/>
          <p:nvPr/>
        </p:nvSpPr>
        <p:spPr>
          <a:xfrm>
            <a:off x="5659853" y="3123277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54F69AC-5D21-9B10-13DF-39420A0C23C6}"/>
              </a:ext>
            </a:extLst>
          </p:cNvPr>
          <p:cNvSpPr/>
          <p:nvPr/>
        </p:nvSpPr>
        <p:spPr>
          <a:xfrm>
            <a:off x="5842733" y="319642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Контексты (Contexts)</a:t>
            </a:r>
            <a:endParaRPr lang="en-US" sz="13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DAA9D4C-21CE-9A2D-E4B8-3A838BA0B294}"/>
              </a:ext>
            </a:extLst>
          </p:cNvPr>
          <p:cNvSpPr/>
          <p:nvPr/>
        </p:nvSpPr>
        <p:spPr>
          <a:xfrm>
            <a:off x="5842733" y="3489037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обработки: partition by ключу, по временным интервалам, вложенные контексты. Каждый сегмент — своё состояние.</a:t>
            </a:r>
            <a:endParaRPr lang="en-US" sz="105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E534C00-357F-D453-6A79-B71D9BD6ADD6}"/>
              </a:ext>
            </a:extLst>
          </p:cNvPr>
          <p:cNvSpPr/>
          <p:nvPr/>
        </p:nvSpPr>
        <p:spPr>
          <a:xfrm>
            <a:off x="1362173" y="4357717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3F845434-A106-18DD-DC1E-469D79926EFB}"/>
              </a:ext>
            </a:extLst>
          </p:cNvPr>
          <p:cNvSpPr/>
          <p:nvPr/>
        </p:nvSpPr>
        <p:spPr>
          <a:xfrm>
            <a:off x="1362173" y="4357717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B73E158-8E20-D57D-CE4E-8ADAA96CD8D5}"/>
              </a:ext>
            </a:extLst>
          </p:cNvPr>
          <p:cNvSpPr/>
          <p:nvPr/>
        </p:nvSpPr>
        <p:spPr>
          <a:xfrm>
            <a:off x="1545053" y="443086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и скрипты</a:t>
            </a:r>
            <a:endParaRPr lang="en-US" sz="13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BF8832E-2A40-26C9-8A95-6C74E600B307}"/>
              </a:ext>
            </a:extLst>
          </p:cNvPr>
          <p:cNvSpPr/>
          <p:nvPr/>
        </p:nvSpPr>
        <p:spPr>
          <a:xfrm>
            <a:off x="1545053" y="4723477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переменные для динамической параметризации запросов. Встроенная поддержка скриптов (JSR 223, MVEL) внутри EPL.</a:t>
            </a:r>
            <a:endParaRPr lang="en-US" sz="105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730E857D-CC3B-87CB-5CE3-A478416D4BE1}"/>
              </a:ext>
            </a:extLst>
          </p:cNvPr>
          <p:cNvSpPr/>
          <p:nvPr/>
        </p:nvSpPr>
        <p:spPr>
          <a:xfrm>
            <a:off x="5659853" y="4357717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288CBB7B-1EBA-BE0F-6979-184D31A33169}"/>
              </a:ext>
            </a:extLst>
          </p:cNvPr>
          <p:cNvSpPr/>
          <p:nvPr/>
        </p:nvSpPr>
        <p:spPr>
          <a:xfrm>
            <a:off x="5659853" y="4357717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44651DD-3B48-1500-268A-BE4074735FBB}"/>
              </a:ext>
            </a:extLst>
          </p:cNvPr>
          <p:cNvSpPr/>
          <p:nvPr/>
        </p:nvSpPr>
        <p:spPr>
          <a:xfrm>
            <a:off x="5842733" y="443086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запросы</a:t>
            </a:r>
            <a:endParaRPr lang="en-US" sz="13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E34FDA2-A7C9-E9B0-71EE-B11C4F44B528}"/>
              </a:ext>
            </a:extLst>
          </p:cNvPr>
          <p:cNvSpPr/>
          <p:nvPr/>
        </p:nvSpPr>
        <p:spPr>
          <a:xfrm>
            <a:off x="5842733" y="4723477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запросы к Named Windows и Tables через API — аналог SQL SELECT для одноразового чтения состояния.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99750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603100" y="1878519"/>
            <a:ext cx="5924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400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pic>
        <p:nvPicPr>
          <p:cNvPr id="7" name="Объект 1">
            <a:extLst>
              <a:ext uri="{FF2B5EF4-FFF2-40B4-BE49-F238E27FC236}">
                <a16:creationId xmlns:a16="http://schemas.microsoft.com/office/drawing/2014/main" id="{3D7E922A-E574-C847-BA5B-E66D8477CB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81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11535</TotalTime>
  <Words>1618</Words>
  <Application>Microsoft Office PowerPoint</Application>
  <PresentationFormat>Widescreen</PresentationFormat>
  <Paragraphs>379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inherit</vt:lpstr>
      <vt:lpstr>Tahoma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 Михайлович Грязнов</dc:creator>
  <cp:lastModifiedBy>Николай Домуховский</cp:lastModifiedBy>
  <cp:revision>285</cp:revision>
  <dcterms:created xsi:type="dcterms:W3CDTF">2020-07-22T09:29:31Z</dcterms:created>
  <dcterms:modified xsi:type="dcterms:W3CDTF">2026-03-31T22:29:44Z</dcterms:modified>
</cp:coreProperties>
</file>