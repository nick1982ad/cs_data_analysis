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357" r:id="rId3"/>
    <p:sldId id="338" r:id="rId4"/>
    <p:sldId id="384" r:id="rId5"/>
    <p:sldId id="385" r:id="rId6"/>
    <p:sldId id="387" r:id="rId7"/>
    <p:sldId id="388" r:id="rId8"/>
    <p:sldId id="386" r:id="rId9"/>
    <p:sldId id="379" r:id="rId10"/>
    <p:sldId id="381" r:id="rId11"/>
    <p:sldId id="389" r:id="rId12"/>
    <p:sldId id="383" r:id="rId13"/>
    <p:sldId id="390" r:id="rId14"/>
    <p:sldId id="334" r:id="rId15"/>
    <p:sldId id="359" r:id="rId16"/>
    <p:sldId id="391" r:id="rId17"/>
    <p:sldId id="392" r:id="rId18"/>
    <p:sldId id="393" r:id="rId19"/>
    <p:sldId id="394" r:id="rId20"/>
    <p:sldId id="395" r:id="rId21"/>
    <p:sldId id="396" r:id="rId22"/>
    <p:sldId id="361" r:id="rId23"/>
    <p:sldId id="400" r:id="rId24"/>
    <p:sldId id="398" r:id="rId25"/>
    <p:sldId id="401" r:id="rId26"/>
    <p:sldId id="402" r:id="rId27"/>
    <p:sldId id="399" r:id="rId28"/>
    <p:sldId id="403" r:id="rId29"/>
    <p:sldId id="404" r:id="rId30"/>
    <p:sldId id="405" r:id="rId31"/>
    <p:sldId id="406" r:id="rId32"/>
    <p:sldId id="407" r:id="rId33"/>
    <p:sldId id="408" r:id="rId34"/>
    <p:sldId id="409" r:id="rId35"/>
    <p:sldId id="318" r:id="rId3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474"/>
    <a:srgbClr val="42C4F4"/>
    <a:srgbClr val="7030A0"/>
    <a:srgbClr val="556F43"/>
    <a:srgbClr val="FFC000"/>
    <a:srgbClr val="8DBA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15" autoAdjust="0"/>
    <p:restoredTop sz="90465" autoAdjust="0"/>
  </p:normalViewPr>
  <p:slideViewPr>
    <p:cSldViewPr snapToGrid="0">
      <p:cViewPr varScale="1">
        <p:scale>
          <a:sx n="102" d="100"/>
          <a:sy n="102" d="100"/>
        </p:scale>
        <p:origin x="6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467A74-FEEF-45B0-ABD3-14EA22804807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A7E3A-ADC7-4226-B3BF-DCB7408A14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084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2772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9107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D5383-ADF6-31E2-5F21-0248982F1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0F85F47-31E4-DCCF-7261-3AE12C7E0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3AAAD09-F420-5A5F-A201-65CEDE877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DB6D37-4B37-DF6D-CF26-7CBB7B926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417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FBFCD-44E1-B7FD-0911-A6D8FB8C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F226842-3C1D-14DC-F68C-E74F36DCF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C4025BF-9306-BF9F-D69B-B9756B6A0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F14D41-BFB4-9A39-455B-9E69085B74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2650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E06AD-7AC0-8D9E-2552-F55F4710E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0869458-8F1D-5B2C-2814-AC8065A6A8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61E5869-EA92-4DB0-5DAB-D1AC63955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EB8745-BA8B-68C6-6762-F96EEAFD4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3007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FD8F5-2042-1838-B20A-352735BF1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04EFF95-1F31-2420-307B-6EDA317E6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A952603-5522-88EE-684B-61BAD80AE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09BF40E-1CAE-EF11-E8D0-368D5E9A2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8148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33DCE-9B09-2BDF-216E-E27D9BCCD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96E962D-35F6-FEB1-FCC4-0A6F58D75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2B56C12-4BCB-7C65-0274-3661E8394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C07FB85-A684-283E-A51B-845E8AFB1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903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F428A-EF39-BF66-B4E4-5052B70AC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CD04234-7CE3-AE0C-4F7E-C731F9D38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FB00509-E7C1-AFFA-ADFA-C3C340F77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09926F-2A26-1D13-2B78-B447A4D1CC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7098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8EB51-B100-A65E-15DB-3E0986EC2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6C36C15-15C7-1683-5D56-C04A4DF09C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B150FD8-509B-079D-D9B2-1501205EA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FFC2C5-EC05-0746-1F42-73FD06558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3644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FC123-7A71-63AF-C811-A6B6D2FF0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81E73B4-3F9E-DBF7-18DA-5ABB9962A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0BFA54F-A4E3-F61B-02BC-5CD5C4627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7AD86C-25BD-AFCC-F277-62A77192B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51904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99FE1-5461-73B0-B5C9-0B894325E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120F281-CCD4-77FB-2FBC-70D4CAFA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0DF5370-CABA-0901-9C4F-BFF133E8C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16163C-2037-FC32-79B2-9E653DA70C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325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CE00B-AA99-A383-AA65-4B7E8099F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F77C8EE-58B0-2BEB-069D-88A1C1823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911A29B-708C-C372-4BB2-853554F99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130CB2-A398-0F0C-7771-0D2D91058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238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15840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5B4C6-CBEF-D222-F8A8-F066097C3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6AE8666-8D6D-E94C-75D8-F9271DD2F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85E7ED-B871-98EA-ED08-633B0EE47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1099D1-C4D3-4653-D4FF-1BC57B6F2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1673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85D64-4C18-31F7-FCD2-DEBE3BF72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FCFCC47-5F36-7069-2183-8C871DFED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FC768E3-0F5E-8F33-5A41-45B20235F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95B06D-673C-4050-7E4B-A5DA0F885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15071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25889-FDAC-E8DD-C25C-9A7394607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494CD09-EE72-8FAE-88D1-F13C10E52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3E5B0F5-AFA0-60EF-EC18-BBB3A1EED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5BBE4D-5D8F-EAC4-7A81-D13B90E70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1688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DDA01-3E35-1262-A6C6-CA0F23A8E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4FFF2DD-ADDE-342C-F455-8BE0C4F458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562CDB5-5ECD-166F-5A09-B5DC687D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FA6986-8ADC-13C6-0F0F-DC02D29F6F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4281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E7193-2111-050C-7F5D-DC08185E3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1833F2B-D207-29E8-F623-EE9B879CC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FC6C206-90C8-FACB-DB04-E16CFEF32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C88751-D0EB-11C2-D303-52CB65467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1758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4A267-99D7-AAED-2CC9-F65B28836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8250128-C120-E82C-EB5C-7FAABD387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F756E36-C9B0-E46A-1D77-969A766C99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70322D-B686-A6CA-DD1B-B3B792677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80839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52D2A-1228-C9FD-F679-E195F9263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077DA84-4918-E973-870F-66E6DAD71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D246EFB-3486-7A85-16EF-1DAE1159A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73D284-5BBC-F7E6-B74A-674E10739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8498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6356E-9B56-9D2A-35CC-DF1666E58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B5B499E-3F3D-887F-27F9-1D5E22DC7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C83AA62-F1DA-47E7-31FA-F9CA3D900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C04304-4566-D990-1389-81851D151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11600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3AEB5-C6B2-3C6B-A805-9D0208F44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E85BFCE-B3DC-C89B-2584-400874D7F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ACEB674-621F-0E6C-B0A5-B3B0C2F29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D82E4C-70CC-3900-AF4F-15DC5C355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6568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4C272-3EBE-66C6-0F0F-085DBF17C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DD5BCE8-21DE-7F12-A924-1D945E164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FBC294F-5C2C-87F9-A19F-7AF897C34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7699D4-26CF-D1B8-3132-E5592FD2A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68481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01A7D-877C-1860-F1A9-0B3F0BF96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D7D1D71-5ECF-1423-2919-B2F0E2AF3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1A68C7E-7D95-CADC-8CD5-A468A556C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51300A-A7EA-AD58-4E7E-BC5D4C2B07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72347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24D5C-2276-129F-0B3C-DFB1EC053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5BB7B13-60F3-F816-006D-4BD1C9C99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416BC5A-07C3-506F-DD32-422AB3EAA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89724F-FE99-FD15-E411-26A6F8C99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58850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4C272-3EBE-66C6-0F0F-085DBF17C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DD5BCE8-21DE-7F12-A924-1D945E164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FBC294F-5C2C-87F9-A19F-7AF897C34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7699D4-26CF-D1B8-3132-E5592FD2A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2874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4D7B0-DA6C-E1CC-2C2B-AED43F9F3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47FE6DF-895C-83CE-5A40-7CB6F63BC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C8AEB26-C6C8-D31B-1F43-E2B823F58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4E543ED-2D94-2A8E-486D-A5651D69F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2441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8D03B-BE72-D833-F4CB-72D9C57F4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7057A7F-A27E-F191-F537-633F34C99B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451C413-3754-C22D-0032-76323EDCD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75BADC9-5A1F-9716-65A2-3978EC2B5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7205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F42F9-17E5-2469-D59D-1805451E0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7283B7E-28DF-2EA5-E5D7-341E85432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8F24401-F3CB-0E0B-4832-774AB499C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9E354D-496F-0B35-4C65-123D593A3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06951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DBD59-5930-63C4-59E6-DD8D75BAA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9E916CD-C40E-756B-2CF1-CD838794B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F716A2E-ACB0-DFB0-7013-6F47E12C0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4111728-7234-0D3A-90A0-321AF70B8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25145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3489C-FBC0-D313-0D33-D6AB35406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DEB5FDD-AD99-1E21-1D81-7EF79CECD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D71286D-E1F1-572A-1C18-653D548558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3CC255-D58F-617F-8F3D-FE09DC78A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99386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6C73A-38F8-4EEA-E54B-3D8BC08CD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95C80F5-8CD4-E5FC-A7F0-A504EDCBC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31D8EFC-65F5-550E-11E3-DEB801197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694C96-A482-815E-9E60-FFD19ABCAC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5395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01542-49C2-2937-A857-C65257E53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EE05821-8551-62A5-DAA8-D00ADFD1E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12688ED-0CB8-4C72-7F11-6E73080E9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E9F685-ED59-7B5A-C2DE-E0FA813DED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9A7E3A-ADC7-4226-B3BF-DCB7408A146C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0560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807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690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6451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160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788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138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388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769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49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055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C4E9E-3BE5-4665-BAE6-72CA507E8656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770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C4E9E-3BE5-4665-BAE6-72CA507E8656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26E06-9C1F-4149-B02B-AA912A5E2C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592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338" y="0"/>
            <a:ext cx="12200338" cy="6858000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1037230" y="1784804"/>
            <a:ext cx="9379389" cy="3452287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«Методы анализа данных»</a:t>
            </a:r>
            <a:endParaRPr lang="en-US" sz="5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ru-RU" sz="5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Лекция 2. Виды данных. Специфичные данные в ИБ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952052" y="5484010"/>
            <a:ext cx="787619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Домуховский Николай Анатольевич</a:t>
            </a:r>
          </a:p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Заместитель директора по проектной работе, УНЦ ИБ ИРИТ-РТФ УрФУ</a:t>
            </a:r>
            <a:b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N.A.Domukhovsky@urfu.ru, telegram: @Nick1982ad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4B04525-F42B-0A4F-A843-6E85C99DDA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27061" r="44625" b="33918"/>
          <a:stretch/>
        </p:blipFill>
        <p:spPr>
          <a:xfrm>
            <a:off x="1037230" y="467642"/>
            <a:ext cx="2016631" cy="107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923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Напомню принципы работы на курсе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A8E330A-A21C-4139-889E-E71E5BC27371}"/>
              </a:ext>
            </a:extLst>
          </p:cNvPr>
          <p:cNvSpPr/>
          <p:nvPr/>
        </p:nvSpPr>
        <p:spPr>
          <a:xfrm>
            <a:off x="2303178" y="2526991"/>
            <a:ext cx="273136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ИНИЦИАТИВНОСТЬ</a:t>
            </a: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ЛЮБОПЫТСТВО</a:t>
            </a: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Прямоугольник 3">
            <a:extLst>
              <a:ext uri="{FF2B5EF4-FFF2-40B4-BE49-F238E27FC236}">
                <a16:creationId xmlns:a16="http://schemas.microsoft.com/office/drawing/2014/main" id="{A8F2BC51-42E3-FD97-A85C-3A82120DFBB6}"/>
              </a:ext>
            </a:extLst>
          </p:cNvPr>
          <p:cNvSpPr/>
          <p:nvPr/>
        </p:nvSpPr>
        <p:spPr>
          <a:xfrm>
            <a:off x="8249271" y="2526991"/>
            <a:ext cx="24688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БЕЗОПАСНАЯ СРЕДА</a:t>
            </a:r>
          </a:p>
          <a:p>
            <a:endParaRPr lang="ru-RU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Прямоугольник 4">
            <a:extLst>
              <a:ext uri="{FF2B5EF4-FFF2-40B4-BE49-F238E27FC236}">
                <a16:creationId xmlns:a16="http://schemas.microsoft.com/office/drawing/2014/main" id="{28D72102-BE75-B3FB-A425-0D0A658E521B}"/>
              </a:ext>
            </a:extLst>
          </p:cNvPr>
          <p:cNvSpPr/>
          <p:nvPr/>
        </p:nvSpPr>
        <p:spPr>
          <a:xfrm>
            <a:off x="8215575" y="3817675"/>
            <a:ext cx="25362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ОТВЕТСТВЕННОСТЬ</a:t>
            </a:r>
          </a:p>
        </p:txBody>
      </p:sp>
      <p:pic>
        <p:nvPicPr>
          <p:cNvPr id="8" name="Рисунок 5">
            <a:extLst>
              <a:ext uri="{FF2B5EF4-FFF2-40B4-BE49-F238E27FC236}">
                <a16:creationId xmlns:a16="http://schemas.microsoft.com/office/drawing/2014/main" id="{62CFCEAE-2271-C5CA-854A-210CA3005D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422" y="2322017"/>
            <a:ext cx="1001265" cy="1001265"/>
          </a:xfrm>
          <a:prstGeom prst="rect">
            <a:avLst/>
          </a:prstGeom>
        </p:spPr>
      </p:pic>
      <p:pic>
        <p:nvPicPr>
          <p:cNvPr id="11" name="Рисунок 6">
            <a:extLst>
              <a:ext uri="{FF2B5EF4-FFF2-40B4-BE49-F238E27FC236}">
                <a16:creationId xmlns:a16="http://schemas.microsoft.com/office/drawing/2014/main" id="{3B2D323A-1547-5B2E-A8DA-7A522BC06D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691" y="3366644"/>
            <a:ext cx="1021487" cy="1023937"/>
          </a:xfrm>
          <a:prstGeom prst="rect">
            <a:avLst/>
          </a:prstGeom>
        </p:spPr>
      </p:pic>
      <p:pic>
        <p:nvPicPr>
          <p:cNvPr id="12" name="Рисунок 7">
            <a:extLst>
              <a:ext uri="{FF2B5EF4-FFF2-40B4-BE49-F238E27FC236}">
                <a16:creationId xmlns:a16="http://schemas.microsoft.com/office/drawing/2014/main" id="{980E08DA-B2CE-175E-A853-FBF181BA0B0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507" y="2364256"/>
            <a:ext cx="916788" cy="916788"/>
          </a:xfrm>
          <a:prstGeom prst="rect">
            <a:avLst/>
          </a:prstGeom>
        </p:spPr>
      </p:pic>
      <p:pic>
        <p:nvPicPr>
          <p:cNvPr id="13" name="Рисунок 8">
            <a:extLst>
              <a:ext uri="{FF2B5EF4-FFF2-40B4-BE49-F238E27FC236}">
                <a16:creationId xmlns:a16="http://schemas.microsoft.com/office/drawing/2014/main" id="{0AE441DB-6B7C-7E01-CAF0-FF567F10557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446" y="3470156"/>
            <a:ext cx="915216" cy="9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911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Классификация данных по типам – с чем мы работаем</a:t>
            </a:r>
            <a:r>
              <a:rPr lang="en-US" sz="2800" b="1" dirty="0">
                <a:solidFill>
                  <a:srgbClr val="FF0000"/>
                </a:solidFill>
              </a:rPr>
              <a:t>?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3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A44EDE6-0011-0CBE-CDA5-DB4752C8C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311326"/>
            <a:ext cx="10460792" cy="504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92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33E86-2076-3B21-870A-98BAB40C7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E4F93EB-875C-CF51-1DBD-16C054B84DBF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567D8967-C4A3-F7E8-7665-9C3F2402B56E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Числовые данные и их особенности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8A4042-126C-CCA2-273F-800646CBA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4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41F6547D-E01E-FDC0-F168-0D9EA3DBE6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1026" name="Picture 2" descr="Стенд портрет и высказывание Пифагора Самосского">
            <a:extLst>
              <a:ext uri="{FF2B5EF4-FFF2-40B4-BE49-F238E27FC236}">
                <a16:creationId xmlns:a16="http://schemas.microsoft.com/office/drawing/2014/main" id="{2757130A-4DA9-854D-8925-17F3F9A3C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6469" y="4361482"/>
            <a:ext cx="3556262" cy="2370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Содержимое 2">
            <a:extLst>
              <a:ext uri="{FF2B5EF4-FFF2-40B4-BE49-F238E27FC236}">
                <a16:creationId xmlns:a16="http://schemas.microsoft.com/office/drawing/2014/main" id="{FE45AC84-2274-35B3-9E29-286C0A43EBAC}"/>
              </a:ext>
            </a:extLst>
          </p:cNvPr>
          <p:cNvSpPr txBox="1">
            <a:spLocks/>
          </p:cNvSpPr>
          <p:nvPr/>
        </p:nvSpPr>
        <p:spPr>
          <a:xfrm>
            <a:off x="279269" y="1344651"/>
            <a:ext cx="6814354" cy="5011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ru-RU" altLang="ru-RU" sz="1800" b="1" dirty="0"/>
              <a:t>Дискретные данные</a:t>
            </a:r>
            <a:r>
              <a:rPr lang="en-US" altLang="ru-RU" sz="1800" b="1" dirty="0"/>
              <a:t>:</a:t>
            </a:r>
            <a:endParaRPr lang="ru-RU" altLang="ru-RU" sz="1800" b="1" dirty="0"/>
          </a:p>
          <a:p>
            <a:pPr lvl="1"/>
            <a:r>
              <a:rPr lang="ru-RU" altLang="ru-RU" sz="1800" dirty="0"/>
              <a:t>Есть минимальное расстояние между соседними значениями</a:t>
            </a:r>
          </a:p>
          <a:p>
            <a:pPr lvl="1"/>
            <a:r>
              <a:rPr lang="ru-RU" altLang="ru-RU" sz="1800" dirty="0"/>
              <a:t>Значения могут часто повторяться</a:t>
            </a:r>
            <a:endParaRPr lang="en-US" altLang="ru-RU" sz="1800" dirty="0"/>
          </a:p>
          <a:p>
            <a:pPr lvl="1"/>
            <a:r>
              <a:rPr lang="ru-RU" altLang="ru-RU" sz="1800" dirty="0"/>
              <a:t>Чаще всего представлены целыми числами</a:t>
            </a:r>
          </a:p>
          <a:p>
            <a:pPr marL="457200" lvl="1" indent="0">
              <a:buNone/>
            </a:pPr>
            <a:r>
              <a:rPr lang="ru-RU" altLang="ru-RU" sz="1800" b="1" dirty="0"/>
              <a:t>Непрерывные данные</a:t>
            </a:r>
            <a:r>
              <a:rPr lang="en-US" altLang="ru-RU" sz="1800" b="1" dirty="0"/>
              <a:t>:</a:t>
            </a:r>
          </a:p>
          <a:p>
            <a:pPr lvl="1"/>
            <a:r>
              <a:rPr lang="ru-RU" altLang="ru-RU" sz="1800" dirty="0"/>
              <a:t>Между любыми двумя значениями может быть еще любое количество значений</a:t>
            </a:r>
          </a:p>
          <a:p>
            <a:pPr lvl="1"/>
            <a:r>
              <a:rPr lang="ru-RU" altLang="ru-RU" sz="1800" dirty="0"/>
              <a:t>Значения, как правило разные (но могут быть близки к некоторому среднему)</a:t>
            </a:r>
          </a:p>
          <a:p>
            <a:pPr lvl="1"/>
            <a:r>
              <a:rPr lang="ru-RU" altLang="ru-RU" sz="1800" dirty="0"/>
              <a:t>Чаще всего представлены числами с плавающей точкой</a:t>
            </a:r>
          </a:p>
          <a:p>
            <a:pPr lvl="1"/>
            <a:endParaRPr lang="ru-RU" altLang="ru-RU" sz="1800" dirty="0"/>
          </a:p>
          <a:p>
            <a:pPr marL="457200" lvl="1" indent="0">
              <a:buNone/>
            </a:pPr>
            <a:r>
              <a:rPr lang="ru-RU" altLang="ru-RU" sz="1600" b="1" dirty="0"/>
              <a:t>Однозначного критерия для определения является ли величина дискретной или непрерывной по выборке значений - нет</a:t>
            </a:r>
            <a:endParaRPr lang="ru-RU" altLang="ru-RU"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90F304-5755-C9CE-A1F0-46DE525C4BE7}"/>
              </a:ext>
            </a:extLst>
          </p:cNvPr>
          <p:cNvSpPr txBox="1"/>
          <p:nvPr/>
        </p:nvSpPr>
        <p:spPr>
          <a:xfrm>
            <a:off x="9374501" y="3578143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1 3 7 19 11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C1A665-30FA-4B7D-5B8B-B193E5F17C5C}"/>
              </a:ext>
            </a:extLst>
          </p:cNvPr>
          <p:cNvSpPr txBox="1"/>
          <p:nvPr/>
        </p:nvSpPr>
        <p:spPr>
          <a:xfrm>
            <a:off x="9199773" y="1998332"/>
            <a:ext cx="1564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1.5 2 8 15 18.5</a:t>
            </a:r>
          </a:p>
        </p:txBody>
      </p:sp>
    </p:spTree>
    <p:extLst>
      <p:ext uri="{BB962C8B-B14F-4D97-AF65-F5344CB8AC3E}">
        <p14:creationId xmlns:p14="http://schemas.microsoft.com/office/powerpoint/2010/main" val="2992380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E7F7A-14D2-20C0-FAA9-218B16C61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A9EB8FB-1074-F546-1606-2C837FE55F6A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AA30E170-645D-C4F6-914B-63D9C94876AE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Представление числовых данных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546655-269A-FC8B-4D9C-5D39073C9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5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2E4EC61D-23AA-4C64-414C-A7EA19F99B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Содержимое 2">
            <a:extLst>
              <a:ext uri="{FF2B5EF4-FFF2-40B4-BE49-F238E27FC236}">
                <a16:creationId xmlns:a16="http://schemas.microsoft.com/office/drawing/2014/main" id="{D2CF85FE-BB0F-842C-7D8D-714F53315F00}"/>
              </a:ext>
            </a:extLst>
          </p:cNvPr>
          <p:cNvSpPr txBox="1">
            <a:spLocks/>
          </p:cNvSpPr>
          <p:nvPr/>
        </p:nvSpPr>
        <p:spPr>
          <a:xfrm>
            <a:off x="100160" y="1448346"/>
            <a:ext cx="5499362" cy="5011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ru-RU" altLang="ru-RU" sz="1800" b="1" dirty="0"/>
              <a:t>Стандарты представления целых чисел</a:t>
            </a:r>
            <a:r>
              <a:rPr lang="en-US" altLang="ru-RU" sz="1800" b="1" dirty="0"/>
              <a:t>:</a:t>
            </a:r>
            <a:endParaRPr lang="ru-RU" altLang="ru-RU" sz="1800" b="1" dirty="0"/>
          </a:p>
          <a:p>
            <a:pPr lvl="1"/>
            <a:r>
              <a:rPr lang="ru-RU" altLang="ru-RU" sz="1800" dirty="0" err="1"/>
              <a:t>Беззнаковое</a:t>
            </a:r>
            <a:r>
              <a:rPr lang="ru-RU" altLang="ru-RU" sz="1800" dirty="0"/>
              <a:t> целое</a:t>
            </a:r>
          </a:p>
          <a:p>
            <a:pPr lvl="1"/>
            <a:r>
              <a:rPr lang="ru-RU" altLang="ru-RU" sz="1800" dirty="0"/>
              <a:t>Знаковое целое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7FB715-F833-8286-5ABD-E7F1E1E43EEB}"/>
              </a:ext>
            </a:extLst>
          </p:cNvPr>
          <p:cNvSpPr txBox="1"/>
          <p:nvPr/>
        </p:nvSpPr>
        <p:spPr>
          <a:xfrm>
            <a:off x="7613650" y="1753109"/>
            <a:ext cx="1993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1100 1111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452B337-B8F9-A847-C7A0-8B6072523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418" y="2955385"/>
            <a:ext cx="4170363" cy="1243457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AE6937A-6962-C8BB-84CB-89F8CFE4B158}"/>
              </a:ext>
            </a:extLst>
          </p:cNvPr>
          <p:cNvCxnSpPr>
            <a:stCxn id="15" idx="2"/>
          </p:cNvCxnSpPr>
          <p:nvPr/>
        </p:nvCxnSpPr>
        <p:spPr>
          <a:xfrm>
            <a:off x="8610600" y="2122441"/>
            <a:ext cx="0" cy="811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410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8ECC7-980B-0BDB-BBF2-E8E34FC52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31FD19B-C34D-49C7-F342-05E126C8824C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07101606-4FDE-BB49-6D76-778E118F3F5B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Представление числовых данных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893F13-2F9D-A8B0-CD1D-78706AA0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6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0ACB9490-D87C-B16A-4E85-BF85F99A2D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Содержимое 2">
            <a:extLst>
              <a:ext uri="{FF2B5EF4-FFF2-40B4-BE49-F238E27FC236}">
                <a16:creationId xmlns:a16="http://schemas.microsoft.com/office/drawing/2014/main" id="{24545AA8-84D1-1FE9-070C-3982E63B07C0}"/>
              </a:ext>
            </a:extLst>
          </p:cNvPr>
          <p:cNvSpPr txBox="1">
            <a:spLocks/>
          </p:cNvSpPr>
          <p:nvPr/>
        </p:nvSpPr>
        <p:spPr>
          <a:xfrm>
            <a:off x="100160" y="1448346"/>
            <a:ext cx="5499362" cy="5011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ru-RU" altLang="ru-RU" sz="1800" b="1" dirty="0"/>
              <a:t>Стандарты представления целых чисел</a:t>
            </a:r>
            <a:r>
              <a:rPr lang="en-US" altLang="ru-RU" sz="1800" b="1" dirty="0"/>
              <a:t>:</a:t>
            </a:r>
            <a:endParaRPr lang="ru-RU" altLang="ru-RU" sz="1800" b="1" dirty="0"/>
          </a:p>
          <a:p>
            <a:pPr lvl="1"/>
            <a:r>
              <a:rPr lang="ru-RU" altLang="ru-RU" sz="1800" dirty="0" err="1"/>
              <a:t>Беззнаковое</a:t>
            </a:r>
            <a:r>
              <a:rPr lang="ru-RU" altLang="ru-RU" sz="1800" dirty="0"/>
              <a:t> целое</a:t>
            </a:r>
          </a:p>
          <a:p>
            <a:pPr lvl="1"/>
            <a:r>
              <a:rPr lang="ru-RU" altLang="ru-RU" sz="1800" dirty="0"/>
              <a:t>Знаковое целое</a:t>
            </a:r>
          </a:p>
          <a:p>
            <a:pPr marL="457200" lvl="1" indent="0">
              <a:buNone/>
            </a:pPr>
            <a:r>
              <a:rPr lang="ru-RU" altLang="ru-RU" sz="1800" b="1" dirty="0"/>
              <a:t>Стандарты представления чисел с плавающей точкой (</a:t>
            </a:r>
            <a:r>
              <a:rPr lang="en-US" altLang="ru-RU" sz="1800" b="1" dirty="0"/>
              <a:t>IEEE 754):</a:t>
            </a:r>
          </a:p>
          <a:p>
            <a:pPr lvl="1"/>
            <a:r>
              <a:rPr lang="en-US" altLang="ru-RU" sz="1800" dirty="0"/>
              <a:t>Float32 (single)</a:t>
            </a:r>
          </a:p>
          <a:p>
            <a:pPr lvl="1"/>
            <a:r>
              <a:rPr lang="en-US" altLang="ru-RU" sz="1800" dirty="0"/>
              <a:t>Float64 (double)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2C968DB-99BB-017F-1F90-CF7987C4B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283" y="2184662"/>
            <a:ext cx="5257800" cy="673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928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853E9-4E0D-2A4E-2CC1-E604C65DE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D1AFDEA-A167-5E37-AD80-25630AA2B2B4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97F44615-3333-D08E-4304-0DE3835829DD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Представление числовых данных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4AE2BD-E7A4-5B66-08E6-B73DC446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7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465C77D-5343-EE06-C59D-50DA11B0F3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Содержимое 2">
            <a:extLst>
              <a:ext uri="{FF2B5EF4-FFF2-40B4-BE49-F238E27FC236}">
                <a16:creationId xmlns:a16="http://schemas.microsoft.com/office/drawing/2014/main" id="{CF2B3287-587B-3AC9-5661-8B8645A44ABC}"/>
              </a:ext>
            </a:extLst>
          </p:cNvPr>
          <p:cNvSpPr txBox="1">
            <a:spLocks/>
          </p:cNvSpPr>
          <p:nvPr/>
        </p:nvSpPr>
        <p:spPr>
          <a:xfrm>
            <a:off x="100160" y="1448346"/>
            <a:ext cx="5499362" cy="5011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ru-RU" altLang="ru-RU" sz="1800" b="1" dirty="0"/>
              <a:t>Стандарты представления целых чисел</a:t>
            </a:r>
            <a:r>
              <a:rPr lang="en-US" altLang="ru-RU" sz="1800" b="1" dirty="0"/>
              <a:t>:</a:t>
            </a:r>
            <a:endParaRPr lang="ru-RU" altLang="ru-RU" sz="1800" b="1" dirty="0"/>
          </a:p>
          <a:p>
            <a:pPr lvl="1"/>
            <a:r>
              <a:rPr lang="ru-RU" altLang="ru-RU" sz="1800" dirty="0" err="1"/>
              <a:t>Беззнаковое</a:t>
            </a:r>
            <a:r>
              <a:rPr lang="ru-RU" altLang="ru-RU" sz="1800" dirty="0"/>
              <a:t> целое</a:t>
            </a:r>
          </a:p>
          <a:p>
            <a:pPr lvl="1"/>
            <a:r>
              <a:rPr lang="ru-RU" altLang="ru-RU" sz="1800" dirty="0"/>
              <a:t>Знаковое целое</a:t>
            </a:r>
          </a:p>
          <a:p>
            <a:pPr marL="457200" lvl="1" indent="0">
              <a:buNone/>
            </a:pPr>
            <a:r>
              <a:rPr lang="ru-RU" altLang="ru-RU" sz="1800" b="1" dirty="0"/>
              <a:t>Стандарты представления чисел с плавающей точкой (</a:t>
            </a:r>
            <a:r>
              <a:rPr lang="en-US" altLang="ru-RU" sz="1800" b="1" dirty="0"/>
              <a:t>IEEE 754):</a:t>
            </a:r>
          </a:p>
          <a:p>
            <a:pPr lvl="1"/>
            <a:r>
              <a:rPr lang="en-US" altLang="ru-RU" sz="1800" dirty="0"/>
              <a:t>Float32 (single)</a:t>
            </a:r>
          </a:p>
          <a:p>
            <a:pPr lvl="1"/>
            <a:r>
              <a:rPr lang="en-US" altLang="ru-RU" sz="1800" dirty="0"/>
              <a:t>Float64 (double)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1E787D7-FF8F-0BB5-FDC5-04C923422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283" y="2184662"/>
            <a:ext cx="5257800" cy="673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A76A59-60C0-0174-CFCC-3121B2AFC3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760" y="3429000"/>
            <a:ext cx="4312960" cy="2573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594E0F-1387-A8C2-4831-504C7A0078FF}"/>
              </a:ext>
            </a:extLst>
          </p:cNvPr>
          <p:cNvSpPr txBox="1"/>
          <p:nvPr/>
        </p:nvSpPr>
        <p:spPr>
          <a:xfrm>
            <a:off x="10805993" y="3396372"/>
            <a:ext cx="13860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= </a:t>
            </a:r>
            <a:r>
              <a:rPr lang="ru-RU" sz="1400" dirty="0"/>
              <a:t>1 042 284 544</a:t>
            </a:r>
          </a:p>
        </p:txBody>
      </p:sp>
    </p:spTree>
    <p:extLst>
      <p:ext uri="{BB962C8B-B14F-4D97-AF65-F5344CB8AC3E}">
        <p14:creationId xmlns:p14="http://schemas.microsoft.com/office/powerpoint/2010/main" val="1862777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781B2-6186-AEA4-D14B-DAF74660B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ig Endian and Little Endian in Memory -">
            <a:extLst>
              <a:ext uri="{FF2B5EF4-FFF2-40B4-BE49-F238E27FC236}">
                <a16:creationId xmlns:a16="http://schemas.microsoft.com/office/drawing/2014/main" id="{21D8710C-5D62-2939-0FE0-9FAB6129D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1017" y="1448346"/>
            <a:ext cx="8130823" cy="4573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9ABFCF5-7960-2D3B-97BE-2DE6B0778F73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08AD59C2-2BE9-27A6-4E05-4AEC2925D03D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Представление числовых данных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9F7A44-57B2-5ADE-A5F4-168A2B09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8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C6B49AC3-C44F-2040-1628-075B8D9C44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Содержимое 2">
            <a:extLst>
              <a:ext uri="{FF2B5EF4-FFF2-40B4-BE49-F238E27FC236}">
                <a16:creationId xmlns:a16="http://schemas.microsoft.com/office/drawing/2014/main" id="{07C099D1-EE8B-181D-349D-48E29A95B294}"/>
              </a:ext>
            </a:extLst>
          </p:cNvPr>
          <p:cNvSpPr txBox="1">
            <a:spLocks/>
          </p:cNvSpPr>
          <p:nvPr/>
        </p:nvSpPr>
        <p:spPr>
          <a:xfrm>
            <a:off x="100160" y="1448346"/>
            <a:ext cx="5499362" cy="5011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ru-RU" altLang="ru-RU" sz="1800" b="1" dirty="0"/>
              <a:t>Размещение байт в памяти</a:t>
            </a:r>
            <a:r>
              <a:rPr lang="en-US" altLang="ru-RU" sz="1800" b="1" dirty="0"/>
              <a:t>:</a:t>
            </a:r>
          </a:p>
          <a:p>
            <a:pPr lvl="1"/>
            <a:r>
              <a:rPr lang="en-US" altLang="ru-RU" sz="1800" dirty="0"/>
              <a:t>Little endian (LE)</a:t>
            </a:r>
          </a:p>
          <a:p>
            <a:pPr lvl="1"/>
            <a:r>
              <a:rPr lang="en-US" altLang="ru-RU" sz="1800" dirty="0"/>
              <a:t>Big endian (BE)</a:t>
            </a:r>
          </a:p>
          <a:p>
            <a:pPr lvl="1"/>
            <a:endParaRPr lang="en-US" altLang="ru-RU" sz="1800" dirty="0"/>
          </a:p>
          <a:p>
            <a:pPr marL="457200" lvl="1" indent="0">
              <a:buNone/>
            </a:pPr>
            <a:r>
              <a:rPr lang="ru-RU" altLang="ru-RU" sz="1800" b="1" dirty="0"/>
              <a:t>Примеры</a:t>
            </a:r>
            <a:r>
              <a:rPr lang="en-US" altLang="ru-RU" sz="1800" b="1" dirty="0"/>
              <a:t>:</a:t>
            </a:r>
          </a:p>
          <a:p>
            <a:pPr lvl="1"/>
            <a:r>
              <a:rPr lang="en-US" altLang="ru-RU" sz="1800" dirty="0"/>
              <a:t>Intel x86/64 – LE</a:t>
            </a:r>
          </a:p>
          <a:p>
            <a:pPr lvl="1"/>
            <a:r>
              <a:rPr lang="ru-RU" altLang="ru-RU" sz="1800" dirty="0"/>
              <a:t>«Сетевой порядок» - </a:t>
            </a:r>
            <a:r>
              <a:rPr lang="en-US" altLang="ru-RU" sz="1800" dirty="0"/>
              <a:t>BE</a:t>
            </a:r>
            <a:endParaRPr lang="ru-RU" altLang="ru-RU" sz="1800" dirty="0"/>
          </a:p>
          <a:p>
            <a:pPr lvl="1"/>
            <a:endParaRPr lang="ru-RU" altLang="ru-RU" sz="1800" dirty="0"/>
          </a:p>
          <a:p>
            <a:pPr lvl="1"/>
            <a:endParaRPr lang="ru-RU" altLang="ru-RU" sz="1800" dirty="0"/>
          </a:p>
          <a:p>
            <a:pPr marL="457200" lvl="1" indent="0">
              <a:buNone/>
            </a:pPr>
            <a:r>
              <a:rPr lang="ru-RU" altLang="ru-RU" sz="1800" b="1" dirty="0"/>
              <a:t>Стандартные функции </a:t>
            </a:r>
            <a:r>
              <a:rPr lang="en-US" altLang="ru-RU" sz="1800" b="1" dirty="0"/>
              <a:t>POSIX:</a:t>
            </a:r>
          </a:p>
          <a:p>
            <a:pPr lvl="1"/>
            <a:r>
              <a:rPr lang="en-US" altLang="ru-RU" sz="1800" dirty="0" err="1"/>
              <a:t>hton</a:t>
            </a:r>
            <a:r>
              <a:rPr lang="en-US" altLang="ru-RU" sz="1800" dirty="0"/>
              <a:t>*</a:t>
            </a:r>
          </a:p>
          <a:p>
            <a:pPr lvl="1"/>
            <a:r>
              <a:rPr lang="en-US" altLang="ru-RU" sz="1800" dirty="0" err="1"/>
              <a:t>ntoh</a:t>
            </a:r>
            <a:r>
              <a:rPr lang="en-US" altLang="ru-RU" sz="1800" dirty="0"/>
              <a:t>*</a:t>
            </a:r>
          </a:p>
          <a:p>
            <a:pPr marL="457200" lvl="1" indent="0">
              <a:buNone/>
            </a:pPr>
            <a:endParaRPr lang="en-US" altLang="ru-RU" sz="1800" dirty="0"/>
          </a:p>
        </p:txBody>
      </p:sp>
    </p:spTree>
    <p:extLst>
      <p:ext uri="{BB962C8B-B14F-4D97-AF65-F5344CB8AC3E}">
        <p14:creationId xmlns:p14="http://schemas.microsoft.com/office/powerpoint/2010/main" val="1665265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C6F18-FCDF-7B11-8E88-815F77D6C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D322E9F-3774-8CBD-AFEF-DCEB79006258}"/>
              </a:ext>
            </a:extLst>
          </p:cNvPr>
          <p:cNvCxnSpPr>
            <a:cxnSpLocks/>
          </p:cNvCxnSpPr>
          <p:nvPr/>
        </p:nvCxnSpPr>
        <p:spPr>
          <a:xfrm>
            <a:off x="10772504" y="5430466"/>
            <a:ext cx="439279" cy="673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30F00F9-0947-8374-36D9-DFF1ECE552B3}"/>
              </a:ext>
            </a:extLst>
          </p:cNvPr>
          <p:cNvCxnSpPr>
            <a:cxnSpLocks/>
          </p:cNvCxnSpPr>
          <p:nvPr/>
        </p:nvCxnSpPr>
        <p:spPr>
          <a:xfrm flipH="1">
            <a:off x="11210654" y="5430465"/>
            <a:ext cx="439279" cy="6730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21772F2-57F9-B5D0-4F7F-9F654A138461}"/>
              </a:ext>
            </a:extLst>
          </p:cNvPr>
          <p:cNvCxnSpPr>
            <a:cxnSpLocks/>
          </p:cNvCxnSpPr>
          <p:nvPr/>
        </p:nvCxnSpPr>
        <p:spPr>
          <a:xfrm flipH="1">
            <a:off x="10820693" y="3686784"/>
            <a:ext cx="439279" cy="6730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DAB1CB0-7AC5-2613-628A-630B441DD00F}"/>
              </a:ext>
            </a:extLst>
          </p:cNvPr>
          <p:cNvCxnSpPr>
            <a:cxnSpLocks/>
          </p:cNvCxnSpPr>
          <p:nvPr/>
        </p:nvCxnSpPr>
        <p:spPr>
          <a:xfrm>
            <a:off x="11210654" y="3766843"/>
            <a:ext cx="438715" cy="673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47EAF82-8620-E87C-62F5-E75F8DA10A19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52F33E3-B3DF-7897-7B31-67E1A4B54405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Категориальные данные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0C60D2-6089-0069-410F-1F8096556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9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1F759D69-E132-9635-A502-0DA92F697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5" name="Содержимое 2">
            <a:extLst>
              <a:ext uri="{FF2B5EF4-FFF2-40B4-BE49-F238E27FC236}">
                <a16:creationId xmlns:a16="http://schemas.microsoft.com/office/drawing/2014/main" id="{C9C3C980-F45C-A38F-B1A4-E0046AFEF47D}"/>
              </a:ext>
            </a:extLst>
          </p:cNvPr>
          <p:cNvSpPr txBox="1">
            <a:spLocks/>
          </p:cNvSpPr>
          <p:nvPr/>
        </p:nvSpPr>
        <p:spPr>
          <a:xfrm>
            <a:off x="100160" y="1448346"/>
            <a:ext cx="5499362" cy="5011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ru-RU" altLang="ru-RU" sz="1800" b="1" dirty="0"/>
              <a:t>Качественные</a:t>
            </a:r>
            <a:r>
              <a:rPr lang="en-US" altLang="ru-RU" sz="1800" b="1" dirty="0"/>
              <a:t>:</a:t>
            </a:r>
          </a:p>
          <a:p>
            <a:pPr lvl="1"/>
            <a:r>
              <a:rPr lang="ru-RU" altLang="ru-RU" sz="1800" dirty="0"/>
              <a:t>Нет отношения порядка (сравнивать теплое с мягким)</a:t>
            </a:r>
            <a:endParaRPr lang="en-US" altLang="ru-RU" sz="1800" dirty="0"/>
          </a:p>
          <a:p>
            <a:pPr lvl="1"/>
            <a:r>
              <a:rPr lang="ru-RU" altLang="ru-RU" sz="1800" dirty="0"/>
              <a:t>Могут быть представлены числами, но это не должно сбивать с толку (ИНН)</a:t>
            </a:r>
            <a:endParaRPr lang="en-US" altLang="ru-RU" sz="1800" dirty="0"/>
          </a:p>
          <a:p>
            <a:pPr lvl="1"/>
            <a:endParaRPr lang="en-US" altLang="ru-RU" sz="1800" dirty="0"/>
          </a:p>
          <a:p>
            <a:pPr marL="457200" lvl="1" indent="0">
              <a:buNone/>
            </a:pPr>
            <a:r>
              <a:rPr lang="ru-RU" altLang="ru-RU" sz="1800" b="1" dirty="0"/>
              <a:t>Порядковые</a:t>
            </a:r>
            <a:r>
              <a:rPr lang="en-US" altLang="ru-RU" sz="1800" b="1" dirty="0"/>
              <a:t>:</a:t>
            </a:r>
          </a:p>
          <a:p>
            <a:pPr lvl="1"/>
            <a:r>
              <a:rPr lang="ru-RU" altLang="ru-RU" sz="1800" dirty="0"/>
              <a:t>Могут быть связаны отношением линейного или частичного порядка (в том числе образовывать решетку)</a:t>
            </a:r>
          </a:p>
          <a:p>
            <a:pPr lvl="1"/>
            <a:r>
              <a:rPr lang="ru-RU" altLang="ru-RU" sz="1800" dirty="0"/>
              <a:t>Не всегда корректно определять дистанцию (порядок не предполагает наличие меры)</a:t>
            </a:r>
          </a:p>
          <a:p>
            <a:pPr lvl="1"/>
            <a:endParaRPr lang="ru-RU" altLang="ru-RU" sz="1800" dirty="0"/>
          </a:p>
          <a:p>
            <a:pPr marL="457200" lvl="1" indent="0">
              <a:buNone/>
            </a:pPr>
            <a:r>
              <a:rPr lang="ru-RU" altLang="ru-RU" sz="1800" b="1" dirty="0"/>
              <a:t>Бинарный</a:t>
            </a:r>
            <a:r>
              <a:rPr lang="en-US" altLang="ru-RU" sz="1800" b="1" dirty="0"/>
              <a:t>:</a:t>
            </a:r>
            <a:endParaRPr lang="ru-RU" altLang="ru-RU" sz="1800" b="1" dirty="0"/>
          </a:p>
          <a:p>
            <a:pPr lvl="1"/>
            <a:r>
              <a:rPr lang="ru-RU" altLang="ru-RU" sz="1800" dirty="0"/>
              <a:t>Частный случай категориальных, но удобно рассматривать отдельно</a:t>
            </a:r>
          </a:p>
          <a:p>
            <a:pPr lvl="1"/>
            <a:r>
              <a:rPr lang="ru-RU" altLang="ru-RU" sz="1800" dirty="0"/>
              <a:t>Хорошо работают всевозможные классификаторы и статистические критерии</a:t>
            </a:r>
            <a:endParaRPr lang="en-US" altLang="ru-RU" sz="1800" dirty="0"/>
          </a:p>
          <a:p>
            <a:pPr marL="457200" lvl="1" indent="0">
              <a:buNone/>
            </a:pPr>
            <a:endParaRPr lang="en-US" altLang="ru-RU" sz="1800" dirty="0"/>
          </a:p>
          <a:p>
            <a:pPr marL="457200" lvl="1" indent="0">
              <a:buNone/>
            </a:pPr>
            <a:endParaRPr lang="en-US" altLang="ru-RU" sz="18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A659F8C-3AB3-91EE-8208-2C5E217F16C3}"/>
              </a:ext>
            </a:extLst>
          </p:cNvPr>
          <p:cNvCxnSpPr/>
          <p:nvPr/>
        </p:nvCxnSpPr>
        <p:spPr>
          <a:xfrm>
            <a:off x="7878033" y="2557665"/>
            <a:ext cx="2832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A878117-F122-030A-6057-8E888E37CBBA}"/>
              </a:ext>
            </a:extLst>
          </p:cNvPr>
          <p:cNvCxnSpPr/>
          <p:nvPr/>
        </p:nvCxnSpPr>
        <p:spPr>
          <a:xfrm>
            <a:off x="7480300" y="4284285"/>
            <a:ext cx="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A2CAB9-1DA0-5DAC-317F-A1D5FC938FA0}"/>
              </a:ext>
            </a:extLst>
          </p:cNvPr>
          <p:cNvCxnSpPr/>
          <p:nvPr/>
        </p:nvCxnSpPr>
        <p:spPr>
          <a:xfrm>
            <a:off x="8356600" y="4284285"/>
            <a:ext cx="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7FF526F-7376-F8BD-2099-48E1B810D1E0}"/>
              </a:ext>
            </a:extLst>
          </p:cNvPr>
          <p:cNvCxnSpPr>
            <a:cxnSpLocks/>
          </p:cNvCxnSpPr>
          <p:nvPr/>
        </p:nvCxnSpPr>
        <p:spPr>
          <a:xfrm>
            <a:off x="7480300" y="4284285"/>
            <a:ext cx="87630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52A639-8E3C-8799-2A46-4531C2A29A76}"/>
              </a:ext>
            </a:extLst>
          </p:cNvPr>
          <p:cNvCxnSpPr>
            <a:cxnSpLocks/>
          </p:cNvCxnSpPr>
          <p:nvPr/>
        </p:nvCxnSpPr>
        <p:spPr>
          <a:xfrm flipH="1">
            <a:off x="7480300" y="4284285"/>
            <a:ext cx="87630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B302111E-5597-0113-91DF-7E1CAF2C2678}"/>
              </a:ext>
            </a:extLst>
          </p:cNvPr>
          <p:cNvSpPr/>
          <p:nvPr/>
        </p:nvSpPr>
        <p:spPr>
          <a:xfrm>
            <a:off x="7744683" y="2424315"/>
            <a:ext cx="266700" cy="2667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6D0B93D-17F4-0CCA-57CC-ED6C9CEAFC4D}"/>
              </a:ext>
            </a:extLst>
          </p:cNvPr>
          <p:cNvSpPr/>
          <p:nvPr/>
        </p:nvSpPr>
        <p:spPr>
          <a:xfrm>
            <a:off x="8754333" y="2424315"/>
            <a:ext cx="266700" cy="2667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BBA5AF1-2C6E-4D21-2D76-7BCBCF5FC233}"/>
              </a:ext>
            </a:extLst>
          </p:cNvPr>
          <p:cNvSpPr/>
          <p:nvPr/>
        </p:nvSpPr>
        <p:spPr>
          <a:xfrm>
            <a:off x="9763983" y="2424315"/>
            <a:ext cx="266700" cy="2667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3D766C1-FD0F-AEB2-9ACD-E24A73BD0D0A}"/>
              </a:ext>
            </a:extLst>
          </p:cNvPr>
          <p:cNvSpPr/>
          <p:nvPr/>
        </p:nvSpPr>
        <p:spPr>
          <a:xfrm>
            <a:off x="10640283" y="2424315"/>
            <a:ext cx="266700" cy="2667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406F1BD-75CD-2BDA-E0DB-AA14872D8E49}"/>
              </a:ext>
            </a:extLst>
          </p:cNvPr>
          <p:cNvSpPr/>
          <p:nvPr/>
        </p:nvSpPr>
        <p:spPr>
          <a:xfrm>
            <a:off x="7346949" y="4150935"/>
            <a:ext cx="266700" cy="2667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8DE61D9-37DF-6161-6E2B-F3ADEFB7CF20}"/>
              </a:ext>
            </a:extLst>
          </p:cNvPr>
          <p:cNvSpPr/>
          <p:nvPr/>
        </p:nvSpPr>
        <p:spPr>
          <a:xfrm>
            <a:off x="8223250" y="4150935"/>
            <a:ext cx="266700" cy="2667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47E132C-97CD-861B-EDC0-E3EC27309553}"/>
              </a:ext>
            </a:extLst>
          </p:cNvPr>
          <p:cNvSpPr/>
          <p:nvPr/>
        </p:nvSpPr>
        <p:spPr>
          <a:xfrm>
            <a:off x="7345821" y="5141535"/>
            <a:ext cx="266700" cy="2667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A8E16F1-C1AF-6D07-11A6-583352883578}"/>
              </a:ext>
            </a:extLst>
          </p:cNvPr>
          <p:cNvSpPr/>
          <p:nvPr/>
        </p:nvSpPr>
        <p:spPr>
          <a:xfrm>
            <a:off x="8223250" y="5141535"/>
            <a:ext cx="266700" cy="2667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9C4519A-A411-5801-F17B-41D975E839DC}"/>
              </a:ext>
            </a:extLst>
          </p:cNvPr>
          <p:cNvCxnSpPr/>
          <p:nvPr/>
        </p:nvCxnSpPr>
        <p:spPr>
          <a:xfrm>
            <a:off x="10773633" y="4439867"/>
            <a:ext cx="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6DAC354-F27B-5D89-6BD2-FBD9A0B544B6}"/>
              </a:ext>
            </a:extLst>
          </p:cNvPr>
          <p:cNvCxnSpPr/>
          <p:nvPr/>
        </p:nvCxnSpPr>
        <p:spPr>
          <a:xfrm>
            <a:off x="11649933" y="4439867"/>
            <a:ext cx="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3BA58CB-2C25-0598-DB5A-C081A50F80DE}"/>
              </a:ext>
            </a:extLst>
          </p:cNvPr>
          <p:cNvCxnSpPr>
            <a:cxnSpLocks/>
          </p:cNvCxnSpPr>
          <p:nvPr/>
        </p:nvCxnSpPr>
        <p:spPr>
          <a:xfrm>
            <a:off x="10773633" y="4439867"/>
            <a:ext cx="87630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0A01293-2A5C-8970-0C2E-6BEB447850C9}"/>
              </a:ext>
            </a:extLst>
          </p:cNvPr>
          <p:cNvCxnSpPr>
            <a:cxnSpLocks/>
          </p:cNvCxnSpPr>
          <p:nvPr/>
        </p:nvCxnSpPr>
        <p:spPr>
          <a:xfrm flipH="1">
            <a:off x="10773633" y="4439867"/>
            <a:ext cx="87630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38CB407D-461C-1EEA-66BD-EE5F061D87D0}"/>
              </a:ext>
            </a:extLst>
          </p:cNvPr>
          <p:cNvSpPr/>
          <p:nvPr/>
        </p:nvSpPr>
        <p:spPr>
          <a:xfrm>
            <a:off x="10640282" y="4306517"/>
            <a:ext cx="266700" cy="2667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6B80EA2-E0D8-17B7-B8E1-C2F401CD4EFB}"/>
              </a:ext>
            </a:extLst>
          </p:cNvPr>
          <p:cNvSpPr/>
          <p:nvPr/>
        </p:nvSpPr>
        <p:spPr>
          <a:xfrm>
            <a:off x="11516583" y="4306517"/>
            <a:ext cx="266700" cy="2667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C4A0457-4BF0-5267-5C5E-F9DA77CA1BFF}"/>
              </a:ext>
            </a:extLst>
          </p:cNvPr>
          <p:cNvSpPr/>
          <p:nvPr/>
        </p:nvSpPr>
        <p:spPr>
          <a:xfrm>
            <a:off x="10639154" y="5297117"/>
            <a:ext cx="266700" cy="2667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9158880-E0A3-1490-5599-202FC765CB8B}"/>
              </a:ext>
            </a:extLst>
          </p:cNvPr>
          <p:cNvSpPr/>
          <p:nvPr/>
        </p:nvSpPr>
        <p:spPr>
          <a:xfrm>
            <a:off x="11516583" y="5297117"/>
            <a:ext cx="266700" cy="2667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5697A42-262C-2020-4545-695909D65DD4}"/>
              </a:ext>
            </a:extLst>
          </p:cNvPr>
          <p:cNvSpPr/>
          <p:nvPr/>
        </p:nvSpPr>
        <p:spPr>
          <a:xfrm>
            <a:off x="11078433" y="3633493"/>
            <a:ext cx="266700" cy="2667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6FD7CBF-4EE6-8725-D371-3023FAED2AAE}"/>
              </a:ext>
            </a:extLst>
          </p:cNvPr>
          <p:cNvSpPr/>
          <p:nvPr/>
        </p:nvSpPr>
        <p:spPr>
          <a:xfrm>
            <a:off x="11078433" y="5970141"/>
            <a:ext cx="266700" cy="2667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2D4D42C-148C-8A3B-BE45-015F6AA8C91A}"/>
              </a:ext>
            </a:extLst>
          </p:cNvPr>
          <p:cNvSpPr txBox="1"/>
          <p:nvPr/>
        </p:nvSpPr>
        <p:spPr>
          <a:xfrm>
            <a:off x="8144733" y="1826383"/>
            <a:ext cx="2494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Линейный порядок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64DD54-A6C3-5E10-90EC-985645ECBE40}"/>
              </a:ext>
            </a:extLst>
          </p:cNvPr>
          <p:cNvSpPr txBox="1"/>
          <p:nvPr/>
        </p:nvSpPr>
        <p:spPr>
          <a:xfrm>
            <a:off x="6659961" y="3665110"/>
            <a:ext cx="2494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Частичный порядок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56447F-EC44-A617-FBDD-E06ECB5F4BA7}"/>
              </a:ext>
            </a:extLst>
          </p:cNvPr>
          <p:cNvSpPr txBox="1"/>
          <p:nvPr/>
        </p:nvSpPr>
        <p:spPr>
          <a:xfrm>
            <a:off x="9897333" y="3234238"/>
            <a:ext cx="2494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Решетка</a:t>
            </a:r>
          </a:p>
        </p:txBody>
      </p:sp>
    </p:spTree>
    <p:extLst>
      <p:ext uri="{BB962C8B-B14F-4D97-AF65-F5344CB8AC3E}">
        <p14:creationId xmlns:p14="http://schemas.microsoft.com/office/powerpoint/2010/main" val="1428608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5D490-37E3-3C63-2D86-109CAFCEB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8500DD5-6F3E-53C2-7728-08C51A97AFC8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E25A7E7-B5B5-5065-4ABF-3543AC56333B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Временные ряды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8985A5-7860-B1BA-13F9-771495DD7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10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9F7CBC77-BA5F-0E88-1B0A-77EBFF2604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5" name="Содержимое 2">
            <a:extLst>
              <a:ext uri="{FF2B5EF4-FFF2-40B4-BE49-F238E27FC236}">
                <a16:creationId xmlns:a16="http://schemas.microsoft.com/office/drawing/2014/main" id="{F6D535F6-EF96-BD4B-C4C9-07A7E549DC26}"/>
              </a:ext>
            </a:extLst>
          </p:cNvPr>
          <p:cNvSpPr txBox="1">
            <a:spLocks/>
          </p:cNvSpPr>
          <p:nvPr/>
        </p:nvSpPr>
        <p:spPr>
          <a:xfrm>
            <a:off x="100160" y="1448346"/>
            <a:ext cx="6258123" cy="5011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ru-RU" altLang="ru-RU" sz="1800" b="1" dirty="0"/>
              <a:t>Временной ряд</a:t>
            </a:r>
            <a:r>
              <a:rPr lang="en-US" altLang="ru-RU" sz="1800" b="1" dirty="0"/>
              <a:t>:</a:t>
            </a:r>
          </a:p>
          <a:p>
            <a:pPr lvl="1"/>
            <a:r>
              <a:rPr lang="ru-RU" altLang="ru-RU" sz="1800" dirty="0"/>
              <a:t>Собранный в разные моменты времени статистический материал о значении каких-либо параметров исследуемого процесса</a:t>
            </a:r>
          </a:p>
          <a:p>
            <a:pPr lvl="1"/>
            <a:r>
              <a:rPr lang="ru-RU" sz="1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Каждая единица статистического материала называется измерением или отсчётом и связана с временной меткой</a:t>
            </a:r>
          </a:p>
          <a:p>
            <a:pPr lvl="1"/>
            <a:r>
              <a:rPr lang="ru-RU" altLang="ru-RU" sz="1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При анализе принимается во внимание метка времени (порядковая величина, для которой также определена мера)</a:t>
            </a:r>
          </a:p>
          <a:p>
            <a:pPr lvl="1"/>
            <a:r>
              <a:rPr lang="ru-RU" altLang="ru-RU" sz="1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Чаще всего предполагается, что временной ряд содержит непрерывные числовые величины</a:t>
            </a:r>
          </a:p>
          <a:p>
            <a:pPr marL="457200" lvl="1" indent="0">
              <a:buNone/>
            </a:pPr>
            <a:endParaRPr lang="en-US" altLang="ru-RU" sz="1800" dirty="0"/>
          </a:p>
        </p:txBody>
      </p:sp>
      <p:pic>
        <p:nvPicPr>
          <p:cNvPr id="11" name="Google Shape;139;p9">
            <a:extLst>
              <a:ext uri="{FF2B5EF4-FFF2-40B4-BE49-F238E27FC236}">
                <a16:creationId xmlns:a16="http://schemas.microsoft.com/office/drawing/2014/main" id="{1750824D-DE1A-A248-196E-A9F432A459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77111" y="1889474"/>
            <a:ext cx="5113836" cy="30790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0572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0FB8-469B-F8F2-7ED9-6DC70A75C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667B10B-0031-71A3-1365-B85C6BD60EDF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10484E37-E8F5-FA6A-57B8-8DC3E9818FAB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Компоненты временного ряда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4D07A2-1536-3838-CDF5-529E91F91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11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68B42898-4706-7B7A-FEAD-4A5E3B2825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5" name="Содержимое 2">
            <a:extLst>
              <a:ext uri="{FF2B5EF4-FFF2-40B4-BE49-F238E27FC236}">
                <a16:creationId xmlns:a16="http://schemas.microsoft.com/office/drawing/2014/main" id="{D5E9F90E-20A8-0802-9AAE-A6726ED5271D}"/>
              </a:ext>
            </a:extLst>
          </p:cNvPr>
          <p:cNvSpPr txBox="1">
            <a:spLocks/>
          </p:cNvSpPr>
          <p:nvPr/>
        </p:nvSpPr>
        <p:spPr>
          <a:xfrm>
            <a:off x="100160" y="2395149"/>
            <a:ext cx="5921261" cy="40648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ru-RU" altLang="ru-RU" sz="1800" b="1" dirty="0"/>
          </a:p>
          <a:p>
            <a:pPr lvl="1"/>
            <a:r>
              <a:rPr lang="ru-RU" altLang="ru-RU" sz="1800" b="1" dirty="0"/>
              <a:t>Тренд</a:t>
            </a:r>
            <a:r>
              <a:rPr lang="ru-RU" altLang="ru-RU" sz="1800" dirty="0"/>
              <a:t> — долгосрочное изменение уровня ряда</a:t>
            </a:r>
          </a:p>
          <a:p>
            <a:pPr lvl="1"/>
            <a:r>
              <a:rPr lang="ru-RU" altLang="ru-RU" sz="1800" b="1" dirty="0"/>
              <a:t>Сезонность</a:t>
            </a:r>
            <a:r>
              <a:rPr lang="ru-RU" altLang="ru-RU" sz="1800" dirty="0"/>
              <a:t> предполагает циклические изменения уровня ряда с постоянным периодом</a:t>
            </a:r>
          </a:p>
          <a:p>
            <a:pPr lvl="1"/>
            <a:r>
              <a:rPr lang="ru-RU" altLang="ru-RU" sz="1800" b="1" dirty="0"/>
              <a:t>Случайные колебания</a:t>
            </a:r>
            <a:r>
              <a:rPr lang="ru-RU" altLang="ru-RU" sz="1800" dirty="0"/>
              <a:t> — непрогнозируемое случайное изменение ряда</a:t>
            </a:r>
          </a:p>
          <a:p>
            <a:pPr marL="457200" lvl="1" indent="0">
              <a:buNone/>
            </a:pPr>
            <a:endParaRPr lang="en-US" altLang="ru-RU" sz="1800" dirty="0"/>
          </a:p>
        </p:txBody>
      </p:sp>
      <p:pic>
        <p:nvPicPr>
          <p:cNvPr id="2" name="Google Shape;132;p8">
            <a:extLst>
              <a:ext uri="{FF2B5EF4-FFF2-40B4-BE49-F238E27FC236}">
                <a16:creationId xmlns:a16="http://schemas.microsoft.com/office/drawing/2014/main" id="{8FD3723B-E970-65E7-F120-8D823F0824A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1119371"/>
            <a:ext cx="5895678" cy="52369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5603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E7F37-0949-47EF-E71D-C1D4F6A0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E3515DF-EFD1-A561-E8A8-B78907EB6C8A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E3E6DD02-326E-F704-3754-C9F218D28DA0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Текстовые данные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47E5F4-4DC7-EF66-4217-EF395532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12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664336FF-007D-097D-440C-5B36386307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5" name="Содержимое 2">
            <a:extLst>
              <a:ext uri="{FF2B5EF4-FFF2-40B4-BE49-F238E27FC236}">
                <a16:creationId xmlns:a16="http://schemas.microsoft.com/office/drawing/2014/main" id="{14EF2F69-0636-A6E8-B1BD-AF9408AAE57F}"/>
              </a:ext>
            </a:extLst>
          </p:cNvPr>
          <p:cNvSpPr txBox="1">
            <a:spLocks/>
          </p:cNvSpPr>
          <p:nvPr/>
        </p:nvSpPr>
        <p:spPr>
          <a:xfrm>
            <a:off x="100160" y="1448346"/>
            <a:ext cx="6258123" cy="5011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ru-RU" altLang="ru-RU" sz="1800" b="1" dirty="0"/>
          </a:p>
          <a:p>
            <a:pPr marL="457200" lvl="1" indent="0">
              <a:buNone/>
            </a:pPr>
            <a:endParaRPr lang="ru-RU" altLang="ru-RU" sz="1800" b="1" dirty="0"/>
          </a:p>
          <a:p>
            <a:pPr marL="457200" lvl="1" indent="0">
              <a:buNone/>
            </a:pPr>
            <a:endParaRPr lang="ru-RU" altLang="ru-RU" sz="1800" b="1" dirty="0"/>
          </a:p>
          <a:p>
            <a:pPr marL="457200" lvl="1" indent="0">
              <a:buNone/>
            </a:pPr>
            <a:r>
              <a:rPr lang="ru-RU" altLang="ru-RU" sz="1800" b="1" dirty="0"/>
              <a:t>Представление текста</a:t>
            </a:r>
            <a:r>
              <a:rPr lang="en-US" altLang="ru-RU" sz="1800" b="1" dirty="0"/>
              <a:t>:</a:t>
            </a:r>
          </a:p>
          <a:p>
            <a:pPr lvl="1"/>
            <a:r>
              <a:rPr lang="ru-RU" altLang="ru-RU" sz="1800" dirty="0"/>
              <a:t>7-ми битная кодировка (</a:t>
            </a:r>
            <a:r>
              <a:rPr lang="en-US" altLang="ru-RU" sz="1800" dirty="0"/>
              <a:t>ASCII)</a:t>
            </a:r>
            <a:endParaRPr lang="ru-RU" altLang="ru-RU" sz="1800" dirty="0"/>
          </a:p>
          <a:p>
            <a:pPr lvl="1"/>
            <a:r>
              <a:rPr lang="ru-RU" sz="1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Однобайтовые кодировки</a:t>
            </a:r>
          </a:p>
          <a:p>
            <a:pPr lvl="1"/>
            <a:r>
              <a:rPr lang="ru-RU" altLang="ru-RU" sz="1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Семейство </a:t>
            </a:r>
            <a:r>
              <a:rPr lang="en-US" altLang="ru-RU" sz="1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Unicode</a:t>
            </a:r>
            <a:endParaRPr lang="ru-RU" altLang="ru-RU" sz="1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457200" lvl="1" indent="0">
              <a:buNone/>
            </a:pPr>
            <a:endParaRPr lang="en-US" altLang="ru-RU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C76E20-EE03-CF02-4469-63D7F7A3B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6147" y="1890600"/>
            <a:ext cx="7775693" cy="263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217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7FD7D-2893-1D80-A883-82083070F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5D5245A-D4A3-466C-F698-8E32D73AC570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B3AB606C-F733-8C5A-35C7-8BE668E3C427}"/>
              </a:ext>
            </a:extLst>
          </p:cNvPr>
          <p:cNvSpPr txBox="1"/>
          <p:nvPr/>
        </p:nvSpPr>
        <p:spPr>
          <a:xfrm>
            <a:off x="2057400" y="219959"/>
            <a:ext cx="979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«Сравнение» текста - расстояние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4BEA60-88AB-2414-2E23-E5714B106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13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175C771A-EFD4-9FAE-9651-BA69BBFF8A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5" name="Содержимое 2">
            <a:extLst>
              <a:ext uri="{FF2B5EF4-FFF2-40B4-BE49-F238E27FC236}">
                <a16:creationId xmlns:a16="http://schemas.microsoft.com/office/drawing/2014/main" id="{95E863B0-4806-E02E-C54C-EED428A0E84E}"/>
              </a:ext>
            </a:extLst>
          </p:cNvPr>
          <p:cNvSpPr txBox="1">
            <a:spLocks/>
          </p:cNvSpPr>
          <p:nvPr/>
        </p:nvSpPr>
        <p:spPr>
          <a:xfrm>
            <a:off x="100160" y="2315183"/>
            <a:ext cx="6258123" cy="41448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ru-RU" altLang="ru-RU" sz="1800" b="1" dirty="0"/>
          </a:p>
          <a:p>
            <a:pPr marL="457200" lvl="1" indent="0">
              <a:buNone/>
            </a:pPr>
            <a:endParaRPr lang="ru-RU" altLang="ru-RU" sz="1800" b="1" dirty="0"/>
          </a:p>
          <a:p>
            <a:pPr marL="457200" lvl="1" indent="0">
              <a:buNone/>
            </a:pPr>
            <a:endParaRPr lang="ru-RU" altLang="ru-RU" sz="1800" b="1" dirty="0"/>
          </a:p>
          <a:p>
            <a:pPr lvl="1"/>
            <a:r>
              <a:rPr lang="ru-RU" altLang="ru-RU" sz="1800" b="1" dirty="0"/>
              <a:t>Расстояние Хэмминга </a:t>
            </a:r>
            <a:r>
              <a:rPr lang="ru-RU" altLang="ru-RU" sz="1800" dirty="0"/>
              <a:t>– количество позиций, в которых строки отличаются (для строк равной длины)</a:t>
            </a:r>
          </a:p>
          <a:p>
            <a:pPr lvl="1"/>
            <a:r>
              <a:rPr lang="ru-RU" altLang="ru-RU" sz="1800" b="1" dirty="0"/>
              <a:t>Расстояние Левенштейна</a:t>
            </a:r>
            <a:r>
              <a:rPr lang="ru-RU" altLang="ru-RU" sz="1800" dirty="0"/>
              <a:t> – количество исправлений, которое нужно сделать на текстом 1, чтобы получить текст 2 (удаление, вставка, замена, перестановка)</a:t>
            </a:r>
          </a:p>
          <a:p>
            <a:pPr marL="457200" lvl="1" indent="0">
              <a:buNone/>
            </a:pPr>
            <a:endParaRPr lang="ru-RU" altLang="ru-RU" sz="1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457200" lvl="1" indent="0">
              <a:buNone/>
            </a:pPr>
            <a:endParaRPr lang="en-US" altLang="ru-RU" sz="1800" dirty="0"/>
          </a:p>
        </p:txBody>
      </p:sp>
      <p:pic>
        <p:nvPicPr>
          <p:cNvPr id="8194" name="Picture 2" descr="Расстояние Хэмминга — Википедия">
            <a:extLst>
              <a:ext uri="{FF2B5EF4-FFF2-40B4-BE49-F238E27FC236}">
                <a16:creationId xmlns:a16="http://schemas.microsoft.com/office/drawing/2014/main" id="{64613744-012D-6D06-6AAA-54B71A2F4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549" y="1535946"/>
            <a:ext cx="3143250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45A854D7-95C0-8A8F-6157-E3561FBCA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0969" y="3890814"/>
            <a:ext cx="4029075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3867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2402378" y="219959"/>
            <a:ext cx="9449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Данные и метаданные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73E36B-93CF-4B6D-9D12-D242EBAE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14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D8975343-2B37-104D-8757-0404410E4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Содержимое 2">
            <a:extLst>
              <a:ext uri="{FF2B5EF4-FFF2-40B4-BE49-F238E27FC236}">
                <a16:creationId xmlns:a16="http://schemas.microsoft.com/office/drawing/2014/main" id="{CCD6108C-7E7D-55B2-E9F8-184EC11F8E05}"/>
              </a:ext>
            </a:extLst>
          </p:cNvPr>
          <p:cNvSpPr txBox="1">
            <a:spLocks/>
          </p:cNvSpPr>
          <p:nvPr/>
        </p:nvSpPr>
        <p:spPr>
          <a:xfrm>
            <a:off x="92284" y="1526742"/>
            <a:ext cx="6814354" cy="5011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ru-RU" altLang="ru-RU" sz="1800" b="1" dirty="0"/>
              <a:t>Метаданные </a:t>
            </a:r>
            <a:r>
              <a:rPr lang="ru-RU" altLang="ru-RU" sz="1800" dirty="0"/>
              <a:t>– средства описания информационной модели данных, позволяющие организовать их хранение или анализ</a:t>
            </a:r>
            <a:r>
              <a:rPr lang="en-US" altLang="ru-RU" sz="1800" dirty="0"/>
              <a:t>:</a:t>
            </a:r>
          </a:p>
          <a:p>
            <a:pPr lvl="1"/>
            <a:r>
              <a:rPr lang="ru-RU" altLang="ru-RU" sz="1800" dirty="0"/>
              <a:t>Структура данных</a:t>
            </a:r>
          </a:p>
          <a:p>
            <a:pPr lvl="1"/>
            <a:r>
              <a:rPr lang="ru-RU" altLang="ru-RU" sz="1800" dirty="0"/>
              <a:t>Связи данных</a:t>
            </a:r>
          </a:p>
          <a:p>
            <a:pPr lvl="1"/>
            <a:r>
              <a:rPr lang="ru-RU" altLang="ru-RU" sz="1800" dirty="0"/>
              <a:t>Ограничения на возможные значения</a:t>
            </a:r>
          </a:p>
          <a:p>
            <a:pPr lvl="1"/>
            <a:r>
              <a:rPr lang="ru-RU" altLang="ru-RU" sz="1800" dirty="0"/>
              <a:t>…</a:t>
            </a:r>
          </a:p>
          <a:p>
            <a:pPr lvl="1"/>
            <a:endParaRPr lang="ru-RU" altLang="ru-RU" sz="1800" dirty="0"/>
          </a:p>
          <a:p>
            <a:pPr marL="457200" lvl="1" indent="0">
              <a:buNone/>
            </a:pPr>
            <a:r>
              <a:rPr lang="ru-RU" altLang="ru-RU" sz="1800" b="1" dirty="0"/>
              <a:t>Два типа метаданных</a:t>
            </a:r>
            <a:r>
              <a:rPr lang="en-US" altLang="ru-RU" sz="1800" b="1" dirty="0"/>
              <a:t>:</a:t>
            </a:r>
          </a:p>
          <a:p>
            <a:pPr lvl="1"/>
            <a:r>
              <a:rPr lang="ru-RU" altLang="ru-RU" sz="1800" dirty="0"/>
              <a:t>Технические – про синтаксис</a:t>
            </a:r>
          </a:p>
          <a:p>
            <a:pPr lvl="1"/>
            <a:r>
              <a:rPr lang="ru-RU" altLang="ru-RU" sz="1800" dirty="0"/>
              <a:t>«бизнес» – про предметную область (семантику)</a:t>
            </a:r>
          </a:p>
          <a:p>
            <a:pPr marL="457200" lvl="1" indent="0">
              <a:buNone/>
            </a:pPr>
            <a:endParaRPr lang="ru-RU" altLang="ru-RU" sz="1800" dirty="0"/>
          </a:p>
          <a:p>
            <a:pPr marL="457200" lvl="1" indent="0">
              <a:buNone/>
            </a:pPr>
            <a:r>
              <a:rPr lang="ru-RU" altLang="ru-RU" sz="1800" b="1" dirty="0"/>
              <a:t>Домен данных</a:t>
            </a:r>
            <a:r>
              <a:rPr lang="ru-RU" altLang="ru-RU" sz="1800" dirty="0"/>
              <a:t> – сочетание технических и «бизнес» метаданных</a:t>
            </a:r>
          </a:p>
        </p:txBody>
      </p:sp>
    </p:spTree>
    <p:extLst>
      <p:ext uri="{BB962C8B-B14F-4D97-AF65-F5344CB8AC3E}">
        <p14:creationId xmlns:p14="http://schemas.microsoft.com/office/powerpoint/2010/main" val="2358194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DFEF8-5435-D50E-34F4-AAA22CE88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2E5C04E-03B7-FC2B-818A-039E6EF56EDE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17BE9904-0FD9-114D-B447-A17C52843DAF}"/>
              </a:ext>
            </a:extLst>
          </p:cNvPr>
          <p:cNvSpPr txBox="1"/>
          <p:nvPr/>
        </p:nvSpPr>
        <p:spPr>
          <a:xfrm>
            <a:off x="2402378" y="219959"/>
            <a:ext cx="9449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Основные домены данных в ИБ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FD81E2-071D-ADCE-335F-F273D1B14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15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5C5811E5-9186-D165-F25A-E42137E56C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E4CEBD-FCE4-4B08-C864-2150E1AB8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11" y="1326070"/>
            <a:ext cx="9898743" cy="483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111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BD203-857F-3E79-1491-2B01ED096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2B103A7-EA28-C68E-964F-731A3874509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EAA032D3-2EA8-38E4-2AC3-41CE29DB8D32}"/>
              </a:ext>
            </a:extLst>
          </p:cNvPr>
          <p:cNvSpPr txBox="1"/>
          <p:nvPr/>
        </p:nvSpPr>
        <p:spPr>
          <a:xfrm>
            <a:off x="2402378" y="219959"/>
            <a:ext cx="9449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 err="1">
                <a:solidFill>
                  <a:srgbClr val="FF0000"/>
                </a:solidFill>
              </a:rPr>
              <a:t>Декапсуляция</a:t>
            </a:r>
            <a:r>
              <a:rPr lang="ru-RU" sz="2800" b="1" dirty="0">
                <a:solidFill>
                  <a:srgbClr val="FF0000"/>
                </a:solidFill>
              </a:rPr>
              <a:t> данных из сетевого трафика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901652-42A0-52EA-6233-DB2868BB4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16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A1D50A19-01DE-9EB0-0BCE-983F8B7BEC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5" name="Рисунок 3">
            <a:extLst>
              <a:ext uri="{FF2B5EF4-FFF2-40B4-BE49-F238E27FC236}">
                <a16:creationId xmlns:a16="http://schemas.microsoft.com/office/drawing/2014/main" id="{73D170FD-9CE6-3A66-9B52-7A68E45FF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5050" y="1876425"/>
            <a:ext cx="7620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870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68D61-B2B6-C7B1-59F3-4744A6EBE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5B9B9ED-E358-7D25-421E-FF48E3B5C1D5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8602C1A-A7AC-E504-32E4-A808217A814E}"/>
              </a:ext>
            </a:extLst>
          </p:cNvPr>
          <p:cNvSpPr txBox="1"/>
          <p:nvPr/>
        </p:nvSpPr>
        <p:spPr>
          <a:xfrm>
            <a:off x="2402378" y="219959"/>
            <a:ext cx="9449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Сложность анализа трафика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E2CE57-2225-C4EB-DB38-2432C05C8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17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E573727D-A9A9-B68E-EA6A-9A05C17BE9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2" name="Рисунок 3">
            <a:extLst>
              <a:ext uri="{FF2B5EF4-FFF2-40B4-BE49-F238E27FC236}">
                <a16:creationId xmlns:a16="http://schemas.microsoft.com/office/drawing/2014/main" id="{4BED1360-3CCF-E9D4-2C37-C9B20A318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467" y="2004333"/>
            <a:ext cx="979170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775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AE2CB-2360-7A83-0790-6ED070BBC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49E6C3D-3D5A-BDFC-5243-B8B9F382B618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2876664E-1A82-56E4-E8ED-BA1F4EA9CDDD}"/>
              </a:ext>
            </a:extLst>
          </p:cNvPr>
          <p:cNvSpPr txBox="1"/>
          <p:nvPr/>
        </p:nvSpPr>
        <p:spPr>
          <a:xfrm>
            <a:off x="2402378" y="219959"/>
            <a:ext cx="9449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Дополнительная сложность - контекст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715446-B41F-131A-BC7F-70895DE8E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18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49AA4ADE-B569-0ADE-674E-17DC162D9D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5" name="Picture 4" descr="https://flylib.com/books/3/223/1/html/2/files/18fig12.gif">
            <a:extLst>
              <a:ext uri="{FF2B5EF4-FFF2-40B4-BE49-F238E27FC236}">
                <a16:creationId xmlns:a16="http://schemas.microsoft.com/office/drawing/2014/main" id="{FB6EF390-1BCF-924A-4A49-669F9C176A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78"/>
          <a:stretch/>
        </p:blipFill>
        <p:spPr bwMode="auto">
          <a:xfrm>
            <a:off x="7089865" y="1212024"/>
            <a:ext cx="4762500" cy="542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Содержимое 2">
            <a:extLst>
              <a:ext uri="{FF2B5EF4-FFF2-40B4-BE49-F238E27FC236}">
                <a16:creationId xmlns:a16="http://schemas.microsoft.com/office/drawing/2014/main" id="{2AA82430-9C12-00D9-04B7-190BEC5FF854}"/>
              </a:ext>
            </a:extLst>
          </p:cNvPr>
          <p:cNvSpPr txBox="1">
            <a:spLocks/>
          </p:cNvSpPr>
          <p:nvPr/>
        </p:nvSpPr>
        <p:spPr>
          <a:xfrm>
            <a:off x="92284" y="1526742"/>
            <a:ext cx="6814354" cy="5011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ru-RU" altLang="ru-RU" sz="1800" dirty="0"/>
          </a:p>
          <a:p>
            <a:pPr lvl="1"/>
            <a:endParaRPr lang="ru-RU" altLang="ru-RU" sz="1800" dirty="0"/>
          </a:p>
          <a:p>
            <a:pPr lvl="1"/>
            <a:endParaRPr lang="ru-RU" altLang="ru-RU" sz="1800" dirty="0"/>
          </a:p>
          <a:p>
            <a:pPr lvl="1"/>
            <a:endParaRPr lang="ru-RU" altLang="ru-RU" sz="1800" dirty="0"/>
          </a:p>
          <a:p>
            <a:pPr lvl="1"/>
            <a:endParaRPr lang="ru-RU" altLang="ru-RU" sz="1800" dirty="0"/>
          </a:p>
          <a:p>
            <a:pPr lvl="1"/>
            <a:r>
              <a:rPr lang="ru-RU" altLang="ru-RU" sz="1800" dirty="0"/>
              <a:t>Интерпретация может зависеть от того, что было в предыдущих пакетах</a:t>
            </a:r>
          </a:p>
          <a:p>
            <a:pPr lvl="1"/>
            <a:r>
              <a:rPr lang="ru-RU" altLang="ru-RU" sz="1800" dirty="0"/>
              <a:t>…и даже других соединениях</a:t>
            </a:r>
          </a:p>
        </p:txBody>
      </p:sp>
    </p:spTree>
    <p:extLst>
      <p:ext uri="{BB962C8B-B14F-4D97-AF65-F5344CB8AC3E}">
        <p14:creationId xmlns:p14="http://schemas.microsoft.com/office/powerpoint/2010/main" val="1370993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73E14-A47E-A370-A2E8-229ED3F4B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9848984-F647-297A-89EC-E6B6ED9B3646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E9408263-C001-EB12-0B68-59A19B7BBAA0}"/>
              </a:ext>
            </a:extLst>
          </p:cNvPr>
          <p:cNvSpPr txBox="1"/>
          <p:nvPr/>
        </p:nvSpPr>
        <p:spPr>
          <a:xfrm>
            <a:off x="2402378" y="219959"/>
            <a:ext cx="9449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Дополнительная сложность - контекст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6F81AC-DD92-8C00-4EFB-5D3D2FE4F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19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8833D1C2-8DF5-AF5F-3D31-79C0DD7CEF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2" name="Рисунок 4">
            <a:extLst>
              <a:ext uri="{FF2B5EF4-FFF2-40B4-BE49-F238E27FC236}">
                <a16:creationId xmlns:a16="http://schemas.microsoft.com/office/drawing/2014/main" id="{3A5672E7-4BA3-1C5D-AA1E-E8C80B198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987" y="1328737"/>
            <a:ext cx="10525125" cy="38004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54AA22-0B86-06E5-B134-8C5B802051D7}"/>
              </a:ext>
            </a:extLst>
          </p:cNvPr>
          <p:cNvSpPr txBox="1"/>
          <p:nvPr/>
        </p:nvSpPr>
        <p:spPr>
          <a:xfrm>
            <a:off x="5402919" y="3799958"/>
            <a:ext cx="2890022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IP: 192.168.0.193</a:t>
            </a:r>
          </a:p>
          <a:p>
            <a:r>
              <a:rPr lang="en-US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Port: 28*256 + 86 = 7254</a:t>
            </a:r>
            <a:endParaRPr lang="ru-RU" dirty="0">
              <a:solidFill>
                <a:srgbClr val="00B05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7112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B3E34-2108-0DDA-1A41-DBFEEB4B0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DF4AC9A-0710-F043-67CB-1A454B4CDE56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221B4FD1-06C7-8190-AAB5-167CABAC289F}"/>
              </a:ext>
            </a:extLst>
          </p:cNvPr>
          <p:cNvSpPr txBox="1"/>
          <p:nvPr/>
        </p:nvSpPr>
        <p:spPr>
          <a:xfrm>
            <a:off x="2402378" y="219959"/>
            <a:ext cx="9449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Варианты анализа трафика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C5CBB0-9B1D-3804-8C9A-07CAE8EEF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20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F1F4FD3F-06F2-989D-910E-949BF48CF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153BDD-8406-6A02-C6C3-D69BD26C9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1107951"/>
            <a:ext cx="6096000" cy="2837865"/>
          </a:xfrm>
          <a:prstGeom prst="rect">
            <a:avLst/>
          </a:prstGeom>
        </p:spPr>
      </p:pic>
      <p:sp>
        <p:nvSpPr>
          <p:cNvPr id="12" name="Содержимое 2">
            <a:extLst>
              <a:ext uri="{FF2B5EF4-FFF2-40B4-BE49-F238E27FC236}">
                <a16:creationId xmlns:a16="http://schemas.microsoft.com/office/drawing/2014/main" id="{633E4D11-766E-4A4D-BA36-83236904AEB5}"/>
              </a:ext>
            </a:extLst>
          </p:cNvPr>
          <p:cNvSpPr txBox="1">
            <a:spLocks/>
          </p:cNvSpPr>
          <p:nvPr/>
        </p:nvSpPr>
        <p:spPr>
          <a:xfrm>
            <a:off x="2743199" y="4099623"/>
            <a:ext cx="4630057" cy="22567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ru-RU" sz="1800" dirty="0"/>
              <a:t>DPI</a:t>
            </a:r>
          </a:p>
          <a:p>
            <a:pPr lvl="1"/>
            <a:r>
              <a:rPr lang="ru-RU" altLang="ru-RU" sz="1800" dirty="0"/>
              <a:t>МЭ</a:t>
            </a:r>
          </a:p>
          <a:p>
            <a:pPr lvl="1"/>
            <a:r>
              <a:rPr lang="en-US" altLang="ru-RU" sz="1800" dirty="0"/>
              <a:t>IDS/IPS</a:t>
            </a:r>
            <a:endParaRPr lang="ru-RU" altLang="ru-RU" sz="1800" dirty="0"/>
          </a:p>
        </p:txBody>
      </p:sp>
      <p:sp>
        <p:nvSpPr>
          <p:cNvPr id="13" name="Содержимое 2">
            <a:extLst>
              <a:ext uri="{FF2B5EF4-FFF2-40B4-BE49-F238E27FC236}">
                <a16:creationId xmlns:a16="http://schemas.microsoft.com/office/drawing/2014/main" id="{CA478DBE-B3E7-FB4C-9F9E-CB50B9A42C5A}"/>
              </a:ext>
            </a:extLst>
          </p:cNvPr>
          <p:cNvSpPr txBox="1">
            <a:spLocks/>
          </p:cNvSpPr>
          <p:nvPr/>
        </p:nvSpPr>
        <p:spPr>
          <a:xfrm>
            <a:off x="6096000" y="4022719"/>
            <a:ext cx="4630057" cy="22567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ru-RU" altLang="ru-RU" sz="1800" dirty="0"/>
              <a:t>Сетевые анализаторы (</a:t>
            </a:r>
            <a:r>
              <a:rPr lang="en-US" altLang="ru-RU" sz="1800" dirty="0" err="1"/>
              <a:t>wireshark</a:t>
            </a:r>
            <a:r>
              <a:rPr lang="en-US" altLang="ru-RU" sz="1800" dirty="0"/>
              <a:t>)</a:t>
            </a:r>
          </a:p>
          <a:p>
            <a:pPr lvl="1"/>
            <a:r>
              <a:rPr lang="ru-RU" altLang="ru-RU" sz="1800" dirty="0"/>
              <a:t>Утилиты для анализа копии трафика (</a:t>
            </a:r>
            <a:r>
              <a:rPr lang="en-US" altLang="ru-RU" sz="1800" dirty="0" err="1"/>
              <a:t>scapy</a:t>
            </a:r>
            <a:r>
              <a:rPr lang="en-US" altLang="ru-RU" sz="1800" dirty="0"/>
              <a:t>)</a:t>
            </a:r>
            <a:endParaRPr lang="ru-RU" altLang="ru-RU" sz="1800" dirty="0"/>
          </a:p>
        </p:txBody>
      </p:sp>
    </p:spTree>
    <p:extLst>
      <p:ext uri="{BB962C8B-B14F-4D97-AF65-F5344CB8AC3E}">
        <p14:creationId xmlns:p14="http://schemas.microsoft.com/office/powerpoint/2010/main" val="658937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D26B6-C111-9B13-B4BE-3DD30CCC5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2E022A6-2AB4-197B-16BF-A214FCF5098B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14A47FEC-3CA2-8ADC-6B0A-85C9F579255E}"/>
              </a:ext>
            </a:extLst>
          </p:cNvPr>
          <p:cNvSpPr txBox="1"/>
          <p:nvPr/>
        </p:nvSpPr>
        <p:spPr>
          <a:xfrm>
            <a:off x="2402378" y="219959"/>
            <a:ext cx="9449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Телеметрия трафика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289290-12B5-5A7F-3426-F7267555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21</a:t>
            </a:fld>
            <a:endParaRPr lang="ru-RU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53EFA792-F6D6-AC37-9BE0-EB9E89ED43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10242" name="Picture 2" descr="Complete Guide to Netflow: How Netflow &amp; its Components Work. Netflow  Monitoring Tools">
            <a:extLst>
              <a:ext uri="{FF2B5EF4-FFF2-40B4-BE49-F238E27FC236}">
                <a16:creationId xmlns:a16="http://schemas.microsoft.com/office/drawing/2014/main" id="{BB36F54B-F20F-50EF-69B8-E24A4DD7B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25" y="1118751"/>
            <a:ext cx="6753675" cy="3151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408AE506-9E0C-3912-074C-B94286FD99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71" b="26866"/>
          <a:stretch>
            <a:fillRect/>
          </a:stretch>
        </p:blipFill>
        <p:spPr bwMode="auto">
          <a:xfrm>
            <a:off x="6767041" y="2441000"/>
            <a:ext cx="5320634" cy="3822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8902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C511D-0CEE-ACF3-46DC-54283E9A8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2C29D2-AEFE-5308-4CDC-C9C7B3D4C69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A09ED1BA-D372-7D6C-F288-1D4C122A9FBF}"/>
              </a:ext>
            </a:extLst>
          </p:cNvPr>
          <p:cNvSpPr txBox="1"/>
          <p:nvPr/>
        </p:nvSpPr>
        <p:spPr>
          <a:xfrm>
            <a:off x="2402378" y="219959"/>
            <a:ext cx="9449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События безопасности – общая структура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655006-26D7-A408-597A-F4A6FA242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22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C5F78BDE-87DA-71EE-0C71-E694027EF4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5" name="Прямоугольник 11">
            <a:extLst>
              <a:ext uri="{FF2B5EF4-FFF2-40B4-BE49-F238E27FC236}">
                <a16:creationId xmlns:a16="http://schemas.microsoft.com/office/drawing/2014/main" id="{6C87F66C-F294-C5DA-FE11-84195BADB975}"/>
              </a:ext>
            </a:extLst>
          </p:cNvPr>
          <p:cNvSpPr/>
          <p:nvPr/>
        </p:nvSpPr>
        <p:spPr>
          <a:xfrm>
            <a:off x="1107069" y="2271241"/>
            <a:ext cx="1771650" cy="6381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Метка времени</a:t>
            </a:r>
          </a:p>
        </p:txBody>
      </p:sp>
      <p:sp>
        <p:nvSpPr>
          <p:cNvPr id="7" name="Прямоугольник 12">
            <a:extLst>
              <a:ext uri="{FF2B5EF4-FFF2-40B4-BE49-F238E27FC236}">
                <a16:creationId xmlns:a16="http://schemas.microsoft.com/office/drawing/2014/main" id="{C0154980-BEC5-1A31-047C-7F14C37EFD5C}"/>
              </a:ext>
            </a:extLst>
          </p:cNvPr>
          <p:cNvSpPr/>
          <p:nvPr/>
        </p:nvSpPr>
        <p:spPr>
          <a:xfrm>
            <a:off x="3054282" y="2271241"/>
            <a:ext cx="1771650" cy="6381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Субъект</a:t>
            </a:r>
          </a:p>
        </p:txBody>
      </p:sp>
      <p:sp>
        <p:nvSpPr>
          <p:cNvPr id="8" name="Прямоугольник 13">
            <a:extLst>
              <a:ext uri="{FF2B5EF4-FFF2-40B4-BE49-F238E27FC236}">
                <a16:creationId xmlns:a16="http://schemas.microsoft.com/office/drawing/2014/main" id="{4DFE3AEB-0F7F-523F-D5FD-69A1A6021276}"/>
              </a:ext>
            </a:extLst>
          </p:cNvPr>
          <p:cNvSpPr/>
          <p:nvPr/>
        </p:nvSpPr>
        <p:spPr>
          <a:xfrm>
            <a:off x="4996835" y="2279177"/>
            <a:ext cx="1771650" cy="6381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Объект</a:t>
            </a:r>
          </a:p>
        </p:txBody>
      </p:sp>
      <p:sp>
        <p:nvSpPr>
          <p:cNvPr id="10" name="Прямоугольник 14">
            <a:extLst>
              <a:ext uri="{FF2B5EF4-FFF2-40B4-BE49-F238E27FC236}">
                <a16:creationId xmlns:a16="http://schemas.microsoft.com/office/drawing/2014/main" id="{75F1C44A-32D8-B127-5BE8-0D6B570518F0}"/>
              </a:ext>
            </a:extLst>
          </p:cNvPr>
          <p:cNvSpPr/>
          <p:nvPr/>
        </p:nvSpPr>
        <p:spPr>
          <a:xfrm>
            <a:off x="6939388" y="2279177"/>
            <a:ext cx="1771650" cy="6381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Действие</a:t>
            </a:r>
          </a:p>
        </p:txBody>
      </p:sp>
      <p:sp>
        <p:nvSpPr>
          <p:cNvPr id="11" name="Прямоугольник 15">
            <a:extLst>
              <a:ext uri="{FF2B5EF4-FFF2-40B4-BE49-F238E27FC236}">
                <a16:creationId xmlns:a16="http://schemas.microsoft.com/office/drawing/2014/main" id="{B055D809-45FC-25FE-123C-C777A0E41581}"/>
              </a:ext>
            </a:extLst>
          </p:cNvPr>
          <p:cNvSpPr/>
          <p:nvPr/>
        </p:nvSpPr>
        <p:spPr>
          <a:xfrm>
            <a:off x="8881941" y="2279177"/>
            <a:ext cx="1771650" cy="6381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Результат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3C47AFA-C91F-0B68-6E7C-5942AB6680B2}"/>
              </a:ext>
            </a:extLst>
          </p:cNvPr>
          <p:cNvCxnSpPr>
            <a:cxnSpLocks/>
          </p:cNvCxnSpPr>
          <p:nvPr/>
        </p:nvCxnSpPr>
        <p:spPr>
          <a:xfrm flipH="1" flipV="1">
            <a:off x="1946031" y="3098800"/>
            <a:ext cx="1267069" cy="1502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Содержимое 2">
            <a:extLst>
              <a:ext uri="{FF2B5EF4-FFF2-40B4-BE49-F238E27FC236}">
                <a16:creationId xmlns:a16="http://schemas.microsoft.com/office/drawing/2014/main" id="{947931CE-E665-3617-5399-3A3324F22D66}"/>
              </a:ext>
            </a:extLst>
          </p:cNvPr>
          <p:cNvSpPr txBox="1">
            <a:spLocks/>
          </p:cNvSpPr>
          <p:nvPr/>
        </p:nvSpPr>
        <p:spPr>
          <a:xfrm>
            <a:off x="2681806" y="4601273"/>
            <a:ext cx="4630057" cy="7111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ru-RU" altLang="ru-RU" sz="1800" dirty="0"/>
              <a:t>Есть 2 времени</a:t>
            </a:r>
            <a:r>
              <a:rPr lang="en-US" altLang="ru-RU" sz="1800" dirty="0"/>
              <a:t>: </a:t>
            </a:r>
            <a:r>
              <a:rPr lang="ru-RU" altLang="ru-RU" sz="1800" b="1" dirty="0"/>
              <a:t>возникновение </a:t>
            </a:r>
            <a:r>
              <a:rPr lang="ru-RU" altLang="ru-RU" sz="1800" dirty="0"/>
              <a:t>события и </a:t>
            </a:r>
            <a:r>
              <a:rPr lang="ru-RU" altLang="ru-RU" sz="1800" b="1" dirty="0"/>
              <a:t>регистрация </a:t>
            </a:r>
            <a:r>
              <a:rPr lang="ru-RU" altLang="ru-RU" sz="1800" dirty="0"/>
              <a:t>события</a:t>
            </a:r>
          </a:p>
        </p:txBody>
      </p:sp>
    </p:spTree>
    <p:extLst>
      <p:ext uri="{BB962C8B-B14F-4D97-AF65-F5344CB8AC3E}">
        <p14:creationId xmlns:p14="http://schemas.microsoft.com/office/powerpoint/2010/main" val="948715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2A8FE-1793-8CB2-4EFF-2CC90C0AD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B5FF897-1F73-EA58-F14E-56A89B2EC31C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4711AB8C-3361-5B69-A517-09830FB35449}"/>
              </a:ext>
            </a:extLst>
          </p:cNvPr>
          <p:cNvSpPr txBox="1"/>
          <p:nvPr/>
        </p:nvSpPr>
        <p:spPr>
          <a:xfrm>
            <a:off x="2402378" y="219959"/>
            <a:ext cx="9449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События безопасности – дьявол в деталях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1A0163-F99A-DBD5-6D72-C01B20B4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23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5F02324F-4EE2-B132-0155-649626D27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5" name="Прямоугольник 11">
            <a:extLst>
              <a:ext uri="{FF2B5EF4-FFF2-40B4-BE49-F238E27FC236}">
                <a16:creationId xmlns:a16="http://schemas.microsoft.com/office/drawing/2014/main" id="{64BE1AD9-9B81-376C-4749-E9BA45F2AF39}"/>
              </a:ext>
            </a:extLst>
          </p:cNvPr>
          <p:cNvSpPr/>
          <p:nvPr/>
        </p:nvSpPr>
        <p:spPr>
          <a:xfrm>
            <a:off x="1107069" y="2271241"/>
            <a:ext cx="1771650" cy="6381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Метка времени</a:t>
            </a:r>
          </a:p>
        </p:txBody>
      </p:sp>
      <p:sp>
        <p:nvSpPr>
          <p:cNvPr id="7" name="Прямоугольник 12">
            <a:extLst>
              <a:ext uri="{FF2B5EF4-FFF2-40B4-BE49-F238E27FC236}">
                <a16:creationId xmlns:a16="http://schemas.microsoft.com/office/drawing/2014/main" id="{A0900F1E-DF88-7C00-0775-0B32AFE2CD8C}"/>
              </a:ext>
            </a:extLst>
          </p:cNvPr>
          <p:cNvSpPr/>
          <p:nvPr/>
        </p:nvSpPr>
        <p:spPr>
          <a:xfrm>
            <a:off x="3054282" y="2271241"/>
            <a:ext cx="1771650" cy="6381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Субъект</a:t>
            </a:r>
          </a:p>
        </p:txBody>
      </p:sp>
      <p:sp>
        <p:nvSpPr>
          <p:cNvPr id="8" name="Прямоугольник 13">
            <a:extLst>
              <a:ext uri="{FF2B5EF4-FFF2-40B4-BE49-F238E27FC236}">
                <a16:creationId xmlns:a16="http://schemas.microsoft.com/office/drawing/2014/main" id="{58861558-086F-D417-3835-A1068AFE6259}"/>
              </a:ext>
            </a:extLst>
          </p:cNvPr>
          <p:cNvSpPr/>
          <p:nvPr/>
        </p:nvSpPr>
        <p:spPr>
          <a:xfrm>
            <a:off x="4996835" y="2279177"/>
            <a:ext cx="1771650" cy="6381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Объект</a:t>
            </a:r>
          </a:p>
        </p:txBody>
      </p:sp>
      <p:sp>
        <p:nvSpPr>
          <p:cNvPr id="10" name="Прямоугольник 14">
            <a:extLst>
              <a:ext uri="{FF2B5EF4-FFF2-40B4-BE49-F238E27FC236}">
                <a16:creationId xmlns:a16="http://schemas.microsoft.com/office/drawing/2014/main" id="{10EBB8E9-69A0-1935-E97B-3EFC9D5D3354}"/>
              </a:ext>
            </a:extLst>
          </p:cNvPr>
          <p:cNvSpPr/>
          <p:nvPr/>
        </p:nvSpPr>
        <p:spPr>
          <a:xfrm>
            <a:off x="6939388" y="2279177"/>
            <a:ext cx="1771650" cy="6381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Действие</a:t>
            </a:r>
          </a:p>
        </p:txBody>
      </p:sp>
      <p:sp>
        <p:nvSpPr>
          <p:cNvPr id="11" name="Прямоугольник 15">
            <a:extLst>
              <a:ext uri="{FF2B5EF4-FFF2-40B4-BE49-F238E27FC236}">
                <a16:creationId xmlns:a16="http://schemas.microsoft.com/office/drawing/2014/main" id="{79BB437C-BC8F-8EC8-695D-8B0663F0714F}"/>
              </a:ext>
            </a:extLst>
          </p:cNvPr>
          <p:cNvSpPr/>
          <p:nvPr/>
        </p:nvSpPr>
        <p:spPr>
          <a:xfrm>
            <a:off x="8881941" y="2279177"/>
            <a:ext cx="1771650" cy="6381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Результат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8119125-A945-1728-7449-0895D0B1EBD9}"/>
              </a:ext>
            </a:extLst>
          </p:cNvPr>
          <p:cNvCxnSpPr>
            <a:cxnSpLocks/>
          </p:cNvCxnSpPr>
          <p:nvPr/>
        </p:nvCxnSpPr>
        <p:spPr>
          <a:xfrm flipH="1">
            <a:off x="3538595" y="3073895"/>
            <a:ext cx="334381" cy="753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Содержимое 2">
            <a:extLst>
              <a:ext uri="{FF2B5EF4-FFF2-40B4-BE49-F238E27FC236}">
                <a16:creationId xmlns:a16="http://schemas.microsoft.com/office/drawing/2014/main" id="{452AC813-7C6B-1C2D-2F4B-EE9D2D41C342}"/>
              </a:ext>
            </a:extLst>
          </p:cNvPr>
          <p:cNvSpPr txBox="1">
            <a:spLocks/>
          </p:cNvSpPr>
          <p:nvPr/>
        </p:nvSpPr>
        <p:spPr>
          <a:xfrm>
            <a:off x="2210466" y="3991526"/>
            <a:ext cx="4630057" cy="7111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ru-RU" altLang="ru-RU" sz="1800" dirty="0"/>
              <a:t>Имя пользователя</a:t>
            </a:r>
          </a:p>
          <a:p>
            <a:pPr marL="457200" lvl="1" indent="0">
              <a:buNone/>
            </a:pPr>
            <a:r>
              <a:rPr lang="ru-RU" altLang="ru-RU" sz="1800" dirty="0"/>
              <a:t>Имя хоста</a:t>
            </a:r>
          </a:p>
          <a:p>
            <a:pPr marL="457200" lvl="1" indent="0">
              <a:buNone/>
            </a:pPr>
            <a:r>
              <a:rPr lang="en-US" altLang="ru-RU" sz="1800" dirty="0"/>
              <a:t>IP </a:t>
            </a:r>
            <a:r>
              <a:rPr lang="ru-RU" altLang="ru-RU" sz="1800" dirty="0"/>
              <a:t>адрес</a:t>
            </a:r>
          </a:p>
          <a:p>
            <a:pPr marL="457200" lvl="1" indent="0">
              <a:buNone/>
            </a:pPr>
            <a:r>
              <a:rPr lang="en-US" altLang="ru-RU" sz="1800" dirty="0"/>
              <a:t>PID</a:t>
            </a:r>
          </a:p>
          <a:p>
            <a:pPr marL="457200" lvl="1" indent="0">
              <a:buNone/>
            </a:pPr>
            <a:r>
              <a:rPr lang="en-US" altLang="ru-RU" sz="1800" dirty="0"/>
              <a:t>…</a:t>
            </a:r>
            <a:endParaRPr lang="ru-RU" altLang="ru-RU" sz="1800" dirty="0"/>
          </a:p>
        </p:txBody>
      </p:sp>
      <p:sp>
        <p:nvSpPr>
          <p:cNvPr id="16" name="Содержимое 2">
            <a:extLst>
              <a:ext uri="{FF2B5EF4-FFF2-40B4-BE49-F238E27FC236}">
                <a16:creationId xmlns:a16="http://schemas.microsoft.com/office/drawing/2014/main" id="{8E73C0CA-B844-2009-2CDA-E179058E46F4}"/>
              </a:ext>
            </a:extLst>
          </p:cNvPr>
          <p:cNvSpPr txBox="1">
            <a:spLocks/>
          </p:cNvSpPr>
          <p:nvPr/>
        </p:nvSpPr>
        <p:spPr>
          <a:xfrm>
            <a:off x="5615114" y="3940649"/>
            <a:ext cx="4630057" cy="7111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ru-RU" altLang="ru-RU" sz="1800" dirty="0"/>
              <a:t>Файл</a:t>
            </a:r>
          </a:p>
          <a:p>
            <a:pPr marL="457200" lvl="1" indent="0">
              <a:buNone/>
            </a:pPr>
            <a:r>
              <a:rPr lang="ru-RU" altLang="ru-RU" sz="1800" dirty="0"/>
              <a:t>Запись БД</a:t>
            </a:r>
          </a:p>
          <a:p>
            <a:pPr marL="457200" lvl="1" indent="0">
              <a:buNone/>
            </a:pPr>
            <a:r>
              <a:rPr lang="ru-RU" altLang="ru-RU" sz="1800" dirty="0"/>
              <a:t>Хост</a:t>
            </a:r>
          </a:p>
          <a:p>
            <a:pPr marL="457200" lvl="1" indent="0">
              <a:buNone/>
            </a:pPr>
            <a:r>
              <a:rPr lang="en-US" altLang="ru-RU" sz="1800" dirty="0"/>
              <a:t>API endpoint</a:t>
            </a:r>
          </a:p>
          <a:p>
            <a:pPr marL="457200" lvl="1" indent="0">
              <a:buNone/>
            </a:pPr>
            <a:r>
              <a:rPr lang="en-US" altLang="ru-RU" sz="1800" dirty="0"/>
              <a:t>…</a:t>
            </a:r>
            <a:endParaRPr lang="ru-RU" altLang="ru-RU" sz="18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8634042-2029-12E8-8F88-72C42622A43F}"/>
              </a:ext>
            </a:extLst>
          </p:cNvPr>
          <p:cNvCxnSpPr>
            <a:cxnSpLocks/>
          </p:cNvCxnSpPr>
          <p:nvPr/>
        </p:nvCxnSpPr>
        <p:spPr>
          <a:xfrm>
            <a:off x="5782304" y="2988911"/>
            <a:ext cx="844739" cy="838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Содержимое 2">
            <a:extLst>
              <a:ext uri="{FF2B5EF4-FFF2-40B4-BE49-F238E27FC236}">
                <a16:creationId xmlns:a16="http://schemas.microsoft.com/office/drawing/2014/main" id="{B4951D7C-5ABD-470D-7517-B6242139E39B}"/>
              </a:ext>
            </a:extLst>
          </p:cNvPr>
          <p:cNvSpPr txBox="1">
            <a:spLocks/>
          </p:cNvSpPr>
          <p:nvPr/>
        </p:nvSpPr>
        <p:spPr>
          <a:xfrm>
            <a:off x="465799" y="5908300"/>
            <a:ext cx="10770952" cy="6865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ru-RU" altLang="ru-RU" sz="1800" dirty="0"/>
              <a:t>Структура событий может сильно отличаться в зависимости от источника и типа события – это усложняет их сбор, хранение и анализ</a:t>
            </a:r>
          </a:p>
        </p:txBody>
      </p:sp>
    </p:spTree>
    <p:extLst>
      <p:ext uri="{BB962C8B-B14F-4D97-AF65-F5344CB8AC3E}">
        <p14:creationId xmlns:p14="http://schemas.microsoft.com/office/powerpoint/2010/main" val="3896028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D5961-7C98-01E4-C534-7EEBB4553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50DC3E9-971B-2E16-2389-29CDABF20779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F0B62997-2841-F1C6-3ABE-5F2729E7098C}"/>
              </a:ext>
            </a:extLst>
          </p:cNvPr>
          <p:cNvSpPr txBox="1"/>
          <p:nvPr/>
        </p:nvSpPr>
        <p:spPr>
          <a:xfrm>
            <a:off x="2402378" y="219959"/>
            <a:ext cx="9449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События безопасности – передача событий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B25343-A92F-B48F-0C90-64B7B4514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24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044D1A3E-3C7A-B33B-5F55-37EC2BB5CA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2" name="Содержимое 2">
            <a:extLst>
              <a:ext uri="{FF2B5EF4-FFF2-40B4-BE49-F238E27FC236}">
                <a16:creationId xmlns:a16="http://schemas.microsoft.com/office/drawing/2014/main" id="{BEBABCD9-8EF8-C09C-C85B-FC8BC2FA1E53}"/>
              </a:ext>
            </a:extLst>
          </p:cNvPr>
          <p:cNvSpPr txBox="1">
            <a:spLocks/>
          </p:cNvSpPr>
          <p:nvPr/>
        </p:nvSpPr>
        <p:spPr>
          <a:xfrm>
            <a:off x="92284" y="1526742"/>
            <a:ext cx="6814354" cy="5011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ru-RU" altLang="ru-RU" sz="1800" b="1" dirty="0"/>
              <a:t>Протокол </a:t>
            </a:r>
            <a:r>
              <a:rPr lang="en-US" altLang="ru-RU" sz="1800" b="1" dirty="0"/>
              <a:t>syslog</a:t>
            </a:r>
            <a:endParaRPr lang="en-US" altLang="ru-RU" sz="1800" dirty="0"/>
          </a:p>
          <a:p>
            <a:pPr lvl="1"/>
            <a:r>
              <a:rPr lang="ru-RU" altLang="ru-RU" sz="1800" dirty="0"/>
              <a:t>Описан в </a:t>
            </a:r>
            <a:r>
              <a:rPr lang="en-US" altLang="ru-RU" sz="1800" dirty="0"/>
              <a:t>RFC 3164 (</a:t>
            </a:r>
            <a:r>
              <a:rPr lang="ru-RU" altLang="ru-RU" sz="1800" dirty="0"/>
              <a:t>устарело) и 5424 (современная версия)</a:t>
            </a:r>
          </a:p>
          <a:p>
            <a:pPr lvl="1"/>
            <a:r>
              <a:rPr lang="ru-RU" altLang="ru-RU" sz="1800" dirty="0"/>
              <a:t>Не устанавливает синтаксис сообщений</a:t>
            </a:r>
          </a:p>
          <a:p>
            <a:pPr lvl="1"/>
            <a:r>
              <a:rPr lang="ru-RU" altLang="ru-RU" sz="1800" dirty="0"/>
              <a:t>Использует протокол </a:t>
            </a:r>
            <a:r>
              <a:rPr lang="en-US" altLang="ru-RU" sz="1800" dirty="0"/>
              <a:t>UDP </a:t>
            </a:r>
            <a:r>
              <a:rPr lang="ru-RU" altLang="ru-RU" sz="1800" dirty="0"/>
              <a:t>(стандартный порт 514) с опциональной поддержкой </a:t>
            </a:r>
            <a:r>
              <a:rPr lang="en-US" altLang="ru-RU" sz="1800" dirty="0"/>
              <a:t>TCP</a:t>
            </a:r>
          </a:p>
          <a:p>
            <a:pPr lvl="1"/>
            <a:r>
              <a:rPr lang="ru-RU" altLang="ru-RU" sz="1800" dirty="0"/>
              <a:t>Ограничение на длину сообщение (при передаче по </a:t>
            </a:r>
            <a:r>
              <a:rPr lang="en-US" altLang="ru-RU" sz="1800" dirty="0"/>
              <a:t>UDP)</a:t>
            </a:r>
          </a:p>
          <a:p>
            <a:pPr lvl="1"/>
            <a:r>
              <a:rPr lang="ru-RU" altLang="ru-RU" sz="1800" dirty="0"/>
              <a:t>До сих пор самый популярный протокол передачи событий безопасности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99BB728-31CA-6F53-9DF0-69BCDDF23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410" y="3957177"/>
            <a:ext cx="6467475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489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EF2B6-6F97-EA3B-893B-C8260274B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A9859A7-BDA7-9282-2618-48C727F725CC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3C0AFB20-60DB-1474-F325-A81F711FEAC8}"/>
              </a:ext>
            </a:extLst>
          </p:cNvPr>
          <p:cNvSpPr txBox="1"/>
          <p:nvPr/>
        </p:nvSpPr>
        <p:spPr>
          <a:xfrm>
            <a:off x="2402378" y="219959"/>
            <a:ext cx="9449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Примеры структурированных </a:t>
            </a:r>
            <a:r>
              <a:rPr lang="en-US" sz="2800" b="1" dirty="0">
                <a:solidFill>
                  <a:srgbClr val="FF0000"/>
                </a:solidFill>
              </a:rPr>
              <a:t>syslog </a:t>
            </a:r>
            <a:r>
              <a:rPr lang="ru-RU" sz="2800" b="1" dirty="0">
                <a:solidFill>
                  <a:srgbClr val="FF0000"/>
                </a:solidFill>
              </a:rPr>
              <a:t>сообщений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677BDD-9EC9-E1EC-5BB0-B18E45EEF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25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91B82426-7B97-030B-E66F-4225D787C3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E53226-4936-A4FA-B3CE-22BA7863712E}"/>
              </a:ext>
            </a:extLst>
          </p:cNvPr>
          <p:cNvSpPr txBox="1"/>
          <p:nvPr/>
        </p:nvSpPr>
        <p:spPr>
          <a:xfrm>
            <a:off x="780441" y="1819621"/>
            <a:ext cx="11010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&lt;34&gt;Oct 11 22:14:15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mymachine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su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'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su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root' failed for</a:t>
            </a:r>
            <a:r>
              <a:rPr lang="ru-RU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lonvick</a:t>
            </a:r>
            <a:r>
              <a:rPr lang="ru-RU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on /dev/pts/8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7CFF8B-513D-EEB3-7E0D-3CDFE9C74B4B}"/>
              </a:ext>
            </a:extLst>
          </p:cNvPr>
          <p:cNvSpPr/>
          <p:nvPr/>
        </p:nvSpPr>
        <p:spPr>
          <a:xfrm>
            <a:off x="867266" y="1819621"/>
            <a:ext cx="54675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1D775C-60BF-2914-0A5F-AC5C0D343B01}"/>
              </a:ext>
            </a:extLst>
          </p:cNvPr>
          <p:cNvSpPr/>
          <p:nvPr/>
        </p:nvSpPr>
        <p:spPr>
          <a:xfrm>
            <a:off x="1414021" y="1819621"/>
            <a:ext cx="2073897" cy="3693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0A8BC0-C619-302B-0403-B6A57800D1F7}"/>
              </a:ext>
            </a:extLst>
          </p:cNvPr>
          <p:cNvSpPr/>
          <p:nvPr/>
        </p:nvSpPr>
        <p:spPr>
          <a:xfrm>
            <a:off x="3576480" y="1819621"/>
            <a:ext cx="1297178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4228C8-0DFD-736C-8CBA-916CD94FD45C}"/>
              </a:ext>
            </a:extLst>
          </p:cNvPr>
          <p:cNvSpPr/>
          <p:nvPr/>
        </p:nvSpPr>
        <p:spPr>
          <a:xfrm>
            <a:off x="4943367" y="1818248"/>
            <a:ext cx="477044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58EF2E-97A1-EED7-964B-A1C713F465DF}"/>
              </a:ext>
            </a:extLst>
          </p:cNvPr>
          <p:cNvSpPr/>
          <p:nvPr/>
        </p:nvSpPr>
        <p:spPr>
          <a:xfrm>
            <a:off x="5490120" y="1818248"/>
            <a:ext cx="5834613" cy="36933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одержимое 2">
            <a:extLst>
              <a:ext uri="{FF2B5EF4-FFF2-40B4-BE49-F238E27FC236}">
                <a16:creationId xmlns:a16="http://schemas.microsoft.com/office/drawing/2014/main" id="{B96CB27A-39FF-2008-66E3-77D414ED77C4}"/>
              </a:ext>
            </a:extLst>
          </p:cNvPr>
          <p:cNvSpPr txBox="1">
            <a:spLocks/>
          </p:cNvSpPr>
          <p:nvPr/>
        </p:nvSpPr>
        <p:spPr>
          <a:xfrm>
            <a:off x="648032" y="1513715"/>
            <a:ext cx="985221" cy="3045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en-US" altLang="ru-RU" dirty="0"/>
              <a:t>PRI</a:t>
            </a:r>
            <a:endParaRPr lang="ru-RU" altLang="ru-RU" dirty="0"/>
          </a:p>
        </p:txBody>
      </p:sp>
      <p:sp>
        <p:nvSpPr>
          <p:cNvPr id="21" name="Содержимое 2">
            <a:extLst>
              <a:ext uri="{FF2B5EF4-FFF2-40B4-BE49-F238E27FC236}">
                <a16:creationId xmlns:a16="http://schemas.microsoft.com/office/drawing/2014/main" id="{3E4BC61B-A047-AD66-2023-73168E91E8D8}"/>
              </a:ext>
            </a:extLst>
          </p:cNvPr>
          <p:cNvSpPr txBox="1">
            <a:spLocks/>
          </p:cNvSpPr>
          <p:nvPr/>
        </p:nvSpPr>
        <p:spPr>
          <a:xfrm>
            <a:off x="1465060" y="1541448"/>
            <a:ext cx="1971819" cy="249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ru-RU" sz="1800" dirty="0"/>
              <a:t>TIMESTAMP</a:t>
            </a:r>
            <a:endParaRPr lang="ru-RU" altLang="ru-RU" sz="1800" dirty="0"/>
          </a:p>
        </p:txBody>
      </p:sp>
      <p:sp>
        <p:nvSpPr>
          <p:cNvPr id="22" name="Содержимое 2">
            <a:extLst>
              <a:ext uri="{FF2B5EF4-FFF2-40B4-BE49-F238E27FC236}">
                <a16:creationId xmlns:a16="http://schemas.microsoft.com/office/drawing/2014/main" id="{A0F4CCEE-B94F-5469-744F-E841E3FD6815}"/>
              </a:ext>
            </a:extLst>
          </p:cNvPr>
          <p:cNvSpPr txBox="1">
            <a:spLocks/>
          </p:cNvSpPr>
          <p:nvPr/>
        </p:nvSpPr>
        <p:spPr>
          <a:xfrm>
            <a:off x="3239160" y="1541448"/>
            <a:ext cx="1971819" cy="249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ru-RU" sz="1800" dirty="0"/>
              <a:t>HOSTNAME</a:t>
            </a:r>
            <a:endParaRPr lang="ru-RU" altLang="ru-RU" sz="1800" dirty="0"/>
          </a:p>
        </p:txBody>
      </p:sp>
      <p:sp>
        <p:nvSpPr>
          <p:cNvPr id="23" name="Содержимое 2">
            <a:extLst>
              <a:ext uri="{FF2B5EF4-FFF2-40B4-BE49-F238E27FC236}">
                <a16:creationId xmlns:a16="http://schemas.microsoft.com/office/drawing/2014/main" id="{7F8B51D7-F6BF-57F2-3A1C-C459449C624F}"/>
              </a:ext>
            </a:extLst>
          </p:cNvPr>
          <p:cNvSpPr txBox="1">
            <a:spLocks/>
          </p:cNvSpPr>
          <p:nvPr/>
        </p:nvSpPr>
        <p:spPr>
          <a:xfrm>
            <a:off x="4195980" y="1541448"/>
            <a:ext cx="1971819" cy="249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ru-RU" sz="1800" dirty="0"/>
              <a:t>TAG</a:t>
            </a:r>
            <a:endParaRPr lang="ru-RU" altLang="ru-RU" sz="1800" dirty="0"/>
          </a:p>
        </p:txBody>
      </p:sp>
      <p:sp>
        <p:nvSpPr>
          <p:cNvPr id="24" name="Содержимое 2">
            <a:extLst>
              <a:ext uri="{FF2B5EF4-FFF2-40B4-BE49-F238E27FC236}">
                <a16:creationId xmlns:a16="http://schemas.microsoft.com/office/drawing/2014/main" id="{963BCF78-D3B0-A8A8-C7D3-20BEA35918B5}"/>
              </a:ext>
            </a:extLst>
          </p:cNvPr>
          <p:cNvSpPr txBox="1">
            <a:spLocks/>
          </p:cNvSpPr>
          <p:nvPr/>
        </p:nvSpPr>
        <p:spPr>
          <a:xfrm>
            <a:off x="7421517" y="1541448"/>
            <a:ext cx="1971819" cy="249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ru-RU" sz="1800" dirty="0"/>
              <a:t>MSG</a:t>
            </a:r>
            <a:endParaRPr lang="ru-RU" altLang="ru-RU" sz="1800" dirty="0"/>
          </a:p>
        </p:txBody>
      </p:sp>
      <p:sp>
        <p:nvSpPr>
          <p:cNvPr id="25" name="Содержимое 2">
            <a:extLst>
              <a:ext uri="{FF2B5EF4-FFF2-40B4-BE49-F238E27FC236}">
                <a16:creationId xmlns:a16="http://schemas.microsoft.com/office/drawing/2014/main" id="{577FDD69-1F06-B9F6-F789-A314FABECA14}"/>
              </a:ext>
            </a:extLst>
          </p:cNvPr>
          <p:cNvSpPr txBox="1">
            <a:spLocks/>
          </p:cNvSpPr>
          <p:nvPr/>
        </p:nvSpPr>
        <p:spPr>
          <a:xfrm>
            <a:off x="0" y="1118751"/>
            <a:ext cx="6814354" cy="3477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ru-RU" altLang="ru-RU" sz="1800" b="1" dirty="0"/>
              <a:t>Сообщение </a:t>
            </a:r>
            <a:r>
              <a:rPr lang="en-US" altLang="ru-RU" sz="1800" b="1" dirty="0"/>
              <a:t>syslog RFC 3164:</a:t>
            </a:r>
            <a:endParaRPr lang="ru-RU" altLang="ru-RU" sz="1800" dirty="0"/>
          </a:p>
        </p:txBody>
      </p:sp>
    </p:spTree>
    <p:extLst>
      <p:ext uri="{BB962C8B-B14F-4D97-AF65-F5344CB8AC3E}">
        <p14:creationId xmlns:p14="http://schemas.microsoft.com/office/powerpoint/2010/main" val="42604637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E0EB5-9E68-AD49-2ABC-41F311B07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A2B30A8-0B5A-8753-C30C-BA0F254069EA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0AF0A78F-6DDA-50E7-3F9A-C19E720CAEF9}"/>
              </a:ext>
            </a:extLst>
          </p:cNvPr>
          <p:cNvSpPr txBox="1"/>
          <p:nvPr/>
        </p:nvSpPr>
        <p:spPr>
          <a:xfrm>
            <a:off x="2402378" y="219959"/>
            <a:ext cx="9449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Примеры структурированных </a:t>
            </a:r>
            <a:r>
              <a:rPr lang="en-US" sz="2800" b="1" dirty="0">
                <a:solidFill>
                  <a:srgbClr val="FF0000"/>
                </a:solidFill>
              </a:rPr>
              <a:t>syslog </a:t>
            </a:r>
            <a:r>
              <a:rPr lang="ru-RU" sz="2800" b="1" dirty="0">
                <a:solidFill>
                  <a:srgbClr val="FF0000"/>
                </a:solidFill>
              </a:rPr>
              <a:t>сообщений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33F351-1372-5BFD-23BA-B3F3D8F94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26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F833A46A-5F0B-B61F-C3E0-DA7AF7FC43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7AD194-742F-2515-1B94-C87827C7E025}"/>
              </a:ext>
            </a:extLst>
          </p:cNvPr>
          <p:cNvSpPr txBox="1"/>
          <p:nvPr/>
        </p:nvSpPr>
        <p:spPr>
          <a:xfrm>
            <a:off x="780441" y="1819621"/>
            <a:ext cx="11010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&lt;34&gt;Oct 11 22:14:15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mymachine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su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: '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su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root' failed for</a:t>
            </a:r>
            <a:r>
              <a:rPr lang="ru-RU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lonvick</a:t>
            </a:r>
            <a:r>
              <a:rPr lang="ru-RU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on /dev/pts/8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BAFE61-81B6-2E3C-2DEA-D7BC223235C0}"/>
              </a:ext>
            </a:extLst>
          </p:cNvPr>
          <p:cNvSpPr txBox="1"/>
          <p:nvPr/>
        </p:nvSpPr>
        <p:spPr>
          <a:xfrm>
            <a:off x="780441" y="3066889"/>
            <a:ext cx="11191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buNone/>
              <a:defRPr b="0" i="0">
                <a:solidFill>
                  <a:srgbClr val="000000"/>
                </a:solidFill>
                <a:effectLst/>
                <a:latin typeface="Courier New" panose="02070309020205020404" pitchFamily="49" charset="0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&lt;130&gt;</a:t>
            </a:r>
            <a:r>
              <a:rPr lang="en-US" dirty="0">
                <a:solidFill>
                  <a:srgbClr val="00B050"/>
                </a:solidFill>
              </a:rPr>
              <a:t>1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2018-08-13T13:34:28.905941+00:00</a:t>
            </a:r>
            <a:r>
              <a:rPr lang="en-US" dirty="0"/>
              <a:t> </a:t>
            </a:r>
            <a:r>
              <a:rPr lang="en-US" dirty="0" err="1">
                <a:solidFill>
                  <a:schemeClr val="accent4"/>
                </a:solidFill>
              </a:rPr>
              <a:t>mycompany</a:t>
            </a:r>
            <a:r>
              <a:rPr lang="en-US" dirty="0">
                <a:solidFill>
                  <a:schemeClr val="accent4"/>
                </a:solidFill>
              </a:rPr>
              <a:t>-com</a:t>
            </a:r>
            <a:r>
              <a:rPr lang="en-US" dirty="0"/>
              <a:t>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ThinkstCanary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6051</a:t>
            </a:r>
            <a:r>
              <a:rPr lang="en-US" dirty="0"/>
              <a:t> </a:t>
            </a:r>
            <a:r>
              <a:rPr lang="en-US" dirty="0" err="1">
                <a:solidFill>
                  <a:srgbClr val="00B0F0"/>
                </a:solidFill>
              </a:rPr>
              <a:t>newincident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[BasicIncidentDetails@51136 </a:t>
            </a:r>
            <a:r>
              <a:rPr lang="en-US" dirty="0" err="1">
                <a:solidFill>
                  <a:srgbClr val="FF0000"/>
                </a:solidFill>
              </a:rPr>
              <a:t>eventid</a:t>
            </a:r>
            <a:r>
              <a:rPr lang="en-US" dirty="0">
                <a:solidFill>
                  <a:srgbClr val="FF0000"/>
                </a:solidFill>
              </a:rPr>
              <a:t>="18001" </a:t>
            </a:r>
            <a:r>
              <a:rPr lang="en-US" dirty="0" err="1">
                <a:solidFill>
                  <a:srgbClr val="FF0000"/>
                </a:solidFill>
              </a:rPr>
              <a:t>ReverseDNS</a:t>
            </a:r>
            <a:r>
              <a:rPr lang="en-US" dirty="0">
                <a:solidFill>
                  <a:srgbClr val="FF0000"/>
                </a:solidFill>
              </a:rPr>
              <a:t>="attacker.in.mycompany.com" </a:t>
            </a:r>
            <a:r>
              <a:rPr lang="en-US" dirty="0" err="1">
                <a:solidFill>
                  <a:srgbClr val="FF0000"/>
                </a:solidFill>
              </a:rPr>
              <a:t>CanaryName</a:t>
            </a:r>
            <a:r>
              <a:rPr lang="en-US" dirty="0">
                <a:solidFill>
                  <a:srgbClr val="FF0000"/>
                </a:solidFill>
              </a:rPr>
              <a:t>="intranet03.mycompany.com" Description="</a:t>
            </a:r>
            <a:r>
              <a:rPr lang="en-US" dirty="0" err="1">
                <a:solidFill>
                  <a:srgbClr val="FF0000"/>
                </a:solidFill>
              </a:rPr>
              <a:t>ModBus</a:t>
            </a:r>
            <a:r>
              <a:rPr lang="en-US" dirty="0">
                <a:solidFill>
                  <a:srgbClr val="FF0000"/>
                </a:solidFill>
              </a:rPr>
              <a:t> Request" </a:t>
            </a:r>
            <a:r>
              <a:rPr lang="en-US" dirty="0" err="1">
                <a:solidFill>
                  <a:srgbClr val="FF0000"/>
                </a:solidFill>
              </a:rPr>
              <a:t>CanaryPort</a:t>
            </a:r>
            <a:r>
              <a:rPr lang="en-US" dirty="0">
                <a:solidFill>
                  <a:srgbClr val="FF0000"/>
                </a:solidFill>
              </a:rPr>
              <a:t>="502" Timestamp="2018-08-13 13:34:28 (UTC)" </a:t>
            </a:r>
            <a:r>
              <a:rPr lang="en-US" dirty="0" err="1">
                <a:solidFill>
                  <a:srgbClr val="FF0000"/>
                </a:solidFill>
              </a:rPr>
              <a:t>CanaryIP</a:t>
            </a:r>
            <a:r>
              <a:rPr lang="en-US" dirty="0">
                <a:solidFill>
                  <a:srgbClr val="FF0000"/>
                </a:solidFill>
              </a:rPr>
              <a:t>="192.168.1.69" </a:t>
            </a:r>
            <a:r>
              <a:rPr lang="en-US" dirty="0" err="1">
                <a:solidFill>
                  <a:srgbClr val="FF0000"/>
                </a:solidFill>
              </a:rPr>
              <a:t>IncidentHash</a:t>
            </a:r>
            <a:r>
              <a:rPr lang="en-US" dirty="0">
                <a:solidFill>
                  <a:srgbClr val="FF0000"/>
                </a:solidFill>
              </a:rPr>
              <a:t>="dfc7b90a4d88315281b76283766e347b" </a:t>
            </a:r>
            <a:r>
              <a:rPr lang="en-US" dirty="0" err="1">
                <a:solidFill>
                  <a:srgbClr val="FF0000"/>
                </a:solidFill>
              </a:rPr>
              <a:t>CanaryLocation</a:t>
            </a:r>
            <a:r>
              <a:rPr lang="en-US" dirty="0">
                <a:solidFill>
                  <a:srgbClr val="FF0000"/>
                </a:solidFill>
              </a:rPr>
              <a:t>="Rack22 above switch" </a:t>
            </a:r>
            <a:r>
              <a:rPr lang="en-US" dirty="0" err="1">
                <a:solidFill>
                  <a:srgbClr val="FF0000"/>
                </a:solidFill>
              </a:rPr>
              <a:t>SourceIP</a:t>
            </a:r>
            <a:r>
              <a:rPr lang="en-US" dirty="0">
                <a:solidFill>
                  <a:srgbClr val="FF0000"/>
                </a:solidFill>
              </a:rPr>
              <a:t>="192.168.1.82" </a:t>
            </a:r>
            <a:r>
              <a:rPr lang="en-US" dirty="0" err="1">
                <a:solidFill>
                  <a:srgbClr val="FF0000"/>
                </a:solidFill>
              </a:rPr>
              <a:t>CanaryID</a:t>
            </a:r>
            <a:r>
              <a:rPr lang="en-US" dirty="0">
                <a:solidFill>
                  <a:srgbClr val="FF0000"/>
                </a:solidFill>
              </a:rPr>
              <a:t>="0000000018a22bf1"]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[AdditionalIncidentDetails@51136 </a:t>
            </a:r>
            <a:r>
              <a:rPr lang="en-US" dirty="0" err="1">
                <a:solidFill>
                  <a:srgbClr val="FF0000"/>
                </a:solidFill>
              </a:rPr>
              <a:t>Functioncode</a:t>
            </a:r>
            <a:r>
              <a:rPr lang="en-US" dirty="0">
                <a:solidFill>
                  <a:srgbClr val="FF0000"/>
                </a:solidFill>
              </a:rPr>
              <a:t>="17" </a:t>
            </a:r>
            <a:r>
              <a:rPr lang="en-US" dirty="0" err="1">
                <a:solidFill>
                  <a:srgbClr val="FF0000"/>
                </a:solidFill>
              </a:rPr>
              <a:t>Functionname</a:t>
            </a:r>
            <a:r>
              <a:rPr lang="en-US" dirty="0">
                <a:solidFill>
                  <a:srgbClr val="FF0000"/>
                </a:solidFill>
              </a:rPr>
              <a:t>="Report Slave ID"]</a:t>
            </a:r>
          </a:p>
          <a:p>
            <a:r>
              <a:rPr lang="en-US" dirty="0" err="1"/>
              <a:t>ModBus</a:t>
            </a:r>
            <a:r>
              <a:rPr lang="en-US" dirty="0"/>
              <a:t> Request has been detected against one of your Canaries</a:t>
            </a:r>
          </a:p>
          <a:p>
            <a:r>
              <a:rPr lang="en-US" dirty="0"/>
              <a:t>(intranet03.mycompany.com) at 192.168.1.69.</a:t>
            </a:r>
            <a:endParaRPr lang="ru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FCD665-4092-3B74-98AD-6FF930954342}"/>
              </a:ext>
            </a:extLst>
          </p:cNvPr>
          <p:cNvSpPr/>
          <p:nvPr/>
        </p:nvSpPr>
        <p:spPr>
          <a:xfrm>
            <a:off x="867266" y="1819621"/>
            <a:ext cx="54675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B3A7CD-9702-1073-8807-A305D6561F69}"/>
              </a:ext>
            </a:extLst>
          </p:cNvPr>
          <p:cNvSpPr/>
          <p:nvPr/>
        </p:nvSpPr>
        <p:spPr>
          <a:xfrm>
            <a:off x="1414021" y="1819621"/>
            <a:ext cx="2073897" cy="36933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E2E474-C8A7-C1AF-DBAE-D80BD9631459}"/>
              </a:ext>
            </a:extLst>
          </p:cNvPr>
          <p:cNvSpPr/>
          <p:nvPr/>
        </p:nvSpPr>
        <p:spPr>
          <a:xfrm>
            <a:off x="3576480" y="1819621"/>
            <a:ext cx="1297178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402188-9FD9-7B53-FD7D-6876F01AF2A8}"/>
              </a:ext>
            </a:extLst>
          </p:cNvPr>
          <p:cNvSpPr/>
          <p:nvPr/>
        </p:nvSpPr>
        <p:spPr>
          <a:xfrm>
            <a:off x="4943367" y="1818248"/>
            <a:ext cx="477044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143CE2-98D1-3C95-394A-02AD47AC03E3}"/>
              </a:ext>
            </a:extLst>
          </p:cNvPr>
          <p:cNvSpPr/>
          <p:nvPr/>
        </p:nvSpPr>
        <p:spPr>
          <a:xfrm>
            <a:off x="5490120" y="1818248"/>
            <a:ext cx="5834613" cy="36933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одержимое 2">
            <a:extLst>
              <a:ext uri="{FF2B5EF4-FFF2-40B4-BE49-F238E27FC236}">
                <a16:creationId xmlns:a16="http://schemas.microsoft.com/office/drawing/2014/main" id="{5F1BB9F6-7209-3267-6AEC-72F48AC0E891}"/>
              </a:ext>
            </a:extLst>
          </p:cNvPr>
          <p:cNvSpPr txBox="1">
            <a:spLocks/>
          </p:cNvSpPr>
          <p:nvPr/>
        </p:nvSpPr>
        <p:spPr>
          <a:xfrm>
            <a:off x="648032" y="1513715"/>
            <a:ext cx="985221" cy="3045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en-US" altLang="ru-RU" dirty="0"/>
              <a:t>PRI</a:t>
            </a:r>
            <a:endParaRPr lang="ru-RU" altLang="ru-RU" dirty="0"/>
          </a:p>
        </p:txBody>
      </p:sp>
      <p:sp>
        <p:nvSpPr>
          <p:cNvPr id="21" name="Содержимое 2">
            <a:extLst>
              <a:ext uri="{FF2B5EF4-FFF2-40B4-BE49-F238E27FC236}">
                <a16:creationId xmlns:a16="http://schemas.microsoft.com/office/drawing/2014/main" id="{6A01B516-CB4F-6092-47AB-65B3598AF496}"/>
              </a:ext>
            </a:extLst>
          </p:cNvPr>
          <p:cNvSpPr txBox="1">
            <a:spLocks/>
          </p:cNvSpPr>
          <p:nvPr/>
        </p:nvSpPr>
        <p:spPr>
          <a:xfrm>
            <a:off x="1465060" y="1541448"/>
            <a:ext cx="1971819" cy="249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ru-RU" sz="1800" dirty="0"/>
              <a:t>TIMESTAMP</a:t>
            </a:r>
            <a:endParaRPr lang="ru-RU" altLang="ru-RU" sz="1800" dirty="0"/>
          </a:p>
        </p:txBody>
      </p:sp>
      <p:sp>
        <p:nvSpPr>
          <p:cNvPr id="22" name="Содержимое 2">
            <a:extLst>
              <a:ext uri="{FF2B5EF4-FFF2-40B4-BE49-F238E27FC236}">
                <a16:creationId xmlns:a16="http://schemas.microsoft.com/office/drawing/2014/main" id="{38FD2531-12AC-E0B9-9EC8-10C43367696F}"/>
              </a:ext>
            </a:extLst>
          </p:cNvPr>
          <p:cNvSpPr txBox="1">
            <a:spLocks/>
          </p:cNvSpPr>
          <p:nvPr/>
        </p:nvSpPr>
        <p:spPr>
          <a:xfrm>
            <a:off x="3239160" y="1541448"/>
            <a:ext cx="1971819" cy="249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ru-RU" sz="1800" dirty="0"/>
              <a:t>HOSTNAME</a:t>
            </a:r>
            <a:endParaRPr lang="ru-RU" altLang="ru-RU" sz="1800" dirty="0"/>
          </a:p>
        </p:txBody>
      </p:sp>
      <p:sp>
        <p:nvSpPr>
          <p:cNvPr id="23" name="Содержимое 2">
            <a:extLst>
              <a:ext uri="{FF2B5EF4-FFF2-40B4-BE49-F238E27FC236}">
                <a16:creationId xmlns:a16="http://schemas.microsoft.com/office/drawing/2014/main" id="{E4ADEBB7-51CD-A4C9-E96B-BB7DEBC713D8}"/>
              </a:ext>
            </a:extLst>
          </p:cNvPr>
          <p:cNvSpPr txBox="1">
            <a:spLocks/>
          </p:cNvSpPr>
          <p:nvPr/>
        </p:nvSpPr>
        <p:spPr>
          <a:xfrm>
            <a:off x="4195980" y="1541448"/>
            <a:ext cx="1971819" cy="249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ru-RU" sz="1800" dirty="0"/>
              <a:t>TAG</a:t>
            </a:r>
            <a:endParaRPr lang="ru-RU" altLang="ru-RU" sz="1800" dirty="0"/>
          </a:p>
        </p:txBody>
      </p:sp>
      <p:sp>
        <p:nvSpPr>
          <p:cNvPr id="24" name="Содержимое 2">
            <a:extLst>
              <a:ext uri="{FF2B5EF4-FFF2-40B4-BE49-F238E27FC236}">
                <a16:creationId xmlns:a16="http://schemas.microsoft.com/office/drawing/2014/main" id="{471BA301-28F2-8777-7830-A5762FFFDB5B}"/>
              </a:ext>
            </a:extLst>
          </p:cNvPr>
          <p:cNvSpPr txBox="1">
            <a:spLocks/>
          </p:cNvSpPr>
          <p:nvPr/>
        </p:nvSpPr>
        <p:spPr>
          <a:xfrm>
            <a:off x="7421517" y="1541448"/>
            <a:ext cx="1971819" cy="249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ru-RU" sz="1800" dirty="0"/>
              <a:t>MSG</a:t>
            </a:r>
            <a:endParaRPr lang="ru-RU" altLang="ru-RU" sz="1800" dirty="0"/>
          </a:p>
        </p:txBody>
      </p:sp>
      <p:sp>
        <p:nvSpPr>
          <p:cNvPr id="25" name="Содержимое 2">
            <a:extLst>
              <a:ext uri="{FF2B5EF4-FFF2-40B4-BE49-F238E27FC236}">
                <a16:creationId xmlns:a16="http://schemas.microsoft.com/office/drawing/2014/main" id="{41ACA379-83CB-334C-AB3B-F4475A84E459}"/>
              </a:ext>
            </a:extLst>
          </p:cNvPr>
          <p:cNvSpPr txBox="1">
            <a:spLocks/>
          </p:cNvSpPr>
          <p:nvPr/>
        </p:nvSpPr>
        <p:spPr>
          <a:xfrm>
            <a:off x="0" y="1118751"/>
            <a:ext cx="6814354" cy="3477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ru-RU" altLang="ru-RU" sz="1800" b="1" dirty="0"/>
              <a:t>Сообщение </a:t>
            </a:r>
            <a:r>
              <a:rPr lang="en-US" altLang="ru-RU" sz="1800" b="1" dirty="0"/>
              <a:t>syslog RFC 3164:</a:t>
            </a:r>
            <a:endParaRPr lang="ru-RU" altLang="ru-RU" sz="1800" dirty="0"/>
          </a:p>
        </p:txBody>
      </p:sp>
      <p:sp>
        <p:nvSpPr>
          <p:cNvPr id="26" name="Содержимое 2">
            <a:extLst>
              <a:ext uri="{FF2B5EF4-FFF2-40B4-BE49-F238E27FC236}">
                <a16:creationId xmlns:a16="http://schemas.microsoft.com/office/drawing/2014/main" id="{EEB4702A-C7E3-9D65-244E-107F4AF3C7CE}"/>
              </a:ext>
            </a:extLst>
          </p:cNvPr>
          <p:cNvSpPr txBox="1">
            <a:spLocks/>
          </p:cNvSpPr>
          <p:nvPr/>
        </p:nvSpPr>
        <p:spPr>
          <a:xfrm>
            <a:off x="26297" y="2586487"/>
            <a:ext cx="6814354" cy="3477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ru-RU" altLang="ru-RU" sz="1800" b="1" dirty="0"/>
              <a:t>Сообщение </a:t>
            </a:r>
            <a:r>
              <a:rPr lang="en-US" altLang="ru-RU" sz="1800" b="1" dirty="0"/>
              <a:t>syslog RFC 5424:</a:t>
            </a:r>
            <a:endParaRPr lang="ru-RU" altLang="ru-RU" sz="1800" dirty="0"/>
          </a:p>
        </p:txBody>
      </p:sp>
      <p:sp>
        <p:nvSpPr>
          <p:cNvPr id="27" name="Содержимое 2">
            <a:extLst>
              <a:ext uri="{FF2B5EF4-FFF2-40B4-BE49-F238E27FC236}">
                <a16:creationId xmlns:a16="http://schemas.microsoft.com/office/drawing/2014/main" id="{35AC9962-C910-0402-01EE-16F810ACFFA3}"/>
              </a:ext>
            </a:extLst>
          </p:cNvPr>
          <p:cNvSpPr txBox="1">
            <a:spLocks/>
          </p:cNvSpPr>
          <p:nvPr/>
        </p:nvSpPr>
        <p:spPr>
          <a:xfrm>
            <a:off x="737212" y="2870045"/>
            <a:ext cx="985221" cy="3045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en-US" altLang="ru-RU" dirty="0">
                <a:solidFill>
                  <a:srgbClr val="FF0000"/>
                </a:solidFill>
              </a:rPr>
              <a:t>PRI</a:t>
            </a:r>
            <a:endParaRPr lang="ru-RU" altLang="ru-RU" dirty="0">
              <a:solidFill>
                <a:srgbClr val="FF0000"/>
              </a:solidFill>
            </a:endParaRPr>
          </a:p>
        </p:txBody>
      </p:sp>
      <p:sp>
        <p:nvSpPr>
          <p:cNvPr id="28" name="Содержимое 2">
            <a:extLst>
              <a:ext uri="{FF2B5EF4-FFF2-40B4-BE49-F238E27FC236}">
                <a16:creationId xmlns:a16="http://schemas.microsoft.com/office/drawing/2014/main" id="{53B02837-0BF4-B149-AD58-2168498CB972}"/>
              </a:ext>
            </a:extLst>
          </p:cNvPr>
          <p:cNvSpPr txBox="1">
            <a:spLocks/>
          </p:cNvSpPr>
          <p:nvPr/>
        </p:nvSpPr>
        <p:spPr>
          <a:xfrm>
            <a:off x="2971548" y="2870045"/>
            <a:ext cx="1971819" cy="249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ru-RU" sz="1800" dirty="0">
                <a:solidFill>
                  <a:srgbClr val="8DBAE2"/>
                </a:solidFill>
              </a:rPr>
              <a:t>TIMESTAMP</a:t>
            </a:r>
            <a:endParaRPr lang="ru-RU" altLang="ru-RU" sz="1800" dirty="0">
              <a:solidFill>
                <a:srgbClr val="8DBAE2"/>
              </a:solidFill>
            </a:endParaRPr>
          </a:p>
        </p:txBody>
      </p:sp>
      <p:sp>
        <p:nvSpPr>
          <p:cNvPr id="29" name="Содержимое 2">
            <a:extLst>
              <a:ext uri="{FF2B5EF4-FFF2-40B4-BE49-F238E27FC236}">
                <a16:creationId xmlns:a16="http://schemas.microsoft.com/office/drawing/2014/main" id="{831CEE2A-7EB4-8919-C2E6-3B803E48C36D}"/>
              </a:ext>
            </a:extLst>
          </p:cNvPr>
          <p:cNvSpPr txBox="1">
            <a:spLocks/>
          </p:cNvSpPr>
          <p:nvPr/>
        </p:nvSpPr>
        <p:spPr>
          <a:xfrm>
            <a:off x="6285694" y="2870045"/>
            <a:ext cx="1971819" cy="249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ru-RU" sz="1800" dirty="0">
                <a:solidFill>
                  <a:srgbClr val="FFC000"/>
                </a:solidFill>
              </a:rPr>
              <a:t>HOSTNAME</a:t>
            </a:r>
            <a:endParaRPr lang="ru-RU" altLang="ru-RU" sz="1800" dirty="0">
              <a:solidFill>
                <a:srgbClr val="FFC000"/>
              </a:solidFill>
            </a:endParaRPr>
          </a:p>
        </p:txBody>
      </p:sp>
      <p:sp>
        <p:nvSpPr>
          <p:cNvPr id="30" name="Содержимое 2">
            <a:extLst>
              <a:ext uri="{FF2B5EF4-FFF2-40B4-BE49-F238E27FC236}">
                <a16:creationId xmlns:a16="http://schemas.microsoft.com/office/drawing/2014/main" id="{91A0DED1-C354-1726-03A0-424B0030F22E}"/>
              </a:ext>
            </a:extLst>
          </p:cNvPr>
          <p:cNvSpPr txBox="1">
            <a:spLocks/>
          </p:cNvSpPr>
          <p:nvPr/>
        </p:nvSpPr>
        <p:spPr>
          <a:xfrm>
            <a:off x="8142957" y="2870045"/>
            <a:ext cx="1971819" cy="249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ru-RU" sz="1800" dirty="0">
                <a:solidFill>
                  <a:srgbClr val="556F43"/>
                </a:solidFill>
              </a:rPr>
              <a:t>APPNAME</a:t>
            </a:r>
            <a:endParaRPr lang="ru-RU" altLang="ru-RU" sz="1800" dirty="0">
              <a:solidFill>
                <a:srgbClr val="556F43"/>
              </a:solidFill>
            </a:endParaRPr>
          </a:p>
        </p:txBody>
      </p:sp>
      <p:sp>
        <p:nvSpPr>
          <p:cNvPr id="31" name="Содержимое 2">
            <a:extLst>
              <a:ext uri="{FF2B5EF4-FFF2-40B4-BE49-F238E27FC236}">
                <a16:creationId xmlns:a16="http://schemas.microsoft.com/office/drawing/2014/main" id="{70D525DD-5222-70D1-3AB1-6E8EB7323565}"/>
              </a:ext>
            </a:extLst>
          </p:cNvPr>
          <p:cNvSpPr txBox="1">
            <a:spLocks/>
          </p:cNvSpPr>
          <p:nvPr/>
        </p:nvSpPr>
        <p:spPr>
          <a:xfrm>
            <a:off x="9439740" y="2870045"/>
            <a:ext cx="1971819" cy="249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ru-RU" sz="1800" dirty="0">
                <a:solidFill>
                  <a:srgbClr val="7030A0"/>
                </a:solidFill>
              </a:rPr>
              <a:t>PROCID</a:t>
            </a:r>
            <a:endParaRPr lang="ru-RU" altLang="ru-RU" sz="1800" dirty="0">
              <a:solidFill>
                <a:srgbClr val="7030A0"/>
              </a:solidFill>
            </a:endParaRPr>
          </a:p>
        </p:txBody>
      </p:sp>
      <p:sp>
        <p:nvSpPr>
          <p:cNvPr id="32" name="Содержимое 2">
            <a:extLst>
              <a:ext uri="{FF2B5EF4-FFF2-40B4-BE49-F238E27FC236}">
                <a16:creationId xmlns:a16="http://schemas.microsoft.com/office/drawing/2014/main" id="{C67D01AA-F89A-7CDA-C000-B7E3669B447E}"/>
              </a:ext>
            </a:extLst>
          </p:cNvPr>
          <p:cNvSpPr txBox="1">
            <a:spLocks/>
          </p:cNvSpPr>
          <p:nvPr/>
        </p:nvSpPr>
        <p:spPr>
          <a:xfrm>
            <a:off x="-117955" y="3390276"/>
            <a:ext cx="985221" cy="249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ru-RU" sz="1800" dirty="0">
                <a:solidFill>
                  <a:srgbClr val="42C4F4"/>
                </a:solidFill>
              </a:rPr>
              <a:t>MSGID</a:t>
            </a:r>
            <a:endParaRPr lang="ru-RU" altLang="ru-RU" sz="1800" dirty="0">
              <a:solidFill>
                <a:srgbClr val="42C4F4"/>
              </a:solidFill>
            </a:endParaRPr>
          </a:p>
        </p:txBody>
      </p:sp>
      <p:sp>
        <p:nvSpPr>
          <p:cNvPr id="33" name="Содержимое 2">
            <a:extLst>
              <a:ext uri="{FF2B5EF4-FFF2-40B4-BE49-F238E27FC236}">
                <a16:creationId xmlns:a16="http://schemas.microsoft.com/office/drawing/2014/main" id="{815C37F2-E108-C7F1-4A91-E4C17841C32F}"/>
              </a:ext>
            </a:extLst>
          </p:cNvPr>
          <p:cNvSpPr txBox="1">
            <a:spLocks/>
          </p:cNvSpPr>
          <p:nvPr/>
        </p:nvSpPr>
        <p:spPr>
          <a:xfrm>
            <a:off x="-272652" y="4563691"/>
            <a:ext cx="985221" cy="249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ru-RU" sz="1800" dirty="0">
                <a:solidFill>
                  <a:srgbClr val="FF7474"/>
                </a:solidFill>
              </a:rPr>
              <a:t>SD</a:t>
            </a:r>
            <a:endParaRPr lang="ru-RU" altLang="ru-RU" sz="1800" dirty="0">
              <a:solidFill>
                <a:srgbClr val="FF7474"/>
              </a:solidFill>
            </a:endParaRPr>
          </a:p>
        </p:txBody>
      </p:sp>
      <p:sp>
        <p:nvSpPr>
          <p:cNvPr id="34" name="Right Bracket 33">
            <a:extLst>
              <a:ext uri="{FF2B5EF4-FFF2-40B4-BE49-F238E27FC236}">
                <a16:creationId xmlns:a16="http://schemas.microsoft.com/office/drawing/2014/main" id="{D727AF03-5E3C-F27C-FF4B-43DA1B5A3869}"/>
              </a:ext>
            </a:extLst>
          </p:cNvPr>
          <p:cNvSpPr/>
          <p:nvPr/>
        </p:nvSpPr>
        <p:spPr>
          <a:xfrm rot="10800000">
            <a:off x="780440" y="3660020"/>
            <a:ext cx="347564" cy="2194023"/>
          </a:xfrm>
          <a:prstGeom prst="rightBracket">
            <a:avLst>
              <a:gd name="adj" fmla="val 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Содержимое 2">
            <a:extLst>
              <a:ext uri="{FF2B5EF4-FFF2-40B4-BE49-F238E27FC236}">
                <a16:creationId xmlns:a16="http://schemas.microsoft.com/office/drawing/2014/main" id="{27018A0E-843D-2B25-ECB5-7DE265E1CBC5}"/>
              </a:ext>
            </a:extLst>
          </p:cNvPr>
          <p:cNvSpPr txBox="1">
            <a:spLocks/>
          </p:cNvSpPr>
          <p:nvPr/>
        </p:nvSpPr>
        <p:spPr>
          <a:xfrm>
            <a:off x="-506759" y="5986712"/>
            <a:ext cx="1971819" cy="249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ru-RU" sz="1800" dirty="0"/>
              <a:t>MSG</a:t>
            </a:r>
            <a:endParaRPr lang="ru-RU" altLang="ru-RU" sz="1800" dirty="0"/>
          </a:p>
        </p:txBody>
      </p:sp>
      <p:sp>
        <p:nvSpPr>
          <p:cNvPr id="36" name="Содержимое 2">
            <a:extLst>
              <a:ext uri="{FF2B5EF4-FFF2-40B4-BE49-F238E27FC236}">
                <a16:creationId xmlns:a16="http://schemas.microsoft.com/office/drawing/2014/main" id="{54F019BD-C235-1272-2547-C717DA81854E}"/>
              </a:ext>
            </a:extLst>
          </p:cNvPr>
          <p:cNvSpPr txBox="1">
            <a:spLocks/>
          </p:cNvSpPr>
          <p:nvPr/>
        </p:nvSpPr>
        <p:spPr>
          <a:xfrm>
            <a:off x="1465060" y="2870045"/>
            <a:ext cx="1172556" cy="3045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 algn="l"/>
            <a:r>
              <a:rPr lang="en-US" altLang="ru-RU" dirty="0">
                <a:solidFill>
                  <a:srgbClr val="00B050"/>
                </a:solidFill>
              </a:rPr>
              <a:t>VERSION</a:t>
            </a:r>
            <a:endParaRPr lang="ru-RU" altLang="ru-R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0697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D5961-7C98-01E4-C534-7EEBB4553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50DC3E9-971B-2E16-2389-29CDABF20779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F0B62997-2841-F1C6-3ABE-5F2729E7098C}"/>
              </a:ext>
            </a:extLst>
          </p:cNvPr>
          <p:cNvSpPr txBox="1"/>
          <p:nvPr/>
        </p:nvSpPr>
        <p:spPr>
          <a:xfrm>
            <a:off x="2402378" y="219959"/>
            <a:ext cx="9449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Конфигурации (в широком смысле)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B25343-A92F-B48F-0C90-64B7B4514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27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044D1A3E-3C7A-B33B-5F55-37EC2BB5CA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B6F6A9-AB9E-4C15-8CF6-D02136828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455" y="1546006"/>
            <a:ext cx="5335089" cy="432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1977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0B872-516D-F945-99E5-E7D14384C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06D5C55-848D-B523-4B55-7C050657A81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B7BEC0E2-9F8C-4C89-C961-EE68CD22D54E}"/>
              </a:ext>
            </a:extLst>
          </p:cNvPr>
          <p:cNvSpPr txBox="1"/>
          <p:nvPr/>
        </p:nvSpPr>
        <p:spPr>
          <a:xfrm>
            <a:off x="2402378" y="219959"/>
            <a:ext cx="9449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Текстовые конфигурации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720E8D-70FF-5059-DD06-6EA15E86E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28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FF47E793-219F-19C4-5470-1F2C70A3D8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01C0C4-0128-950C-AFB3-891C9EAC8DA4}"/>
              </a:ext>
            </a:extLst>
          </p:cNvPr>
          <p:cNvSpPr txBox="1"/>
          <p:nvPr/>
        </p:nvSpPr>
        <p:spPr>
          <a:xfrm>
            <a:off x="6003034" y="1118751"/>
            <a:ext cx="609442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Router# show running-config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Building configuration...</a:t>
            </a:r>
          </a:p>
          <a:p>
            <a:pPr algn="l">
              <a:buNone/>
            </a:pPr>
            <a:endParaRPr lang="en-US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Current configuration : 3781 bytes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!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hostname Core-Router-01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!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!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interface GigabitEthernet0/0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ip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address 192.168.1.1 255.255.255.0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duplex auto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speed auto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!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interface GigabitEthernet0/1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ip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address 10.0.0.1 255.255.255.252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!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router 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ospf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1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network 192.168.1.0 0.0.0.255 area 0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!</a:t>
            </a:r>
          </a:p>
          <a:p>
            <a:pPr algn="l"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end</a:t>
            </a:r>
          </a:p>
        </p:txBody>
      </p:sp>
      <p:sp>
        <p:nvSpPr>
          <p:cNvPr id="8" name="Содержимое 2">
            <a:extLst>
              <a:ext uri="{FF2B5EF4-FFF2-40B4-BE49-F238E27FC236}">
                <a16:creationId xmlns:a16="http://schemas.microsoft.com/office/drawing/2014/main" id="{DB97A572-6A81-5D79-9B39-4691919181E5}"/>
              </a:ext>
            </a:extLst>
          </p:cNvPr>
          <p:cNvSpPr txBox="1">
            <a:spLocks/>
          </p:cNvSpPr>
          <p:nvPr/>
        </p:nvSpPr>
        <p:spPr>
          <a:xfrm>
            <a:off x="92284" y="1526742"/>
            <a:ext cx="5488384" cy="5011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ru-RU" altLang="ru-RU" sz="1800" b="1" dirty="0"/>
              <a:t>Текстовое представление конфигурации</a:t>
            </a:r>
            <a:r>
              <a:rPr lang="en-US" altLang="ru-RU" sz="1800" b="1" dirty="0"/>
              <a:t>:</a:t>
            </a:r>
            <a:endParaRPr lang="en-US" altLang="ru-RU" sz="1800" dirty="0"/>
          </a:p>
          <a:p>
            <a:pPr lvl="1"/>
            <a:r>
              <a:rPr lang="ru-RU" altLang="ru-RU" sz="1800" dirty="0"/>
              <a:t>Это текст!</a:t>
            </a:r>
          </a:p>
          <a:p>
            <a:pPr lvl="1"/>
            <a:r>
              <a:rPr lang="ru-RU" altLang="ru-RU" sz="1800" dirty="0"/>
              <a:t>Легко выявлять изменения</a:t>
            </a:r>
          </a:p>
          <a:p>
            <a:pPr lvl="1"/>
            <a:r>
              <a:rPr lang="ru-RU" altLang="ru-RU" sz="1800" dirty="0"/>
              <a:t>Конфигурация </a:t>
            </a:r>
            <a:r>
              <a:rPr lang="ru-RU" altLang="ru-RU" sz="1800" dirty="0" err="1"/>
              <a:t>человекочитаема</a:t>
            </a:r>
            <a:r>
              <a:rPr lang="ru-RU" altLang="ru-RU" sz="1800" dirty="0"/>
              <a:t> (но не всегда!)</a:t>
            </a:r>
          </a:p>
          <a:p>
            <a:pPr lvl="1"/>
            <a:r>
              <a:rPr lang="ru-RU" altLang="ru-RU" sz="1800" dirty="0"/>
              <a:t>Малейшие изменения синтаксиса нарушают обработку</a:t>
            </a:r>
          </a:p>
          <a:p>
            <a:pPr lvl="1"/>
            <a:r>
              <a:rPr lang="ru-RU" altLang="ru-RU" sz="1800" dirty="0"/>
              <a:t>Нет семантики внутри конфигурации (если не анализировать сам текст)</a:t>
            </a:r>
          </a:p>
          <a:p>
            <a:pPr lvl="1"/>
            <a:endParaRPr lang="ru-RU" altLang="ru-RU" sz="1800" dirty="0"/>
          </a:p>
        </p:txBody>
      </p:sp>
    </p:spTree>
    <p:extLst>
      <p:ext uri="{BB962C8B-B14F-4D97-AF65-F5344CB8AC3E}">
        <p14:creationId xmlns:p14="http://schemas.microsoft.com/office/powerpoint/2010/main" val="1680043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03279-995C-155E-E5DB-37922E416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C1EA1BA-0882-FF60-4979-A7D50A80422D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CE35603D-F386-A0A9-EBFA-41FEFB7152D4}"/>
              </a:ext>
            </a:extLst>
          </p:cNvPr>
          <p:cNvSpPr txBox="1"/>
          <p:nvPr/>
        </p:nvSpPr>
        <p:spPr>
          <a:xfrm>
            <a:off x="2402378" y="219959"/>
            <a:ext cx="9449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Стандартизация конфигураций – </a:t>
            </a:r>
            <a:r>
              <a:rPr lang="en-US" sz="2800" b="1" dirty="0">
                <a:solidFill>
                  <a:srgbClr val="FF0000"/>
                </a:solidFill>
              </a:rPr>
              <a:t>SNMP MIB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F0B824-4DC1-CA11-B5AD-5F91E2483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29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B1CE7FC2-F1CC-48F5-3239-96C2348A8D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8" name="Содержимое 2">
            <a:extLst>
              <a:ext uri="{FF2B5EF4-FFF2-40B4-BE49-F238E27FC236}">
                <a16:creationId xmlns:a16="http://schemas.microsoft.com/office/drawing/2014/main" id="{EE6CF21D-490D-328E-178F-620A5185EA67}"/>
              </a:ext>
            </a:extLst>
          </p:cNvPr>
          <p:cNvSpPr txBox="1">
            <a:spLocks/>
          </p:cNvSpPr>
          <p:nvPr/>
        </p:nvSpPr>
        <p:spPr>
          <a:xfrm>
            <a:off x="92283" y="1526742"/>
            <a:ext cx="5856029" cy="5011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altLang="ru-RU" sz="1800" b="1" dirty="0"/>
              <a:t>Management Information Base (MIB):</a:t>
            </a:r>
            <a:endParaRPr lang="en-US" altLang="ru-RU" sz="1800" dirty="0"/>
          </a:p>
          <a:p>
            <a:pPr lvl="1"/>
            <a:r>
              <a:rPr lang="ru-RU" altLang="ru-RU" sz="1800" dirty="0"/>
              <a:t>Набор иерархических значений, закодированных идентификаторами </a:t>
            </a:r>
            <a:r>
              <a:rPr lang="en-US" altLang="ru-RU" sz="1800" dirty="0"/>
              <a:t>Object ID (OID)</a:t>
            </a:r>
          </a:p>
          <a:p>
            <a:pPr lvl="1"/>
            <a:r>
              <a:rPr lang="ru-RU" altLang="ru-RU" sz="1800" dirty="0"/>
              <a:t>Значения могут быть скалярами и таблицами</a:t>
            </a:r>
          </a:p>
          <a:p>
            <a:pPr lvl="1"/>
            <a:r>
              <a:rPr lang="ru-RU" altLang="ru-RU" sz="1800" dirty="0"/>
              <a:t>Есть стандартные </a:t>
            </a:r>
            <a:r>
              <a:rPr lang="en-US" altLang="ru-RU" sz="1800" dirty="0"/>
              <a:t>MIB </a:t>
            </a:r>
            <a:r>
              <a:rPr lang="ru-RU" altLang="ru-RU" sz="1800" dirty="0"/>
              <a:t>для типов устройств (например, сетевой узел) и есть специализированные </a:t>
            </a:r>
            <a:r>
              <a:rPr lang="en-US" altLang="ru-RU" sz="1800" dirty="0"/>
              <a:t>MIB </a:t>
            </a:r>
            <a:r>
              <a:rPr lang="ru-RU" altLang="ru-RU" sz="1800" dirty="0"/>
              <a:t>конкретных экземпляров устройств (от производителей устройства)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44AA25-8FFC-BBC3-F570-896E2E87B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315" y="1623192"/>
            <a:ext cx="4778877" cy="431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927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A1EA-07FF-F790-052D-4043EF9A3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714F700-22EA-7CA2-9430-93A4BD4FC726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8649C5ED-7BA4-E8CE-4195-75BB127E6BEF}"/>
              </a:ext>
            </a:extLst>
          </p:cNvPr>
          <p:cNvSpPr txBox="1"/>
          <p:nvPr/>
        </p:nvSpPr>
        <p:spPr>
          <a:xfrm>
            <a:off x="2402378" y="219959"/>
            <a:ext cx="9449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Стандартизация конфигураций – </a:t>
            </a:r>
            <a:r>
              <a:rPr lang="en-US" sz="2800" b="1" dirty="0">
                <a:solidFill>
                  <a:srgbClr val="FF0000"/>
                </a:solidFill>
              </a:rPr>
              <a:t>SNMP MIB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FEF99F-9A3E-D7A7-624E-EF23BFBB3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30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69033654-10AB-C21B-C1D4-6A43B7D07B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8" name="Содержимое 2">
            <a:extLst>
              <a:ext uri="{FF2B5EF4-FFF2-40B4-BE49-F238E27FC236}">
                <a16:creationId xmlns:a16="http://schemas.microsoft.com/office/drawing/2014/main" id="{5BCDAF83-E25A-4FDB-7E87-1BCBE9E3CEEA}"/>
              </a:ext>
            </a:extLst>
          </p:cNvPr>
          <p:cNvSpPr txBox="1">
            <a:spLocks/>
          </p:cNvSpPr>
          <p:nvPr/>
        </p:nvSpPr>
        <p:spPr>
          <a:xfrm>
            <a:off x="92283" y="1526742"/>
            <a:ext cx="5856029" cy="50116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ru-RU" altLang="ru-RU" sz="1800" b="1" dirty="0"/>
              <a:t>Структура описания </a:t>
            </a:r>
            <a:r>
              <a:rPr lang="en-US" altLang="ru-RU" sz="1800" b="1" dirty="0"/>
              <a:t>OID:</a:t>
            </a:r>
            <a:endParaRPr lang="en-US" altLang="ru-RU" sz="1800" dirty="0"/>
          </a:p>
          <a:p>
            <a:pPr lvl="1"/>
            <a:r>
              <a:rPr lang="ru-RU" altLang="ru-RU" sz="1800" dirty="0"/>
              <a:t>Строкове имя</a:t>
            </a:r>
          </a:p>
          <a:p>
            <a:pPr lvl="1"/>
            <a:r>
              <a:rPr lang="ru-RU" altLang="ru-RU" sz="1800" dirty="0"/>
              <a:t>Строка </a:t>
            </a:r>
            <a:r>
              <a:rPr lang="en-US" altLang="ru-RU" sz="1800" dirty="0"/>
              <a:t>OID </a:t>
            </a:r>
          </a:p>
          <a:p>
            <a:pPr lvl="1"/>
            <a:r>
              <a:rPr lang="ru-RU" altLang="ru-RU" sz="1800" dirty="0"/>
              <a:t>Тип данных (синтаксис)</a:t>
            </a:r>
          </a:p>
          <a:p>
            <a:pPr lvl="1"/>
            <a:r>
              <a:rPr lang="ru-RU" altLang="ru-RU" sz="1800" dirty="0"/>
              <a:t>Статус обязательности</a:t>
            </a:r>
          </a:p>
          <a:p>
            <a:pPr lvl="1"/>
            <a:r>
              <a:rPr lang="ru-RU" altLang="ru-RU" sz="1800" dirty="0"/>
              <a:t>Политика доступа (только чтение или с возможностью записи)</a:t>
            </a:r>
          </a:p>
          <a:p>
            <a:pPr lvl="1"/>
            <a:r>
              <a:rPr lang="ru-RU" altLang="ru-RU" sz="1800" dirty="0"/>
              <a:t>Описание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2E6241-0FCC-E118-C33E-70554B2C4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512" y="1296382"/>
            <a:ext cx="5067300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0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C5523-E518-BE6C-6E40-463FAD12F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FA3BF65-28CD-3E16-88ED-FEBDF2567A3D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C423E46D-2B31-E598-4FDF-303C424758E5}"/>
              </a:ext>
            </a:extLst>
          </p:cNvPr>
          <p:cNvSpPr txBox="1"/>
          <p:nvPr/>
        </p:nvSpPr>
        <p:spPr>
          <a:xfrm>
            <a:off x="2402378" y="219959"/>
            <a:ext cx="9449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Уязвимости и контроль соответствия требованиям. </a:t>
            </a:r>
            <a:r>
              <a:rPr lang="en-US" sz="2800" b="1" dirty="0">
                <a:solidFill>
                  <a:srgbClr val="FF0000"/>
                </a:solidFill>
              </a:rPr>
              <a:t>OVAL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0C8FF8-D39D-40ED-3561-B6D9DD69A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31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C9C5C436-2920-41F0-C577-B2054388DF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67D77C-6073-3829-237E-D07149935A57}"/>
              </a:ext>
            </a:extLst>
          </p:cNvPr>
          <p:cNvSpPr txBox="1"/>
          <p:nvPr/>
        </p:nvSpPr>
        <p:spPr>
          <a:xfrm>
            <a:off x="603100" y="2136338"/>
            <a:ext cx="463820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Структура проверок </a:t>
            </a:r>
            <a:r>
              <a:rPr lang="en-US" b="1" dirty="0"/>
              <a:t>OVAL:</a:t>
            </a:r>
          </a:p>
          <a:p>
            <a:pPr marL="342900" indent="-342900">
              <a:buAutoNum type="arabicPeriod"/>
            </a:pPr>
            <a:r>
              <a:rPr lang="en-US" dirty="0"/>
              <a:t>Definition – </a:t>
            </a:r>
            <a:r>
              <a:rPr lang="ru-RU" dirty="0"/>
              <a:t>что проверяем</a:t>
            </a:r>
          </a:p>
          <a:p>
            <a:pPr marL="342900" indent="-342900">
              <a:buAutoNum type="arabicPeriod"/>
            </a:pPr>
            <a:r>
              <a:rPr lang="en-US" dirty="0"/>
              <a:t>Tests – </a:t>
            </a:r>
            <a:r>
              <a:rPr lang="ru-RU" dirty="0"/>
              <a:t>наборы конкретных проверок для </a:t>
            </a:r>
            <a:r>
              <a:rPr lang="en-US" dirty="0"/>
              <a:t>Definition</a:t>
            </a:r>
          </a:p>
          <a:p>
            <a:pPr marL="342900" indent="-342900">
              <a:buAutoNum type="arabicPeriod"/>
            </a:pPr>
            <a:r>
              <a:rPr lang="en-US" dirty="0"/>
              <a:t>Objects – </a:t>
            </a:r>
            <a:r>
              <a:rPr lang="ru-RU" dirty="0"/>
              <a:t>элементы конфигурации, фигурирующие в тестах</a:t>
            </a:r>
          </a:p>
          <a:p>
            <a:pPr marL="342900" indent="-342900">
              <a:buAutoNum type="arabicPeriod"/>
            </a:pPr>
            <a:r>
              <a:rPr lang="en-US" dirty="0"/>
              <a:t>States – </a:t>
            </a:r>
            <a:r>
              <a:rPr lang="ru-RU" dirty="0"/>
              <a:t>эталонные значения для элементов конфигурации</a:t>
            </a:r>
          </a:p>
          <a:p>
            <a:pPr marL="342900" indent="-342900">
              <a:buAutoNum type="arabicPeriod"/>
            </a:pPr>
            <a:r>
              <a:rPr lang="en-US" dirty="0"/>
              <a:t>Variables – </a:t>
            </a:r>
            <a:r>
              <a:rPr lang="ru-RU" dirty="0"/>
              <a:t>некоторые переменные для тестов (опционально)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344555-8AD0-74E2-E0CF-A46A63ED1914}"/>
              </a:ext>
            </a:extLst>
          </p:cNvPr>
          <p:cNvSpPr txBox="1"/>
          <p:nvPr/>
        </p:nvSpPr>
        <p:spPr>
          <a:xfrm>
            <a:off x="5241303" y="1979129"/>
            <a:ext cx="682579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oval_definitions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├── &lt;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definitions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  ← "Проверь CVE-2021-44228"</a:t>
            </a:r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│     └── &lt;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definition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│           └── &lt;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criteria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 ←  логика AND/OR</a:t>
            </a:r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│                 └── &lt;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criterion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test_ref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="..." /&gt;</a:t>
            </a:r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│</a:t>
            </a:r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├── &lt;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tests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        ← "Проверь версию пакета log4j"</a:t>
            </a:r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│     └── &lt;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object_ref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="..." 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state_ref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="..." /&gt;</a:t>
            </a:r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│</a:t>
            </a:r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├── &lt;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objects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      ← "Пакет с именем log4j"</a:t>
            </a:r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│     └── &lt;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│           └── &lt;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&gt;log4j&lt;/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│</a:t>
            </a:r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└── &lt;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states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       ← "Версия меньше 2.15.0"</a:t>
            </a:r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└── &lt;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└── &lt;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evr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operation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less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than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"&gt;2.15.0&lt;/</a:t>
            </a:r>
            <a:r>
              <a:rPr lang="ru-RU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evr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1638947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1B13E-A7B9-2BA4-60D2-40D6B6130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8D9B36B-6082-73E7-72DC-67CA2CB94A5C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C8692B4F-4F10-6398-DE39-4CFEF601B4A7}"/>
              </a:ext>
            </a:extLst>
          </p:cNvPr>
          <p:cNvSpPr txBox="1"/>
          <p:nvPr/>
        </p:nvSpPr>
        <p:spPr>
          <a:xfrm>
            <a:off x="2402378" y="219959"/>
            <a:ext cx="9449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Пример проверки </a:t>
            </a:r>
            <a:r>
              <a:rPr lang="en-US" sz="2800" b="1" dirty="0">
                <a:solidFill>
                  <a:srgbClr val="FF0000"/>
                </a:solidFill>
              </a:rPr>
              <a:t>OVAL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6AAD4A-B19C-2833-37AF-30A71BEF4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32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F2668B34-2A7C-B873-6B91-9B8372529D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EEF926C-55A7-85CD-0D10-C5F92F260A23}"/>
              </a:ext>
            </a:extLst>
          </p:cNvPr>
          <p:cNvSpPr txBox="1"/>
          <p:nvPr/>
        </p:nvSpPr>
        <p:spPr>
          <a:xfrm>
            <a:off x="153161" y="1233011"/>
            <a:ext cx="6096000" cy="4832092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buNone/>
            </a:pP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100" b="1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100" b="1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id=</a:t>
            </a:r>
            <a:r>
              <a:rPr lang="en-US" sz="11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"oval:org.example:def:20"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class=</a:t>
            </a:r>
            <a:r>
              <a:rPr lang="en-US" sz="11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"vulnerability"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100" b="1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metadata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100" b="1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CVE-2017-0144: SMBv1 </a:t>
            </a:r>
            <a:r>
              <a:rPr lang="ru-RU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включён</a:t>
            </a: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100" dirty="0" err="1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EternalBlue</a:t>
            </a: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1100" b="1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100" b="1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source=</a:t>
            </a:r>
            <a:r>
              <a:rPr lang="en-US" sz="11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"CVE"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ref_id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1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"CVE-2017-0144"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1100" b="1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metadata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100" b="1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criteria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operator=</a:t>
            </a:r>
            <a:r>
              <a:rPr lang="en-US" sz="11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"AND"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100" dirty="0">
                <a:solidFill>
                  <a:srgbClr val="69707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&lt;!-- Windows + SMBv1 </a:t>
            </a:r>
            <a:r>
              <a:rPr lang="ru-RU" sz="1100" dirty="0">
                <a:solidFill>
                  <a:srgbClr val="69707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включён в реестре</a:t>
            </a:r>
            <a:r>
              <a:rPr lang="en-US" sz="1100" dirty="0">
                <a:solidFill>
                  <a:srgbClr val="69707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--&gt;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100" b="1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criterion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test_ref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1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"oval:org.example:tst:20"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comment=</a:t>
            </a:r>
            <a:r>
              <a:rPr lang="en-US" sz="11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11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Проверка</a:t>
            </a:r>
            <a:r>
              <a:rPr lang="en-US" sz="11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Windows OS"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100" b="1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criterion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test_ref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1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"oval:org.example:tst:21"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ru-RU" sz="1100" dirty="0" err="1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comment</a:t>
            </a:r>
            <a:r>
              <a:rPr lang="ru-RU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sz="11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"SMBv1 включён в реестре"</a:t>
            </a:r>
            <a:r>
              <a:rPr lang="ru-RU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1100" b="1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criteria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1100" b="1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1100" b="1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>
              <a:buNone/>
            </a:pPr>
            <a:r>
              <a:rPr lang="en-US" sz="1100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100" b="1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tests</a:t>
            </a:r>
            <a:r>
              <a:rPr lang="en-US" sz="1100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rgbClr val="444444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100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100" b="1" dirty="0" err="1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registry_test</a:t>
            </a:r>
            <a:r>
              <a:rPr lang="en-US" sz="1100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id=</a:t>
            </a:r>
            <a:r>
              <a:rPr lang="en-US" sz="1100" dirty="0">
                <a:solidFill>
                  <a:srgbClr val="88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"oval:org.example:tst:21"</a:t>
            </a:r>
            <a:r>
              <a:rPr lang="en-US" sz="1100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version=</a:t>
            </a:r>
            <a:r>
              <a:rPr lang="en-US" sz="1100" dirty="0">
                <a:solidFill>
                  <a:srgbClr val="88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"1"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check=</a:t>
            </a:r>
            <a:r>
              <a:rPr lang="en-US" sz="1100" dirty="0">
                <a:solidFill>
                  <a:srgbClr val="88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"at least one"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1100" dirty="0" err="1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xmlns</a:t>
            </a:r>
            <a:r>
              <a:rPr lang="en-US" sz="1100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100" dirty="0">
                <a:solidFill>
                  <a:srgbClr val="88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"...#windows"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ru-RU" sz="1100" dirty="0" err="1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comment</a:t>
            </a:r>
            <a:r>
              <a:rPr lang="ru-RU" sz="1100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sz="1100" dirty="0">
                <a:solidFill>
                  <a:srgbClr val="88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"SMBv1 должен быть отключён (значение = 0)"</a:t>
            </a:r>
            <a:r>
              <a:rPr lang="ru-RU" sz="1100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100" dirty="0">
                <a:solidFill>
                  <a:srgbClr val="444444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100" b="1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sz="1100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object_ref</a:t>
            </a:r>
            <a:r>
              <a:rPr lang="en-US" sz="1100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100" dirty="0">
                <a:solidFill>
                  <a:srgbClr val="88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"oval:org.example:obj:21"</a:t>
            </a:r>
            <a:r>
              <a:rPr lang="en-US" sz="1100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rgbClr val="444444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100" b="1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sz="1100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100" dirty="0" err="1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state_ref</a:t>
            </a:r>
            <a:r>
              <a:rPr lang="en-US" sz="1100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100" dirty="0">
                <a:solidFill>
                  <a:srgbClr val="880000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"oval:org.example:ste:21"</a:t>
            </a:r>
            <a:r>
              <a:rPr lang="en-US" sz="1100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/&gt;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rgbClr val="444444"/>
                </a:solidFill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100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1100" b="1" dirty="0" err="1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registry_test</a:t>
            </a:r>
            <a:r>
              <a:rPr lang="en-US" sz="1100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1100" b="1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tests</a:t>
            </a:r>
            <a:r>
              <a:rPr lang="en-US" sz="1100" dirty="0"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595B5E-7AD6-62B4-7255-EB2574C0B09C}"/>
              </a:ext>
            </a:extLst>
          </p:cNvPr>
          <p:cNvSpPr txBox="1"/>
          <p:nvPr/>
        </p:nvSpPr>
        <p:spPr>
          <a:xfrm>
            <a:off x="6008913" y="1233011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100" b="1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100" dirty="0">
                <a:solidFill>
                  <a:srgbClr val="69707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&lt;!-- </a:t>
            </a:r>
            <a:r>
              <a:rPr lang="ru-RU" sz="1100" dirty="0">
                <a:solidFill>
                  <a:srgbClr val="69707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Ключ реестра</a:t>
            </a:r>
            <a:r>
              <a:rPr lang="en-US" sz="1100" dirty="0">
                <a:solidFill>
                  <a:srgbClr val="69707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100" dirty="0">
                <a:solidFill>
                  <a:srgbClr val="69707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управляющий</a:t>
            </a:r>
            <a:r>
              <a:rPr lang="en-US" sz="1100" dirty="0">
                <a:solidFill>
                  <a:srgbClr val="69707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SMBv1 --&gt;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100" b="1" dirty="0" err="1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registry_object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id=</a:t>
            </a:r>
            <a:r>
              <a:rPr lang="en-US" sz="11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"oval:org.example:obj:21"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version=</a:t>
            </a:r>
            <a:r>
              <a:rPr lang="en-US" sz="11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"1"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sz="1100" dirty="0" err="1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xmlns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1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"...#windows"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100" b="1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hive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HKEY_LOCAL_MACHINE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1100" b="1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hive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100" b="1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SYSTEM\</a:t>
            </a:r>
            <a:r>
              <a:rPr lang="en-US" sz="1100" dirty="0" err="1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CurrentControlSet</a:t>
            </a: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\Services\</a:t>
            </a:r>
            <a:r>
              <a:rPr lang="en-US" sz="1100" dirty="0" err="1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LanmanServer</a:t>
            </a: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\Parameters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1100" b="1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100" b="1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SMB1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1100" b="1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1100" b="1" dirty="0" err="1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registry_object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ru-RU" sz="1100" b="1" dirty="0" err="1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lang="ru-RU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ru-RU" sz="1100" b="1" dirty="0" err="1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states</a:t>
            </a:r>
            <a:r>
              <a:rPr lang="ru-RU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100" dirty="0">
                <a:solidFill>
                  <a:srgbClr val="69707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&lt;!-- SMBv1 включён если значение = 1 (это уязвимое состояние) --&gt;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100" b="1" dirty="0" err="1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registry_state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id=</a:t>
            </a:r>
            <a:r>
              <a:rPr lang="en-US" sz="11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"oval:org.example:ste:21"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version=</a:t>
            </a:r>
            <a:r>
              <a:rPr lang="en-US" sz="11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"1"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1100" dirty="0" err="1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xmlns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1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"...#windows"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100" b="1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datatype=</a:t>
            </a:r>
            <a:r>
              <a:rPr lang="en-US" sz="11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"int"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operation=</a:t>
            </a:r>
            <a:r>
              <a:rPr lang="en-US" sz="1100" dirty="0">
                <a:solidFill>
                  <a:srgbClr val="880000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"equals"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1100" b="1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100" dirty="0">
                <a:solidFill>
                  <a:srgbClr val="444444"/>
                </a:solidFill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ru-RU" sz="1100" b="1" dirty="0" err="1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registry_state</a:t>
            </a:r>
            <a:r>
              <a:rPr lang="ru-RU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ru-RU" sz="1100" b="1" dirty="0" err="1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states</a:t>
            </a:r>
            <a:r>
              <a:rPr lang="ru-RU" sz="1100" dirty="0">
                <a:effectLst/>
                <a:latin typeface="Lucida Console" panose="020B060904050402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3620247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E8F8F-A1B5-E266-1AC7-B15BEBCB9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DC0B602-015D-5AE9-472B-634EE6C1469A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4447643C-DFEC-227C-EB13-CDDD50A8352F}"/>
              </a:ext>
            </a:extLst>
          </p:cNvPr>
          <p:cNvSpPr txBox="1"/>
          <p:nvPr/>
        </p:nvSpPr>
        <p:spPr>
          <a:xfrm>
            <a:off x="2402378" y="219959"/>
            <a:ext cx="9449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Данные мониторинга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51BFE8-9FD0-6D54-0928-5A19F8F64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33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C54FF16B-3912-D1ED-664A-824A51BD60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54CC49-670D-2475-D39F-3F3042478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7145" y="1556571"/>
            <a:ext cx="3897709" cy="374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8086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79907-2C6A-49A8-D0BF-84022BBED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D5A498-7840-7F22-AF31-CAC4A2C79934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CD70C6C9-E122-0AE0-606A-4F67CAF2F63B}"/>
              </a:ext>
            </a:extLst>
          </p:cNvPr>
          <p:cNvSpPr txBox="1"/>
          <p:nvPr/>
        </p:nvSpPr>
        <p:spPr>
          <a:xfrm>
            <a:off x="2402378" y="219959"/>
            <a:ext cx="9449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b="1" dirty="0">
                <a:solidFill>
                  <a:srgbClr val="FF0000"/>
                </a:solidFill>
              </a:rPr>
              <a:t>Проблема нормализации – пример </a:t>
            </a:r>
            <a:r>
              <a:rPr lang="en-US" sz="2800" b="1" dirty="0">
                <a:solidFill>
                  <a:srgbClr val="FF0000"/>
                </a:solidFill>
              </a:rPr>
              <a:t>S.M.A.R.T.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EFCEB2-742D-76A3-B453-34E1F3DF8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34</a:t>
            </a:fld>
            <a:endParaRPr lang="ru-RU" dirty="0"/>
          </a:p>
        </p:txBody>
      </p:sp>
      <p:pic>
        <p:nvPicPr>
          <p:cNvPr id="9" name="Объект 1">
            <a:extLst>
              <a:ext uri="{FF2B5EF4-FFF2-40B4-BE49-F238E27FC236}">
                <a16:creationId xmlns:a16="http://schemas.microsoft.com/office/drawing/2014/main" id="{E09C7512-A217-F4F4-E54D-F91278EAF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0620586F-5A2F-8D8E-2A70-078884BAA9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628"/>
          <a:stretch>
            <a:fillRect/>
          </a:stretch>
        </p:blipFill>
        <p:spPr bwMode="auto">
          <a:xfrm>
            <a:off x="603100" y="1184739"/>
            <a:ext cx="4881563" cy="5237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09108B8-B92A-5807-73A7-87D745463329}"/>
              </a:ext>
            </a:extLst>
          </p:cNvPr>
          <p:cNvSpPr/>
          <p:nvPr/>
        </p:nvSpPr>
        <p:spPr>
          <a:xfrm>
            <a:off x="1072869" y="5399988"/>
            <a:ext cx="4255225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EE57E8-55D8-F544-987F-D1FD5900A0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2054" y="1313232"/>
            <a:ext cx="7239000" cy="318135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0373CA-D8B9-B8EE-8085-775E8650B108}"/>
              </a:ext>
            </a:extLst>
          </p:cNvPr>
          <p:cNvCxnSpPr/>
          <p:nvPr/>
        </p:nvCxnSpPr>
        <p:spPr>
          <a:xfrm flipV="1">
            <a:off x="5328094" y="4494582"/>
            <a:ext cx="940731" cy="9054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9387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6D1610F7-A0C9-4E50-9206-D9E394A55B73}"/>
              </a:ext>
            </a:extLst>
          </p:cNvPr>
          <p:cNvSpPr txBox="1"/>
          <p:nvPr/>
        </p:nvSpPr>
        <p:spPr>
          <a:xfrm>
            <a:off x="603100" y="1878519"/>
            <a:ext cx="59240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4400" b="1" dirty="0">
                <a:solidFill>
                  <a:srgbClr val="FF0000"/>
                </a:solidFill>
              </a:rPr>
              <a:t>Спасибо за внимание!</a:t>
            </a:r>
          </a:p>
        </p:txBody>
      </p:sp>
      <p:pic>
        <p:nvPicPr>
          <p:cNvPr id="7" name="Объект 1">
            <a:extLst>
              <a:ext uri="{FF2B5EF4-FFF2-40B4-BE49-F238E27FC236}">
                <a16:creationId xmlns:a16="http://schemas.microsoft.com/office/drawing/2014/main" id="{3D7E922A-E574-C847-BA5B-E66D8477CB3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9818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9951</TotalTime>
  <Words>1743</Words>
  <Application>Microsoft Office PowerPoint</Application>
  <PresentationFormat>Widescreen</PresentationFormat>
  <Paragraphs>371</Paragraphs>
  <Slides>35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Calibri Light</vt:lpstr>
      <vt:lpstr>Courier New</vt:lpstr>
      <vt:lpstr>Lucida Console</vt:lpstr>
      <vt:lpstr>Tahoma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Владимир Михайлович Грязнов</dc:creator>
  <cp:lastModifiedBy>Николай Домуховский</cp:lastModifiedBy>
  <cp:revision>277</cp:revision>
  <dcterms:created xsi:type="dcterms:W3CDTF">2020-07-22T09:29:31Z</dcterms:created>
  <dcterms:modified xsi:type="dcterms:W3CDTF">2026-03-02T19:42:53Z</dcterms:modified>
</cp:coreProperties>
</file>