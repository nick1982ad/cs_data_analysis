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63" r:id="rId3"/>
    <p:sldId id="361" r:id="rId4"/>
    <p:sldId id="356" r:id="rId5"/>
    <p:sldId id="333" r:id="rId6"/>
    <p:sldId id="357" r:id="rId7"/>
    <p:sldId id="359" r:id="rId8"/>
    <p:sldId id="338" r:id="rId9"/>
    <p:sldId id="334" r:id="rId10"/>
    <p:sldId id="336" r:id="rId11"/>
    <p:sldId id="335" r:id="rId12"/>
    <p:sldId id="331" r:id="rId13"/>
    <p:sldId id="364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40" r:id="rId23"/>
    <p:sldId id="341" r:id="rId24"/>
    <p:sldId id="339" r:id="rId25"/>
    <p:sldId id="374" r:id="rId26"/>
    <p:sldId id="375" r:id="rId27"/>
    <p:sldId id="343" r:id="rId28"/>
    <p:sldId id="347" r:id="rId29"/>
    <p:sldId id="348" r:id="rId30"/>
    <p:sldId id="360" r:id="rId31"/>
    <p:sldId id="345" r:id="rId32"/>
    <p:sldId id="31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0465" autoAdjust="0"/>
  </p:normalViewPr>
  <p:slideViewPr>
    <p:cSldViewPr snapToGrid="0">
      <p:cViewPr varScale="1">
        <p:scale>
          <a:sx n="98" d="100"/>
          <a:sy n="98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647222-8C21-4A72-84C2-3CC893098C7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4EE2567-3A11-4614-8279-780F4C3529E5}">
      <dgm:prSet phldrT="[Text]" phldr="0"/>
      <dgm:spPr/>
      <dgm:t>
        <a:bodyPr/>
        <a:lstStyle/>
        <a:p>
          <a:r>
            <a:rPr lang="ru-RU" dirty="0"/>
            <a:t>Прагматический</a:t>
          </a:r>
        </a:p>
      </dgm:t>
    </dgm:pt>
    <dgm:pt modelId="{0EA0249F-36AD-40AE-8C61-DC734A279719}" type="parTrans" cxnId="{492B59E8-9A34-439B-B239-0BBA3DA09074}">
      <dgm:prSet/>
      <dgm:spPr/>
      <dgm:t>
        <a:bodyPr/>
        <a:lstStyle/>
        <a:p>
          <a:endParaRPr lang="ru-RU"/>
        </a:p>
      </dgm:t>
    </dgm:pt>
    <dgm:pt modelId="{FBCC048F-8F73-4ADB-90C5-CD702FFF4A64}" type="sibTrans" cxnId="{492B59E8-9A34-439B-B239-0BBA3DA09074}">
      <dgm:prSet/>
      <dgm:spPr/>
      <dgm:t>
        <a:bodyPr/>
        <a:lstStyle/>
        <a:p>
          <a:endParaRPr lang="ru-RU"/>
        </a:p>
      </dgm:t>
    </dgm:pt>
    <dgm:pt modelId="{30C4BAF8-2716-412D-84F9-611D3434143A}">
      <dgm:prSet phldrT="[Text]" phldr="0"/>
      <dgm:spPr/>
      <dgm:t>
        <a:bodyPr/>
        <a:lstStyle/>
        <a:p>
          <a:r>
            <a:rPr lang="ru-RU" dirty="0"/>
            <a:t>Семантический</a:t>
          </a:r>
        </a:p>
      </dgm:t>
    </dgm:pt>
    <dgm:pt modelId="{56FBA0C0-312B-4768-A725-59987FA5BEEA}" type="parTrans" cxnId="{992C351E-A136-44CC-9918-49AAA9D80297}">
      <dgm:prSet/>
      <dgm:spPr/>
      <dgm:t>
        <a:bodyPr/>
        <a:lstStyle/>
        <a:p>
          <a:endParaRPr lang="ru-RU"/>
        </a:p>
      </dgm:t>
    </dgm:pt>
    <dgm:pt modelId="{62A581E9-94C2-4D3B-9463-CF79DF65A86C}" type="sibTrans" cxnId="{992C351E-A136-44CC-9918-49AAA9D80297}">
      <dgm:prSet/>
      <dgm:spPr/>
      <dgm:t>
        <a:bodyPr/>
        <a:lstStyle/>
        <a:p>
          <a:endParaRPr lang="ru-RU"/>
        </a:p>
      </dgm:t>
    </dgm:pt>
    <dgm:pt modelId="{F604E054-50F2-43E3-AB41-2EEF15EA9CE1}">
      <dgm:prSet phldrT="[Text]" phldr="0"/>
      <dgm:spPr/>
      <dgm:t>
        <a:bodyPr/>
        <a:lstStyle/>
        <a:p>
          <a:r>
            <a:rPr lang="ru-RU" dirty="0"/>
            <a:t>Синтаксический</a:t>
          </a:r>
        </a:p>
      </dgm:t>
    </dgm:pt>
    <dgm:pt modelId="{1E68B8B9-E1E6-4205-8C4B-D9AE456D5214}" type="parTrans" cxnId="{8ECD5EE0-00A9-4CAF-9C8A-4C4CC8F9F6BC}">
      <dgm:prSet/>
      <dgm:spPr/>
      <dgm:t>
        <a:bodyPr/>
        <a:lstStyle/>
        <a:p>
          <a:endParaRPr lang="ru-RU"/>
        </a:p>
      </dgm:t>
    </dgm:pt>
    <dgm:pt modelId="{302DC8DB-C1B2-4008-881D-4C9A2F3BB3AE}" type="sibTrans" cxnId="{8ECD5EE0-00A9-4CAF-9C8A-4C4CC8F9F6BC}">
      <dgm:prSet/>
      <dgm:spPr/>
      <dgm:t>
        <a:bodyPr/>
        <a:lstStyle/>
        <a:p>
          <a:endParaRPr lang="ru-RU"/>
        </a:p>
      </dgm:t>
    </dgm:pt>
    <dgm:pt modelId="{1598F6C5-5104-4925-83D1-3A7D37B9FEDC}">
      <dgm:prSet phldrT="[Text]" phldr="0"/>
      <dgm:spPr/>
      <dgm:t>
        <a:bodyPr/>
        <a:lstStyle/>
        <a:p>
          <a:r>
            <a:rPr lang="ru-RU" dirty="0"/>
            <a:t>Способ представления информации вне зависимости от смысла и ценности</a:t>
          </a:r>
        </a:p>
      </dgm:t>
    </dgm:pt>
    <dgm:pt modelId="{449CE7A0-18E2-4959-871F-8CEECA0EFFE1}" type="parTrans" cxnId="{8942B4C7-BCBD-4FE0-B30B-B986EFD29E6E}">
      <dgm:prSet/>
      <dgm:spPr/>
      <dgm:t>
        <a:bodyPr/>
        <a:lstStyle/>
        <a:p>
          <a:endParaRPr lang="ru-RU"/>
        </a:p>
      </dgm:t>
    </dgm:pt>
    <dgm:pt modelId="{54257AB5-EC15-414C-9745-E178AE32115B}" type="sibTrans" cxnId="{8942B4C7-BCBD-4FE0-B30B-B986EFD29E6E}">
      <dgm:prSet/>
      <dgm:spPr/>
      <dgm:t>
        <a:bodyPr/>
        <a:lstStyle/>
        <a:p>
          <a:endParaRPr lang="ru-RU"/>
        </a:p>
      </dgm:t>
    </dgm:pt>
    <dgm:pt modelId="{7E44AAC3-2B0C-4079-8B18-F35688A768F4}">
      <dgm:prSet phldrT="[Text]" phldr="0"/>
      <dgm:spPr/>
      <dgm:t>
        <a:bodyPr/>
        <a:lstStyle/>
        <a:p>
          <a:r>
            <a:rPr lang="ru-RU" dirty="0"/>
            <a:t>Способы могут быть для передачи и хранения</a:t>
          </a:r>
        </a:p>
      </dgm:t>
    </dgm:pt>
    <dgm:pt modelId="{60F84AEF-FBDB-4CD8-875B-465CF30ED193}" type="parTrans" cxnId="{4AEC3613-186A-4998-AFA8-D1B58FD11862}">
      <dgm:prSet/>
      <dgm:spPr/>
      <dgm:t>
        <a:bodyPr/>
        <a:lstStyle/>
        <a:p>
          <a:endParaRPr lang="ru-RU"/>
        </a:p>
      </dgm:t>
    </dgm:pt>
    <dgm:pt modelId="{9655A7A3-A65D-4EB1-A4F5-47525630005A}" type="sibTrans" cxnId="{4AEC3613-186A-4998-AFA8-D1B58FD11862}">
      <dgm:prSet/>
      <dgm:spPr/>
      <dgm:t>
        <a:bodyPr/>
        <a:lstStyle/>
        <a:p>
          <a:endParaRPr lang="ru-RU"/>
        </a:p>
      </dgm:t>
    </dgm:pt>
    <dgm:pt modelId="{CCFFA46D-DA4F-4C4F-A9AE-1C0CC6791B0E}">
      <dgm:prSet phldrT="[Text]" phldr="0"/>
      <dgm:spPr/>
      <dgm:t>
        <a:bodyPr/>
        <a:lstStyle/>
        <a:p>
          <a:r>
            <a:rPr lang="ru-RU" dirty="0"/>
            <a:t>Зависит от </a:t>
          </a:r>
          <a:r>
            <a:rPr lang="ru-RU" i="1" dirty="0"/>
            <a:t>носителя </a:t>
          </a:r>
          <a:r>
            <a:rPr lang="ru-RU" dirty="0"/>
            <a:t>информации</a:t>
          </a:r>
        </a:p>
      </dgm:t>
    </dgm:pt>
    <dgm:pt modelId="{FE08D6C2-D00C-4DAB-A2D0-CEE5E4A5CDF2}" type="parTrans" cxnId="{DF6D2DE5-5C55-4CFA-8F00-1E3C6BAE75DD}">
      <dgm:prSet/>
      <dgm:spPr/>
      <dgm:t>
        <a:bodyPr/>
        <a:lstStyle/>
        <a:p>
          <a:endParaRPr lang="ru-RU"/>
        </a:p>
      </dgm:t>
    </dgm:pt>
    <dgm:pt modelId="{1864F866-F3A8-4593-95A8-161F6C7C1695}" type="sibTrans" cxnId="{DF6D2DE5-5C55-4CFA-8F00-1E3C6BAE75DD}">
      <dgm:prSet/>
      <dgm:spPr/>
      <dgm:t>
        <a:bodyPr/>
        <a:lstStyle/>
        <a:p>
          <a:endParaRPr lang="ru-RU"/>
        </a:p>
      </dgm:t>
    </dgm:pt>
    <dgm:pt modelId="{E2E96EB9-9A4D-40AC-BF25-061A4D20F60E}">
      <dgm:prSet phldrT="[Text]" phldr="0"/>
      <dgm:spPr/>
      <dgm:t>
        <a:bodyPr/>
        <a:lstStyle/>
        <a:p>
          <a:r>
            <a:rPr lang="ru-RU" dirty="0"/>
            <a:t>Отражение смысла информации</a:t>
          </a:r>
        </a:p>
      </dgm:t>
    </dgm:pt>
    <dgm:pt modelId="{D274C9F2-EC32-4215-9D49-82F1846B85BD}" type="parTrans" cxnId="{773A3FD0-F005-4BED-836A-023FD256DE6F}">
      <dgm:prSet/>
      <dgm:spPr/>
      <dgm:t>
        <a:bodyPr/>
        <a:lstStyle/>
        <a:p>
          <a:endParaRPr lang="ru-RU"/>
        </a:p>
      </dgm:t>
    </dgm:pt>
    <dgm:pt modelId="{72E17490-C469-4DE3-8501-FAE8EF855827}" type="sibTrans" cxnId="{773A3FD0-F005-4BED-836A-023FD256DE6F}">
      <dgm:prSet/>
      <dgm:spPr/>
      <dgm:t>
        <a:bodyPr/>
        <a:lstStyle/>
        <a:p>
          <a:endParaRPr lang="ru-RU"/>
        </a:p>
      </dgm:t>
    </dgm:pt>
    <dgm:pt modelId="{23B745A5-7258-4945-8BC1-ADC4A069E67C}">
      <dgm:prSet phldrT="[Text]" phldr="0"/>
      <dgm:spPr/>
      <dgm:t>
        <a:bodyPr/>
        <a:lstStyle/>
        <a:p>
          <a:r>
            <a:rPr lang="ru-RU" dirty="0"/>
            <a:t>Соотношение информации с </a:t>
          </a:r>
          <a:r>
            <a:rPr lang="ru-RU" i="1" dirty="0"/>
            <a:t>тезаурусом </a:t>
          </a:r>
          <a:r>
            <a:rPr lang="ru-RU" dirty="0"/>
            <a:t>и </a:t>
          </a:r>
          <a:r>
            <a:rPr lang="ru-RU" i="1" dirty="0"/>
            <a:t>контекстом</a:t>
          </a:r>
        </a:p>
      </dgm:t>
    </dgm:pt>
    <dgm:pt modelId="{4E11075F-84BA-4A87-BB1F-203635467DA6}" type="parTrans" cxnId="{B46E8765-5B20-4598-B611-71B852EA61DD}">
      <dgm:prSet/>
      <dgm:spPr/>
      <dgm:t>
        <a:bodyPr/>
        <a:lstStyle/>
        <a:p>
          <a:endParaRPr lang="ru-RU"/>
        </a:p>
      </dgm:t>
    </dgm:pt>
    <dgm:pt modelId="{28030096-C339-41CE-A157-EF949453D716}" type="sibTrans" cxnId="{B46E8765-5B20-4598-B611-71B852EA61DD}">
      <dgm:prSet/>
      <dgm:spPr/>
      <dgm:t>
        <a:bodyPr/>
        <a:lstStyle/>
        <a:p>
          <a:endParaRPr lang="ru-RU"/>
        </a:p>
      </dgm:t>
    </dgm:pt>
    <dgm:pt modelId="{B2EE2D72-5009-4D64-A4A5-2BC0C800EB6E}">
      <dgm:prSet phldrT="[Text]" phldr="0"/>
      <dgm:spPr/>
      <dgm:t>
        <a:bodyPr/>
        <a:lstStyle/>
        <a:p>
          <a:r>
            <a:rPr lang="ru-RU" dirty="0"/>
            <a:t>Влияние информации на потребителя</a:t>
          </a:r>
        </a:p>
      </dgm:t>
    </dgm:pt>
    <dgm:pt modelId="{EC8F7888-F142-45E9-8058-4FE3AC67F1B2}" type="parTrans" cxnId="{2DFF104D-E9C9-45C5-B46F-20D52C6AE275}">
      <dgm:prSet/>
      <dgm:spPr/>
      <dgm:t>
        <a:bodyPr/>
        <a:lstStyle/>
        <a:p>
          <a:endParaRPr lang="ru-RU"/>
        </a:p>
      </dgm:t>
    </dgm:pt>
    <dgm:pt modelId="{FC340185-66BD-4111-8699-D0B2187116B0}" type="sibTrans" cxnId="{2DFF104D-E9C9-45C5-B46F-20D52C6AE275}">
      <dgm:prSet/>
      <dgm:spPr/>
      <dgm:t>
        <a:bodyPr/>
        <a:lstStyle/>
        <a:p>
          <a:endParaRPr lang="ru-RU"/>
        </a:p>
      </dgm:t>
    </dgm:pt>
    <dgm:pt modelId="{CE4F47C1-5487-4403-80DF-85736988A629}">
      <dgm:prSet phldrT="[Text]" phldr="0"/>
      <dgm:spPr/>
      <dgm:t>
        <a:bodyPr/>
        <a:lstStyle/>
        <a:p>
          <a:r>
            <a:rPr lang="ru-RU" dirty="0"/>
            <a:t>Аспект действия (например, реагирование системы на событие)</a:t>
          </a:r>
        </a:p>
      </dgm:t>
    </dgm:pt>
    <dgm:pt modelId="{7DA81F01-DD0C-4DD9-9A10-DB0036E9C3B3}" type="parTrans" cxnId="{540353C3-3E61-4C6A-99A0-FC4F70C32D0D}">
      <dgm:prSet/>
      <dgm:spPr/>
      <dgm:t>
        <a:bodyPr/>
        <a:lstStyle/>
        <a:p>
          <a:endParaRPr lang="ru-RU"/>
        </a:p>
      </dgm:t>
    </dgm:pt>
    <dgm:pt modelId="{2234D58F-8234-4040-ADF5-50041064309E}" type="sibTrans" cxnId="{540353C3-3E61-4C6A-99A0-FC4F70C32D0D}">
      <dgm:prSet/>
      <dgm:spPr/>
      <dgm:t>
        <a:bodyPr/>
        <a:lstStyle/>
        <a:p>
          <a:endParaRPr lang="ru-RU"/>
        </a:p>
      </dgm:t>
    </dgm:pt>
    <dgm:pt modelId="{6AD1BE97-76B9-4873-985C-95FE3ADD22BE}" type="pres">
      <dgm:prSet presAssocID="{B7647222-8C21-4A72-84C2-3CC893098C7C}" presName="linear" presStyleCnt="0">
        <dgm:presLayoutVars>
          <dgm:dir/>
          <dgm:animLvl val="lvl"/>
          <dgm:resizeHandles val="exact"/>
        </dgm:presLayoutVars>
      </dgm:prSet>
      <dgm:spPr/>
    </dgm:pt>
    <dgm:pt modelId="{77F9C51F-F20D-4623-9F1D-51FB7DE4A8ED}" type="pres">
      <dgm:prSet presAssocID="{E4EE2567-3A11-4614-8279-780F4C3529E5}" presName="parentLin" presStyleCnt="0"/>
      <dgm:spPr/>
    </dgm:pt>
    <dgm:pt modelId="{C92E2C2D-4E02-433E-AA73-0DEDB4DE0652}" type="pres">
      <dgm:prSet presAssocID="{E4EE2567-3A11-4614-8279-780F4C3529E5}" presName="parentLeftMargin" presStyleLbl="node1" presStyleIdx="0" presStyleCnt="3"/>
      <dgm:spPr/>
    </dgm:pt>
    <dgm:pt modelId="{97253FC1-E675-497B-A602-9216DB3B4BF4}" type="pres">
      <dgm:prSet presAssocID="{E4EE2567-3A11-4614-8279-780F4C3529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C5C229-2D72-45DA-86AC-839327664E2A}" type="pres">
      <dgm:prSet presAssocID="{E4EE2567-3A11-4614-8279-780F4C3529E5}" presName="negativeSpace" presStyleCnt="0"/>
      <dgm:spPr/>
    </dgm:pt>
    <dgm:pt modelId="{821C69D6-C88C-4ED6-B200-149208CDA6CD}" type="pres">
      <dgm:prSet presAssocID="{E4EE2567-3A11-4614-8279-780F4C3529E5}" presName="childText" presStyleLbl="conFgAcc1" presStyleIdx="0" presStyleCnt="3">
        <dgm:presLayoutVars>
          <dgm:bulletEnabled val="1"/>
        </dgm:presLayoutVars>
      </dgm:prSet>
      <dgm:spPr/>
    </dgm:pt>
    <dgm:pt modelId="{F77D83C3-7B47-4244-8143-EF63CAC6CAE1}" type="pres">
      <dgm:prSet presAssocID="{FBCC048F-8F73-4ADB-90C5-CD702FFF4A64}" presName="spaceBetweenRectangles" presStyleCnt="0"/>
      <dgm:spPr/>
    </dgm:pt>
    <dgm:pt modelId="{69611EB9-F2EF-41DD-ACEA-A3B9CC2E1C5C}" type="pres">
      <dgm:prSet presAssocID="{30C4BAF8-2716-412D-84F9-611D3434143A}" presName="parentLin" presStyleCnt="0"/>
      <dgm:spPr/>
    </dgm:pt>
    <dgm:pt modelId="{A82F60C5-DB81-4C72-A7E6-CEDA5FD481D1}" type="pres">
      <dgm:prSet presAssocID="{30C4BAF8-2716-412D-84F9-611D3434143A}" presName="parentLeftMargin" presStyleLbl="node1" presStyleIdx="0" presStyleCnt="3"/>
      <dgm:spPr/>
    </dgm:pt>
    <dgm:pt modelId="{46438B8E-7AE6-4BA3-8DF6-5F84A26BDAD3}" type="pres">
      <dgm:prSet presAssocID="{30C4BAF8-2716-412D-84F9-611D343414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436A3C-8765-4FBA-AF5E-10D2A86DE1DD}" type="pres">
      <dgm:prSet presAssocID="{30C4BAF8-2716-412D-84F9-611D3434143A}" presName="negativeSpace" presStyleCnt="0"/>
      <dgm:spPr/>
    </dgm:pt>
    <dgm:pt modelId="{9FBE584B-1EC2-433C-8FD9-39FBDFF2A418}" type="pres">
      <dgm:prSet presAssocID="{30C4BAF8-2716-412D-84F9-611D3434143A}" presName="childText" presStyleLbl="conFgAcc1" presStyleIdx="1" presStyleCnt="3">
        <dgm:presLayoutVars>
          <dgm:bulletEnabled val="1"/>
        </dgm:presLayoutVars>
      </dgm:prSet>
      <dgm:spPr/>
    </dgm:pt>
    <dgm:pt modelId="{61B76D9F-2075-44FE-A91C-385EFCDCC3AD}" type="pres">
      <dgm:prSet presAssocID="{62A581E9-94C2-4D3B-9463-CF79DF65A86C}" presName="spaceBetweenRectangles" presStyleCnt="0"/>
      <dgm:spPr/>
    </dgm:pt>
    <dgm:pt modelId="{3DDF6B24-A224-4F64-9158-1A9296CCFB83}" type="pres">
      <dgm:prSet presAssocID="{F604E054-50F2-43E3-AB41-2EEF15EA9CE1}" presName="parentLin" presStyleCnt="0"/>
      <dgm:spPr/>
    </dgm:pt>
    <dgm:pt modelId="{1245A814-5938-46FB-A491-C3306B55FD78}" type="pres">
      <dgm:prSet presAssocID="{F604E054-50F2-43E3-AB41-2EEF15EA9CE1}" presName="parentLeftMargin" presStyleLbl="node1" presStyleIdx="1" presStyleCnt="3"/>
      <dgm:spPr/>
    </dgm:pt>
    <dgm:pt modelId="{C288F51B-B700-42A8-AA8D-0D8A1DB79223}" type="pres">
      <dgm:prSet presAssocID="{F604E054-50F2-43E3-AB41-2EEF15EA9CE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4E626D3-DBA1-46B4-AD85-653576FBDACD}" type="pres">
      <dgm:prSet presAssocID="{F604E054-50F2-43E3-AB41-2EEF15EA9CE1}" presName="negativeSpace" presStyleCnt="0"/>
      <dgm:spPr/>
    </dgm:pt>
    <dgm:pt modelId="{1BB3E6CA-F89C-4E24-AF2F-39A06A2C709A}" type="pres">
      <dgm:prSet presAssocID="{F604E054-50F2-43E3-AB41-2EEF15EA9CE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AEC3613-186A-4998-AFA8-D1B58FD11862}" srcId="{F604E054-50F2-43E3-AB41-2EEF15EA9CE1}" destId="{7E44AAC3-2B0C-4079-8B18-F35688A768F4}" srcOrd="1" destOrd="0" parTransId="{60F84AEF-FBDB-4CD8-875B-465CF30ED193}" sibTransId="{9655A7A3-A65D-4EB1-A4F5-47525630005A}"/>
    <dgm:cxn modelId="{992C351E-A136-44CC-9918-49AAA9D80297}" srcId="{B7647222-8C21-4A72-84C2-3CC893098C7C}" destId="{30C4BAF8-2716-412D-84F9-611D3434143A}" srcOrd="1" destOrd="0" parTransId="{56FBA0C0-312B-4768-A725-59987FA5BEEA}" sibTransId="{62A581E9-94C2-4D3B-9463-CF79DF65A86C}"/>
    <dgm:cxn modelId="{3E4C412D-0068-4FEC-9FAF-96DB41E1AC70}" type="presOf" srcId="{30C4BAF8-2716-412D-84F9-611D3434143A}" destId="{46438B8E-7AE6-4BA3-8DF6-5F84A26BDAD3}" srcOrd="1" destOrd="0" presId="urn:microsoft.com/office/officeart/2005/8/layout/list1"/>
    <dgm:cxn modelId="{8C9BB33D-F78E-4783-8555-6FBE78E147C6}" type="presOf" srcId="{E2E96EB9-9A4D-40AC-BF25-061A4D20F60E}" destId="{9FBE584B-1EC2-433C-8FD9-39FBDFF2A418}" srcOrd="0" destOrd="0" presId="urn:microsoft.com/office/officeart/2005/8/layout/list1"/>
    <dgm:cxn modelId="{95D0A160-BAEB-4E45-BB45-80AEE1A95576}" type="presOf" srcId="{B2EE2D72-5009-4D64-A4A5-2BC0C800EB6E}" destId="{821C69D6-C88C-4ED6-B200-149208CDA6CD}" srcOrd="0" destOrd="0" presId="urn:microsoft.com/office/officeart/2005/8/layout/list1"/>
    <dgm:cxn modelId="{9CDD4961-D5A7-4B40-B8AD-A15A6073D17C}" type="presOf" srcId="{7E44AAC3-2B0C-4079-8B18-F35688A768F4}" destId="{1BB3E6CA-F89C-4E24-AF2F-39A06A2C709A}" srcOrd="0" destOrd="1" presId="urn:microsoft.com/office/officeart/2005/8/layout/list1"/>
    <dgm:cxn modelId="{B46E8765-5B20-4598-B611-71B852EA61DD}" srcId="{30C4BAF8-2716-412D-84F9-611D3434143A}" destId="{23B745A5-7258-4945-8BC1-ADC4A069E67C}" srcOrd="1" destOrd="0" parTransId="{4E11075F-84BA-4A87-BB1F-203635467DA6}" sibTransId="{28030096-C339-41CE-A157-EF949453D716}"/>
    <dgm:cxn modelId="{2DFF104D-E9C9-45C5-B46F-20D52C6AE275}" srcId="{E4EE2567-3A11-4614-8279-780F4C3529E5}" destId="{B2EE2D72-5009-4D64-A4A5-2BC0C800EB6E}" srcOrd="0" destOrd="0" parTransId="{EC8F7888-F142-45E9-8058-4FE3AC67F1B2}" sibTransId="{FC340185-66BD-4111-8699-D0B2187116B0}"/>
    <dgm:cxn modelId="{96E66E5A-5EED-413D-B846-F39CAAB6B612}" type="presOf" srcId="{E4EE2567-3A11-4614-8279-780F4C3529E5}" destId="{C92E2C2D-4E02-433E-AA73-0DEDB4DE0652}" srcOrd="0" destOrd="0" presId="urn:microsoft.com/office/officeart/2005/8/layout/list1"/>
    <dgm:cxn modelId="{C3B57D87-5D68-4A4B-80B1-D6D84732F3C7}" type="presOf" srcId="{F604E054-50F2-43E3-AB41-2EEF15EA9CE1}" destId="{C288F51B-B700-42A8-AA8D-0D8A1DB79223}" srcOrd="1" destOrd="0" presId="urn:microsoft.com/office/officeart/2005/8/layout/list1"/>
    <dgm:cxn modelId="{31DC3B8F-BE3A-453E-B717-3C183F6F724F}" type="presOf" srcId="{1598F6C5-5104-4925-83D1-3A7D37B9FEDC}" destId="{1BB3E6CA-F89C-4E24-AF2F-39A06A2C709A}" srcOrd="0" destOrd="0" presId="urn:microsoft.com/office/officeart/2005/8/layout/list1"/>
    <dgm:cxn modelId="{394A079B-0924-4557-9506-CD07CC6B9EF9}" type="presOf" srcId="{CE4F47C1-5487-4403-80DF-85736988A629}" destId="{821C69D6-C88C-4ED6-B200-149208CDA6CD}" srcOrd="0" destOrd="1" presId="urn:microsoft.com/office/officeart/2005/8/layout/list1"/>
    <dgm:cxn modelId="{AB29F4AA-D734-4C9C-82EC-8B371000AE2B}" type="presOf" srcId="{B7647222-8C21-4A72-84C2-3CC893098C7C}" destId="{6AD1BE97-76B9-4873-985C-95FE3ADD22BE}" srcOrd="0" destOrd="0" presId="urn:microsoft.com/office/officeart/2005/8/layout/list1"/>
    <dgm:cxn modelId="{790F2EB2-E852-41CF-8922-474A21A7C579}" type="presOf" srcId="{F604E054-50F2-43E3-AB41-2EEF15EA9CE1}" destId="{1245A814-5938-46FB-A491-C3306B55FD78}" srcOrd="0" destOrd="0" presId="urn:microsoft.com/office/officeart/2005/8/layout/list1"/>
    <dgm:cxn modelId="{19872FBF-224A-4647-9C13-E086507DD5E6}" type="presOf" srcId="{E4EE2567-3A11-4614-8279-780F4C3529E5}" destId="{97253FC1-E675-497B-A602-9216DB3B4BF4}" srcOrd="1" destOrd="0" presId="urn:microsoft.com/office/officeart/2005/8/layout/list1"/>
    <dgm:cxn modelId="{288314C3-E7C1-4698-9C2D-5896B606ECCE}" type="presOf" srcId="{30C4BAF8-2716-412D-84F9-611D3434143A}" destId="{A82F60C5-DB81-4C72-A7E6-CEDA5FD481D1}" srcOrd="0" destOrd="0" presId="urn:microsoft.com/office/officeart/2005/8/layout/list1"/>
    <dgm:cxn modelId="{540353C3-3E61-4C6A-99A0-FC4F70C32D0D}" srcId="{E4EE2567-3A11-4614-8279-780F4C3529E5}" destId="{CE4F47C1-5487-4403-80DF-85736988A629}" srcOrd="1" destOrd="0" parTransId="{7DA81F01-DD0C-4DD9-9A10-DB0036E9C3B3}" sibTransId="{2234D58F-8234-4040-ADF5-50041064309E}"/>
    <dgm:cxn modelId="{8942B4C7-BCBD-4FE0-B30B-B986EFD29E6E}" srcId="{F604E054-50F2-43E3-AB41-2EEF15EA9CE1}" destId="{1598F6C5-5104-4925-83D1-3A7D37B9FEDC}" srcOrd="0" destOrd="0" parTransId="{449CE7A0-18E2-4959-871F-8CEECA0EFFE1}" sibTransId="{54257AB5-EC15-414C-9745-E178AE32115B}"/>
    <dgm:cxn modelId="{773A3FD0-F005-4BED-836A-023FD256DE6F}" srcId="{30C4BAF8-2716-412D-84F9-611D3434143A}" destId="{E2E96EB9-9A4D-40AC-BF25-061A4D20F60E}" srcOrd="0" destOrd="0" parTransId="{D274C9F2-EC32-4215-9D49-82F1846B85BD}" sibTransId="{72E17490-C469-4DE3-8501-FAE8EF855827}"/>
    <dgm:cxn modelId="{8ECD5EE0-00A9-4CAF-9C8A-4C4CC8F9F6BC}" srcId="{B7647222-8C21-4A72-84C2-3CC893098C7C}" destId="{F604E054-50F2-43E3-AB41-2EEF15EA9CE1}" srcOrd="2" destOrd="0" parTransId="{1E68B8B9-E1E6-4205-8C4B-D9AE456D5214}" sibTransId="{302DC8DB-C1B2-4008-881D-4C9A2F3BB3AE}"/>
    <dgm:cxn modelId="{DF6D2DE5-5C55-4CFA-8F00-1E3C6BAE75DD}" srcId="{F604E054-50F2-43E3-AB41-2EEF15EA9CE1}" destId="{CCFFA46D-DA4F-4C4F-A9AE-1C0CC6791B0E}" srcOrd="2" destOrd="0" parTransId="{FE08D6C2-D00C-4DAB-A2D0-CEE5E4A5CDF2}" sibTransId="{1864F866-F3A8-4593-95A8-161F6C7C1695}"/>
    <dgm:cxn modelId="{492B59E8-9A34-439B-B239-0BBA3DA09074}" srcId="{B7647222-8C21-4A72-84C2-3CC893098C7C}" destId="{E4EE2567-3A11-4614-8279-780F4C3529E5}" srcOrd="0" destOrd="0" parTransId="{0EA0249F-36AD-40AE-8C61-DC734A279719}" sibTransId="{FBCC048F-8F73-4ADB-90C5-CD702FFF4A64}"/>
    <dgm:cxn modelId="{537064F3-861A-4D67-AE2E-E764012ED8D9}" type="presOf" srcId="{CCFFA46D-DA4F-4C4F-A9AE-1C0CC6791B0E}" destId="{1BB3E6CA-F89C-4E24-AF2F-39A06A2C709A}" srcOrd="0" destOrd="2" presId="urn:microsoft.com/office/officeart/2005/8/layout/list1"/>
    <dgm:cxn modelId="{2C5E97FE-9352-49CE-B2F6-527168F4D0D5}" type="presOf" srcId="{23B745A5-7258-4945-8BC1-ADC4A069E67C}" destId="{9FBE584B-1EC2-433C-8FD9-39FBDFF2A418}" srcOrd="0" destOrd="1" presId="urn:microsoft.com/office/officeart/2005/8/layout/list1"/>
    <dgm:cxn modelId="{AB2403E8-5512-497A-A9C6-B62482746A61}" type="presParOf" srcId="{6AD1BE97-76B9-4873-985C-95FE3ADD22BE}" destId="{77F9C51F-F20D-4623-9F1D-51FB7DE4A8ED}" srcOrd="0" destOrd="0" presId="urn:microsoft.com/office/officeart/2005/8/layout/list1"/>
    <dgm:cxn modelId="{B2399184-D4D2-45C5-8FF8-BBB71C1D0993}" type="presParOf" srcId="{77F9C51F-F20D-4623-9F1D-51FB7DE4A8ED}" destId="{C92E2C2D-4E02-433E-AA73-0DEDB4DE0652}" srcOrd="0" destOrd="0" presId="urn:microsoft.com/office/officeart/2005/8/layout/list1"/>
    <dgm:cxn modelId="{34B58F65-E894-4B30-972A-60B681A23C18}" type="presParOf" srcId="{77F9C51F-F20D-4623-9F1D-51FB7DE4A8ED}" destId="{97253FC1-E675-497B-A602-9216DB3B4BF4}" srcOrd="1" destOrd="0" presId="urn:microsoft.com/office/officeart/2005/8/layout/list1"/>
    <dgm:cxn modelId="{F30305FB-3C68-4803-AAF0-12BF021C8AA5}" type="presParOf" srcId="{6AD1BE97-76B9-4873-985C-95FE3ADD22BE}" destId="{50C5C229-2D72-45DA-86AC-839327664E2A}" srcOrd="1" destOrd="0" presId="urn:microsoft.com/office/officeart/2005/8/layout/list1"/>
    <dgm:cxn modelId="{0293DAE4-FD6C-4AC3-9EF6-7A34F72E926D}" type="presParOf" srcId="{6AD1BE97-76B9-4873-985C-95FE3ADD22BE}" destId="{821C69D6-C88C-4ED6-B200-149208CDA6CD}" srcOrd="2" destOrd="0" presId="urn:microsoft.com/office/officeart/2005/8/layout/list1"/>
    <dgm:cxn modelId="{2499B69D-91B1-46C0-B1A2-7FCBB050DAFD}" type="presParOf" srcId="{6AD1BE97-76B9-4873-985C-95FE3ADD22BE}" destId="{F77D83C3-7B47-4244-8143-EF63CAC6CAE1}" srcOrd="3" destOrd="0" presId="urn:microsoft.com/office/officeart/2005/8/layout/list1"/>
    <dgm:cxn modelId="{AE0AE987-DBA7-4CE2-B670-B1CCFD3EB109}" type="presParOf" srcId="{6AD1BE97-76B9-4873-985C-95FE3ADD22BE}" destId="{69611EB9-F2EF-41DD-ACEA-A3B9CC2E1C5C}" srcOrd="4" destOrd="0" presId="urn:microsoft.com/office/officeart/2005/8/layout/list1"/>
    <dgm:cxn modelId="{3BEEA6C2-2E7C-4BF4-951C-284D18086E99}" type="presParOf" srcId="{69611EB9-F2EF-41DD-ACEA-A3B9CC2E1C5C}" destId="{A82F60C5-DB81-4C72-A7E6-CEDA5FD481D1}" srcOrd="0" destOrd="0" presId="urn:microsoft.com/office/officeart/2005/8/layout/list1"/>
    <dgm:cxn modelId="{C1B98902-443F-400D-AABE-E1603D45CD50}" type="presParOf" srcId="{69611EB9-F2EF-41DD-ACEA-A3B9CC2E1C5C}" destId="{46438B8E-7AE6-4BA3-8DF6-5F84A26BDAD3}" srcOrd="1" destOrd="0" presId="urn:microsoft.com/office/officeart/2005/8/layout/list1"/>
    <dgm:cxn modelId="{5D95FEDE-600D-4B83-A899-3DF7581FBF65}" type="presParOf" srcId="{6AD1BE97-76B9-4873-985C-95FE3ADD22BE}" destId="{E3436A3C-8765-4FBA-AF5E-10D2A86DE1DD}" srcOrd="5" destOrd="0" presId="urn:microsoft.com/office/officeart/2005/8/layout/list1"/>
    <dgm:cxn modelId="{F26882D6-CC50-4643-8253-D47862E0E9A9}" type="presParOf" srcId="{6AD1BE97-76B9-4873-985C-95FE3ADD22BE}" destId="{9FBE584B-1EC2-433C-8FD9-39FBDFF2A418}" srcOrd="6" destOrd="0" presId="urn:microsoft.com/office/officeart/2005/8/layout/list1"/>
    <dgm:cxn modelId="{8FD552FE-48E7-48D8-9C17-F4B49837A565}" type="presParOf" srcId="{6AD1BE97-76B9-4873-985C-95FE3ADD22BE}" destId="{61B76D9F-2075-44FE-A91C-385EFCDCC3AD}" srcOrd="7" destOrd="0" presId="urn:microsoft.com/office/officeart/2005/8/layout/list1"/>
    <dgm:cxn modelId="{BF9C271D-B6EE-41E1-9828-FC4E84417CF9}" type="presParOf" srcId="{6AD1BE97-76B9-4873-985C-95FE3ADD22BE}" destId="{3DDF6B24-A224-4F64-9158-1A9296CCFB83}" srcOrd="8" destOrd="0" presId="urn:microsoft.com/office/officeart/2005/8/layout/list1"/>
    <dgm:cxn modelId="{B53BD20C-2A66-417F-BB59-C8BD3456FC2F}" type="presParOf" srcId="{3DDF6B24-A224-4F64-9158-1A9296CCFB83}" destId="{1245A814-5938-46FB-A491-C3306B55FD78}" srcOrd="0" destOrd="0" presId="urn:microsoft.com/office/officeart/2005/8/layout/list1"/>
    <dgm:cxn modelId="{7A28E5FF-B552-4FC2-BBD3-E0B8D83FFA84}" type="presParOf" srcId="{3DDF6B24-A224-4F64-9158-1A9296CCFB83}" destId="{C288F51B-B700-42A8-AA8D-0D8A1DB79223}" srcOrd="1" destOrd="0" presId="urn:microsoft.com/office/officeart/2005/8/layout/list1"/>
    <dgm:cxn modelId="{2B673D53-7C51-41D2-AAF9-509AAD590B57}" type="presParOf" srcId="{6AD1BE97-76B9-4873-985C-95FE3ADD22BE}" destId="{64E626D3-DBA1-46B4-AD85-653576FBDACD}" srcOrd="9" destOrd="0" presId="urn:microsoft.com/office/officeart/2005/8/layout/list1"/>
    <dgm:cxn modelId="{BC8D2CF3-0B00-4C1E-BE5B-57942A0A1222}" type="presParOf" srcId="{6AD1BE97-76B9-4873-985C-95FE3ADD22BE}" destId="{1BB3E6CA-F89C-4E24-AF2F-39A06A2C709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C69D6-C88C-4ED6-B200-149208CDA6CD}">
      <dsp:nvSpPr>
        <dsp:cNvPr id="0" name=""/>
        <dsp:cNvSpPr/>
      </dsp:nvSpPr>
      <dsp:spPr>
        <a:xfrm>
          <a:off x="0" y="390483"/>
          <a:ext cx="9285514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659" tIns="416560" rIns="7206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Влияние информации на потребителя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Аспект действия (например, реагирование системы на событие)</a:t>
          </a:r>
        </a:p>
      </dsp:txBody>
      <dsp:txXfrm>
        <a:off x="0" y="390483"/>
        <a:ext cx="9285514" cy="1165500"/>
      </dsp:txXfrm>
    </dsp:sp>
    <dsp:sp modelId="{97253FC1-E675-497B-A602-9216DB3B4BF4}">
      <dsp:nvSpPr>
        <dsp:cNvPr id="0" name=""/>
        <dsp:cNvSpPr/>
      </dsp:nvSpPr>
      <dsp:spPr>
        <a:xfrm>
          <a:off x="464275" y="95283"/>
          <a:ext cx="64998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679" tIns="0" rIns="2456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Прагматический</a:t>
          </a:r>
        </a:p>
      </dsp:txBody>
      <dsp:txXfrm>
        <a:off x="493096" y="124104"/>
        <a:ext cx="6442217" cy="532758"/>
      </dsp:txXfrm>
    </dsp:sp>
    <dsp:sp modelId="{9FBE584B-1EC2-433C-8FD9-39FBDFF2A418}">
      <dsp:nvSpPr>
        <dsp:cNvPr id="0" name=""/>
        <dsp:cNvSpPr/>
      </dsp:nvSpPr>
      <dsp:spPr>
        <a:xfrm>
          <a:off x="0" y="1959183"/>
          <a:ext cx="9285514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659" tIns="416560" rIns="7206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Отражение смысла информации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Соотношение информации с </a:t>
          </a:r>
          <a:r>
            <a:rPr lang="ru-RU" sz="2000" i="1" kern="1200" dirty="0"/>
            <a:t>тезаурусом </a:t>
          </a:r>
          <a:r>
            <a:rPr lang="ru-RU" sz="2000" kern="1200" dirty="0"/>
            <a:t>и </a:t>
          </a:r>
          <a:r>
            <a:rPr lang="ru-RU" sz="2000" i="1" kern="1200" dirty="0"/>
            <a:t>контекстом</a:t>
          </a:r>
        </a:p>
      </dsp:txBody>
      <dsp:txXfrm>
        <a:off x="0" y="1959183"/>
        <a:ext cx="9285514" cy="1165500"/>
      </dsp:txXfrm>
    </dsp:sp>
    <dsp:sp modelId="{46438B8E-7AE6-4BA3-8DF6-5F84A26BDAD3}">
      <dsp:nvSpPr>
        <dsp:cNvPr id="0" name=""/>
        <dsp:cNvSpPr/>
      </dsp:nvSpPr>
      <dsp:spPr>
        <a:xfrm>
          <a:off x="464275" y="1663983"/>
          <a:ext cx="64998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679" tIns="0" rIns="2456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Семантический</a:t>
          </a:r>
        </a:p>
      </dsp:txBody>
      <dsp:txXfrm>
        <a:off x="493096" y="1692804"/>
        <a:ext cx="6442217" cy="532758"/>
      </dsp:txXfrm>
    </dsp:sp>
    <dsp:sp modelId="{1BB3E6CA-F89C-4E24-AF2F-39A06A2C709A}">
      <dsp:nvSpPr>
        <dsp:cNvPr id="0" name=""/>
        <dsp:cNvSpPr/>
      </dsp:nvSpPr>
      <dsp:spPr>
        <a:xfrm>
          <a:off x="0" y="3527883"/>
          <a:ext cx="9285514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659" tIns="416560" rIns="7206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Способ представления информации вне зависимости от смысла и ценности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Способы могут быть для передачи и хранения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/>
            <a:t>Зависит от </a:t>
          </a:r>
          <a:r>
            <a:rPr lang="ru-RU" sz="2000" i="1" kern="1200" dirty="0"/>
            <a:t>носителя </a:t>
          </a:r>
          <a:r>
            <a:rPr lang="ru-RU" sz="2000" kern="1200" dirty="0"/>
            <a:t>информации</a:t>
          </a:r>
        </a:p>
      </dsp:txBody>
      <dsp:txXfrm>
        <a:off x="0" y="3527883"/>
        <a:ext cx="9285514" cy="1795500"/>
      </dsp:txXfrm>
    </dsp:sp>
    <dsp:sp modelId="{C288F51B-B700-42A8-AA8D-0D8A1DB79223}">
      <dsp:nvSpPr>
        <dsp:cNvPr id="0" name=""/>
        <dsp:cNvSpPr/>
      </dsp:nvSpPr>
      <dsp:spPr>
        <a:xfrm>
          <a:off x="464275" y="3232683"/>
          <a:ext cx="6499859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679" tIns="0" rIns="24567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Синтаксический</a:t>
          </a:r>
        </a:p>
      </dsp:txBody>
      <dsp:txXfrm>
        <a:off x="493096" y="3261504"/>
        <a:ext cx="6442217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7A74-FEEF-45B0-ABD3-14EA22804807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A7E3A-ADC7-4226-B3BF-DCB7408A14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8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A384-7666-AB6D-7298-1F7FC093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7389F1-6C5B-5A26-936B-CFFB1F103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B19231-4DF5-B42A-A55A-D2E5ED2F1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1B4FC9-B7E0-D388-2016-E4613FBBC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7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2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27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772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07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584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65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977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55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B8E4-C721-E01E-60E9-DF250130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5F275E-7DBE-E7D3-C688-2115B5F22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001217-4622-5EBA-0BD4-AD28493B8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01B3C0-BC07-74D4-229B-5C4E57977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186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202B-EFB5-C0C8-DE94-D61F9B0B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7FA908-E860-6F79-0F2F-CDD94C236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3874F8-7916-DAE1-1963-71882D05A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2587B2-5AAB-F8E6-9963-DBDD61242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707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0A32D-9FA1-A562-AE8E-D74938F3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D4F97C-6FE8-3B02-EB12-26E36029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B776A7-D0CE-3409-0891-92DF4DBE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0B40E0-1B18-A8BF-6A59-922BC3DD4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656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70BD-E4C7-C64A-3348-292300F7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4291C7-A7CE-5903-4A41-A64B5BCD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265C5E-FF2F-2589-6688-D1DE0BF74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9FF05D-4E23-5DBE-0075-39A85625D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493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82EF-4F4C-E8B0-6185-33BF3725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7C8CCB6-AD28-7EFC-4DCD-42CE79319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79A740-29B5-5D63-8DE1-3D4A9DB18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5AF53C-C2A5-39F8-E72F-E7A20036C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736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DFB9C-8200-941D-CBDD-5DE9325C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C13C064-D290-A1AE-A29A-96C611BB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18029D3-6181-3C70-2C67-4FDCEF1A7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D04249-8DC9-5EB4-3AB5-8CE52C43A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610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11FC-F96C-81C5-A63C-D7B4B7AC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077ED3-53E9-311B-BB6A-0BE98F323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D4978F-29D6-4602-55B2-FD737438B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3A7D33-061F-7DF5-B773-9B87AB6F1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19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7642-1F63-5BE3-8B37-79299B27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45F1266-1B81-3B39-8AF9-5034DA44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869E08-DF04-B4EF-1269-054EB844C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228F2E-A7FE-FBFF-2645-C1BB4EA24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569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6E9E-240B-4B09-D673-F2C401FD5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7A2E5E4-9E4C-FC0E-6161-E558A00FE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403AC2-2A4D-76C9-951F-D1E64044A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216D5A-1B83-26D3-406C-CB40CE20B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122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3951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560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237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E863-075D-9E54-FD20-0D1CAC02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22C5FCF-5AC0-EF2B-95FB-0A0CCCA24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6D504C-4354-E2EF-E722-8220461D4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E29F4B-8B47-AE51-4073-A17D4FD35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046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4D27-A062-0FD0-DDEF-70431A86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4B33388-BFC1-C4F0-09F0-08A49460B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2D3D0C-3B99-C432-4D14-E46E18A62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5F46C3-BD87-FB2A-2A1C-80F6F4305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873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457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797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006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45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57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0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3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38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7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5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C4E9E-3BE5-4665-BAE6-72CA507E865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59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gif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&#1088;&#1091;&#1089;&#1082;&#1088;&#1080;&#1087;&#1090;&#1086;.&#1088;&#1092;/resource/archive/rc2023/files/15_kotenko.pdf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hat.deepseek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nsole.yandex.cloud/" TargetMode="Externa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www.kaggle.com/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1784804"/>
            <a:ext cx="6903475" cy="34522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«Методы анализа данных»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Лекция 1. Введение.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52052" y="5484010"/>
            <a:ext cx="78761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Домуховский Николай Анатольевич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Заместитель директора по проектной работе, УНЦ ИБ ИРИТ-РТФ УрФУ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N.A.Domukhovsky@urfu.ru, telegram: @Nick1982ad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4525-F42B-0A4F-A843-6E85C99DD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E216-E1CB-7749-6EDA-36E8313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F7FCBF-9CC2-B9F2-8934-E1A5457D6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66EB7A-C2AE-0753-3F7E-EEE9B0C6B515}"/>
              </a:ext>
            </a:extLst>
          </p:cNvPr>
          <p:cNvSpPr txBox="1">
            <a:spLocks/>
          </p:cNvSpPr>
          <p:nvPr/>
        </p:nvSpPr>
        <p:spPr>
          <a:xfrm>
            <a:off x="1993194" y="2940273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Введение к введению</a:t>
            </a:r>
          </a:p>
        </p:txBody>
      </p:sp>
    </p:spTree>
    <p:extLst>
      <p:ext uri="{BB962C8B-B14F-4D97-AF65-F5344CB8AC3E}">
        <p14:creationId xmlns:p14="http://schemas.microsoft.com/office/powerpoint/2010/main" val="2020760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72CE-CF20-CD39-2496-8671A631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5D8014-037B-E853-36BB-DE184B5BB13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64D7E29-E638-ED5E-9F16-7CA593248006}"/>
              </a:ext>
            </a:extLst>
          </p:cNvPr>
          <p:cNvSpPr txBox="1"/>
          <p:nvPr/>
        </p:nvSpPr>
        <p:spPr>
          <a:xfrm>
            <a:off x="2477193" y="219959"/>
            <a:ext cx="9375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Кто я такой и что я тут делаю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DEF263-553A-F4F9-3776-BEE5623B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6B00A59-CAD1-626B-8BA0-56EE2FA62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E1B6C54F-101A-20CB-A036-71C851646F7F}"/>
              </a:ext>
            </a:extLst>
          </p:cNvPr>
          <p:cNvSpPr txBox="1">
            <a:spLocks/>
          </p:cNvSpPr>
          <p:nvPr/>
        </p:nvSpPr>
        <p:spPr>
          <a:xfrm>
            <a:off x="925620" y="1839151"/>
            <a:ext cx="7272062" cy="4298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ru-RU" altLang="ru-RU" sz="2400" b="1" dirty="0"/>
              <a:t>Домуховский Николай Анатольевич</a:t>
            </a:r>
          </a:p>
          <a:p>
            <a:r>
              <a:rPr lang="ru-RU" altLang="ru-RU" sz="2400" dirty="0"/>
              <a:t>Окончил </a:t>
            </a:r>
            <a:r>
              <a:rPr lang="ru-RU" altLang="ru-RU" sz="2400" dirty="0" err="1"/>
              <a:t>матмех</a:t>
            </a:r>
            <a:r>
              <a:rPr lang="ru-RU" altLang="ru-RU" sz="2400" dirty="0"/>
              <a:t> </a:t>
            </a:r>
            <a:r>
              <a:rPr lang="ru-RU" altLang="ru-RU" sz="2400" dirty="0" err="1"/>
              <a:t>УрГУ</a:t>
            </a:r>
            <a:r>
              <a:rPr lang="ru-RU" altLang="ru-RU" sz="2400" dirty="0"/>
              <a:t> в далеком 2005-м, специальность – компьютерная безопасность</a:t>
            </a:r>
          </a:p>
          <a:p>
            <a:r>
              <a:rPr lang="ru-RU" altLang="ru-RU" sz="2400" dirty="0"/>
              <a:t>Более 20 лет опыта работы в сфере ИБ</a:t>
            </a:r>
            <a:r>
              <a:rPr lang="en-US" altLang="ru-RU" sz="2400" dirty="0"/>
              <a:t>: </a:t>
            </a:r>
            <a:r>
              <a:rPr lang="ru-RU" altLang="ru-RU" sz="2400" dirty="0"/>
              <a:t>проектный, продуктовый бизнес, научно-исследовательская работа</a:t>
            </a:r>
          </a:p>
          <a:p>
            <a:r>
              <a:rPr lang="ru-RU" altLang="ru-RU" sz="2400" dirty="0"/>
              <a:t>С ноября 2025 полностью перешел в сферу образования и науки</a:t>
            </a:r>
            <a:r>
              <a:rPr lang="ru-RU" altLang="ru-RU" sz="2400" strike="sngStrike" dirty="0"/>
              <a:t>, чтобы наконец защитить кандидатскую</a:t>
            </a:r>
            <a:r>
              <a:rPr lang="ru-RU" altLang="ru-RU" sz="2400" dirty="0"/>
              <a:t> </a:t>
            </a: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4B54A7AB-0FB5-7C6B-470B-F32B18A6D9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027" y="2433884"/>
            <a:ext cx="2430346" cy="24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1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Организационная информация о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9FE78D-8243-46C7-85AA-4D503C1D5FBA}"/>
              </a:ext>
            </a:extLst>
          </p:cNvPr>
          <p:cNvSpPr/>
          <p:nvPr/>
        </p:nvSpPr>
        <p:spPr>
          <a:xfrm>
            <a:off x="702806" y="1730901"/>
            <a:ext cx="108653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Форма отчетности: </a:t>
            </a:r>
            <a:r>
              <a:rPr lang="ru-RU" b="1" dirty="0"/>
              <a:t>экзамен с оценкой</a:t>
            </a:r>
          </a:p>
          <a:p>
            <a:endParaRPr lang="ru-RU" dirty="0"/>
          </a:p>
          <a:p>
            <a:r>
              <a:rPr lang="ru-RU" dirty="0"/>
              <a:t>16 лекций (две лекции в неделю, первая половина семестра) </a:t>
            </a:r>
          </a:p>
          <a:p>
            <a:r>
              <a:rPr lang="ru-RU" dirty="0"/>
              <a:t>16 практик (две практики в неделю, вторая половина семестра)</a:t>
            </a:r>
          </a:p>
          <a:p>
            <a:r>
              <a:rPr lang="ru-RU" b="1" dirty="0"/>
              <a:t>Возможно как-то </a:t>
            </a:r>
            <a:r>
              <a:rPr lang="ru-RU" b="1" dirty="0" err="1"/>
              <a:t>замиксуем</a:t>
            </a:r>
            <a:r>
              <a:rPr lang="ru-RU" b="1" dirty="0"/>
              <a:t> занятия в процессе </a:t>
            </a:r>
            <a:r>
              <a:rPr lang="en-US" dirty="0"/>
              <a:t>(</a:t>
            </a:r>
            <a:r>
              <a:rPr lang="ru-RU" dirty="0"/>
              <a:t>чтоб не скучно было)</a:t>
            </a:r>
          </a:p>
          <a:p>
            <a:endParaRPr lang="ru-RU" dirty="0"/>
          </a:p>
          <a:p>
            <a:r>
              <a:rPr lang="ru-RU" dirty="0"/>
              <a:t>Лекция</a:t>
            </a:r>
            <a:r>
              <a:rPr lang="en-US" dirty="0"/>
              <a:t>: </a:t>
            </a:r>
            <a:r>
              <a:rPr lang="ru-RU" dirty="0"/>
              <a:t>я рассказываю и иногда что-то показываю</a:t>
            </a:r>
          </a:p>
          <a:p>
            <a:r>
              <a:rPr lang="ru-RU" dirty="0"/>
              <a:t>Практика</a:t>
            </a:r>
            <a:r>
              <a:rPr lang="en-US" dirty="0"/>
              <a:t>: </a:t>
            </a:r>
            <a:r>
              <a:rPr lang="ru-RU" dirty="0"/>
              <a:t>я что-то показываю и потом вы делаете задание (в том числе, дома)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i="1" dirty="0"/>
              <a:t>хорошо</a:t>
            </a:r>
            <a:r>
              <a:rPr lang="ru-RU" i="1" baseline="30000" dirty="0"/>
              <a:t>*</a:t>
            </a:r>
            <a:r>
              <a:rPr lang="ru-RU" i="1" dirty="0"/>
              <a:t> </a:t>
            </a:r>
            <a:r>
              <a:rPr lang="ru-RU" dirty="0"/>
              <a:t>делать практику, то экзамен будет </a:t>
            </a:r>
            <a:r>
              <a:rPr lang="ru-RU" i="1" dirty="0"/>
              <a:t>проще</a:t>
            </a:r>
            <a:r>
              <a:rPr lang="ru-RU" i="1" baseline="30000" dirty="0"/>
              <a:t>*</a:t>
            </a:r>
            <a:endParaRPr lang="ru-RU" i="1" dirty="0"/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00CA0-6F9F-4830-AC0A-AE67203F7E68}"/>
              </a:ext>
            </a:extLst>
          </p:cNvPr>
          <p:cNvSpPr txBox="1"/>
          <p:nvPr/>
        </p:nvSpPr>
        <p:spPr>
          <a:xfrm>
            <a:off x="838200" y="6261442"/>
            <a:ext cx="712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dirty="0"/>
              <a:t>* </a:t>
            </a:r>
            <a:r>
              <a:rPr lang="en-US" sz="1200" dirty="0"/>
              <a:t>– </a:t>
            </a:r>
            <a:r>
              <a:rPr lang="ru-RU" sz="1200" dirty="0"/>
              <a:t>точные значения лингвистических переменных «хорошо» и «проще» будут установлены по ходу курса</a:t>
            </a:r>
          </a:p>
        </p:txBody>
      </p:sp>
    </p:spTree>
    <p:extLst>
      <p:ext uri="{BB962C8B-B14F-4D97-AF65-F5344CB8AC3E}">
        <p14:creationId xmlns:p14="http://schemas.microsoft.com/office/powerpoint/2010/main" val="423793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Примерный план курса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01CC83-B738-CE58-2C92-49221C9C77C9}"/>
              </a:ext>
            </a:extLst>
          </p:cNvPr>
          <p:cNvSpPr/>
          <p:nvPr/>
        </p:nvSpPr>
        <p:spPr>
          <a:xfrm>
            <a:off x="3146104" y="1516034"/>
            <a:ext cx="2498285" cy="573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 данные (в целом)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6B3CF-98FD-DED7-33E9-15261C55AC69}"/>
              </a:ext>
            </a:extLst>
          </p:cNvPr>
          <p:cNvSpPr/>
          <p:nvPr/>
        </p:nvSpPr>
        <p:spPr>
          <a:xfrm>
            <a:off x="7003933" y="1516034"/>
            <a:ext cx="2498286" cy="573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 данные специфичные для ИБ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4A02FF-FEE7-7FA8-A7EC-8BE0F23DD388}"/>
              </a:ext>
            </a:extLst>
          </p:cNvPr>
          <p:cNvSpPr/>
          <p:nvPr/>
        </p:nvSpPr>
        <p:spPr>
          <a:xfrm>
            <a:off x="3146104" y="2379050"/>
            <a:ext cx="2498286" cy="115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Классические методы обработки и хранения данных (в целом)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817D9-5BF0-BA92-3A7C-B97B67033F17}"/>
              </a:ext>
            </a:extLst>
          </p:cNvPr>
          <p:cNvSpPr/>
          <p:nvPr/>
        </p:nvSpPr>
        <p:spPr>
          <a:xfrm>
            <a:off x="7003933" y="2379050"/>
            <a:ext cx="2498286" cy="115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Классические методы обработки и хранения данных специфичные для ИБ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7277D-192A-3023-74D4-F5299B75D018}"/>
              </a:ext>
            </a:extLst>
          </p:cNvPr>
          <p:cNvSpPr/>
          <p:nvPr/>
        </p:nvSpPr>
        <p:spPr>
          <a:xfrm>
            <a:off x="3146104" y="3826516"/>
            <a:ext cx="2498286" cy="115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 данных с помощью методов машинного обучения (в целом)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35D627-4E97-AE4B-B00F-1F71AA8280E9}"/>
              </a:ext>
            </a:extLst>
          </p:cNvPr>
          <p:cNvSpPr/>
          <p:nvPr/>
        </p:nvSpPr>
        <p:spPr>
          <a:xfrm>
            <a:off x="7003933" y="3826516"/>
            <a:ext cx="2498286" cy="1157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 данных с помощью методов машинного обучения  (специфичных для ИБ)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AEDBC-2C90-86A8-3E3F-B864F6823D50}"/>
              </a:ext>
            </a:extLst>
          </p:cNvPr>
          <p:cNvSpPr/>
          <p:nvPr/>
        </p:nvSpPr>
        <p:spPr>
          <a:xfrm>
            <a:off x="3146103" y="5337949"/>
            <a:ext cx="6356115" cy="819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Применение больших языковых моделей и </a:t>
            </a:r>
            <a:r>
              <a:rPr lang="en-US" dirty="0"/>
              <a:t>AI-</a:t>
            </a:r>
            <a:r>
              <a:rPr lang="ru-RU" dirty="0"/>
              <a:t>агентов для анализа данных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FA3E6A-8906-6F2C-D352-6DF8C45CD050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644389" y="1802772"/>
            <a:ext cx="135954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EEA887C-A636-08EC-29B8-BF927B5BF220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4395247" y="1802772"/>
            <a:ext cx="5106972" cy="576278"/>
          </a:xfrm>
          <a:prstGeom prst="bentConnector4">
            <a:avLst>
              <a:gd name="adj1" fmla="val -4476"/>
              <a:gd name="adj2" fmla="val 7487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6E096F-0674-E3E6-017F-1C58DCAAD41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644390" y="2958013"/>
            <a:ext cx="13595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69711A6-A495-7CB8-E3B4-B428EA290F2B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 flipH="1">
            <a:off x="4395247" y="2958013"/>
            <a:ext cx="5106972" cy="868503"/>
          </a:xfrm>
          <a:prstGeom prst="bentConnector4">
            <a:avLst>
              <a:gd name="adj1" fmla="val -4476"/>
              <a:gd name="adj2" fmla="val 8333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DA9392-45CC-1299-3091-CA9E5E3C6DD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644390" y="4405479"/>
            <a:ext cx="13595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4F70BC6-4365-10F2-7BFC-AF738ADD21FE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 flipH="1">
            <a:off x="6324161" y="4405479"/>
            <a:ext cx="3178058" cy="932470"/>
          </a:xfrm>
          <a:prstGeom prst="bentConnector4">
            <a:avLst>
              <a:gd name="adj1" fmla="val -7193"/>
              <a:gd name="adj2" fmla="val 8104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617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Договоримся о принципах работы на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8E330A-A21C-4139-889E-E71E5BC27371}"/>
              </a:ext>
            </a:extLst>
          </p:cNvPr>
          <p:cNvSpPr/>
          <p:nvPr/>
        </p:nvSpPr>
        <p:spPr>
          <a:xfrm>
            <a:off x="2303178" y="2526991"/>
            <a:ext cx="27313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ИНИЦИАТИВНОСТЬ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ЛЮБОПЫТСТВО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A8F2BC51-42E3-FD97-A85C-3A82120DFBB6}"/>
              </a:ext>
            </a:extLst>
          </p:cNvPr>
          <p:cNvSpPr/>
          <p:nvPr/>
        </p:nvSpPr>
        <p:spPr>
          <a:xfrm>
            <a:off x="8249271" y="2526991"/>
            <a:ext cx="2468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БЕЗОПАСНАЯ СРЕДА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8D72102-BE75-B3FB-A425-0D0A658E521B}"/>
              </a:ext>
            </a:extLst>
          </p:cNvPr>
          <p:cNvSpPr/>
          <p:nvPr/>
        </p:nvSpPr>
        <p:spPr>
          <a:xfrm>
            <a:off x="8215575" y="381767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ОТВЕТСТВЕННОСТЬ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62CFCEAE-2271-C5CA-854A-210CA3005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22" y="2322017"/>
            <a:ext cx="1001265" cy="1001265"/>
          </a:xfrm>
          <a:prstGeom prst="rect">
            <a:avLst/>
          </a:prstGeom>
        </p:spPr>
      </p:pic>
      <p:pic>
        <p:nvPicPr>
          <p:cNvPr id="11" name="Рисунок 6">
            <a:extLst>
              <a:ext uri="{FF2B5EF4-FFF2-40B4-BE49-F238E27FC236}">
                <a16:creationId xmlns:a16="http://schemas.microsoft.com/office/drawing/2014/main" id="{3B2D323A-1547-5B2E-A8DA-7A522BC06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1" y="3366644"/>
            <a:ext cx="1021487" cy="1023937"/>
          </a:xfrm>
          <a:prstGeom prst="rect">
            <a:avLst/>
          </a:prstGeom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980E08DA-B2CE-175E-A853-FBF181BA0B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07" y="2364256"/>
            <a:ext cx="916788" cy="916788"/>
          </a:xfrm>
          <a:prstGeom prst="rect">
            <a:avLst/>
          </a:prstGeom>
        </p:spPr>
      </p:pic>
      <p:pic>
        <p:nvPicPr>
          <p:cNvPr id="13" name="Рисунок 8">
            <a:extLst>
              <a:ext uri="{FF2B5EF4-FFF2-40B4-BE49-F238E27FC236}">
                <a16:creationId xmlns:a16="http://schemas.microsoft.com/office/drawing/2014/main" id="{0AE441DB-6B7C-7E01-CAF0-FF567F1055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46" y="3470156"/>
            <a:ext cx="915216" cy="9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1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993194" y="2940273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данных в целом и о задачах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367486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 настоящему «</a:t>
            </a:r>
            <a:r>
              <a:rPr lang="en-US" sz="2800" b="1" dirty="0">
                <a:solidFill>
                  <a:srgbClr val="FF0000"/>
                </a:solidFill>
              </a:rPr>
              <a:t>Big Data</a:t>
            </a:r>
            <a:r>
              <a:rPr lang="ru-RU" sz="2800" b="1" dirty="0">
                <a:solidFill>
                  <a:srgbClr val="FF0000"/>
                </a:solidFill>
              </a:rPr>
              <a:t>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F3739305-B762-4624-A89A-6ED8FEAD3C10}"/>
              </a:ext>
            </a:extLst>
          </p:cNvPr>
          <p:cNvSpPr txBox="1">
            <a:spLocks/>
          </p:cNvSpPr>
          <p:nvPr/>
        </p:nvSpPr>
        <p:spPr>
          <a:xfrm>
            <a:off x="92284" y="1526742"/>
            <a:ext cx="681435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Примерно 181 </a:t>
            </a:r>
            <a:r>
              <a:rPr lang="ru-RU" altLang="ru-RU" sz="1800" dirty="0" err="1"/>
              <a:t>зеттабайт</a:t>
            </a:r>
            <a:r>
              <a:rPr lang="ru-RU" altLang="ru-RU" sz="1800" dirty="0"/>
              <a:t> (1.8·10</a:t>
            </a:r>
            <a:r>
              <a:rPr lang="en-US" altLang="ru-RU" sz="1800" baseline="30000" dirty="0"/>
              <a:t>23</a:t>
            </a:r>
            <a:r>
              <a:rPr lang="ru-RU" altLang="ru-RU" sz="1800" baseline="30000" dirty="0"/>
              <a:t> </a:t>
            </a:r>
            <a:r>
              <a:rPr lang="ru-RU" altLang="ru-RU" sz="1800" dirty="0"/>
              <a:t>байт</a:t>
            </a:r>
            <a:r>
              <a:rPr lang="en-US" altLang="ru-RU" sz="1800" dirty="0"/>
              <a:t>) </a:t>
            </a:r>
            <a:r>
              <a:rPr lang="ru-RU" altLang="ru-RU" sz="1800" dirty="0"/>
              <a:t>данных сгенерирован в 2025-м году</a:t>
            </a:r>
          </a:p>
          <a:p>
            <a:pPr lvl="2"/>
            <a:r>
              <a:rPr lang="ru-RU" altLang="ru-RU" sz="1600" dirty="0"/>
              <a:t>Это примерно равно </a:t>
            </a:r>
            <a:r>
              <a:rPr lang="ru-RU" altLang="ru-RU" sz="1600" b="1" dirty="0"/>
              <a:t>числу звезд видимой Вселенной</a:t>
            </a:r>
            <a:r>
              <a:rPr lang="ru-RU" altLang="ru-RU" sz="1600" dirty="0"/>
              <a:t> </a:t>
            </a:r>
          </a:p>
          <a:p>
            <a:pPr lvl="2"/>
            <a:r>
              <a:rPr lang="ru-RU" altLang="ru-RU" sz="1600" dirty="0"/>
              <a:t>Запись этой информации в ДНК потребовала бы </a:t>
            </a:r>
            <a:r>
              <a:rPr lang="ru-RU" altLang="ru-RU" sz="1600" b="1" dirty="0"/>
              <a:t>840 кг ДНК</a:t>
            </a:r>
            <a:r>
              <a:rPr lang="ru-RU" altLang="ru-RU" sz="1600" dirty="0"/>
              <a:t> (или содержимое ДНК 3.3 млн. человек)</a:t>
            </a:r>
          </a:p>
          <a:p>
            <a:pPr lvl="2"/>
            <a:r>
              <a:rPr lang="ru-RU" altLang="ru-RU" sz="1600" dirty="0"/>
              <a:t>В длину такая молекула ДНК была бы порядка </a:t>
            </a:r>
            <a:r>
              <a:rPr lang="ru-RU" altLang="ru-RU" sz="1600" b="1" dirty="0"/>
              <a:t>27 св. лет</a:t>
            </a:r>
            <a:r>
              <a:rPr lang="ru-RU" altLang="ru-RU" sz="1600" dirty="0"/>
              <a:t> (!), что дальше, чем расстояние от Солнца до Веги</a:t>
            </a:r>
          </a:p>
          <a:p>
            <a:pPr lvl="1"/>
            <a:r>
              <a:rPr lang="ru-RU" altLang="ru-RU" sz="1800" dirty="0"/>
              <a:t>Ежедневно генерируется примерно 403 миллиона терабайт данных</a:t>
            </a:r>
          </a:p>
          <a:p>
            <a:pPr lvl="1"/>
            <a:r>
              <a:rPr lang="ru-RU" altLang="ru-RU" sz="1800" dirty="0"/>
              <a:t>Более 75% всех данных это</a:t>
            </a:r>
            <a:r>
              <a:rPr lang="en-US" altLang="ru-RU" sz="1800" dirty="0"/>
              <a:t>:</a:t>
            </a:r>
          </a:p>
          <a:p>
            <a:pPr lvl="2"/>
            <a:r>
              <a:rPr lang="ru-RU" altLang="ru-RU" sz="1600" dirty="0"/>
              <a:t>Видео (53.72%)</a:t>
            </a:r>
          </a:p>
          <a:p>
            <a:pPr lvl="2"/>
            <a:r>
              <a:rPr lang="ru-RU" altLang="ru-RU" sz="1600" dirty="0"/>
              <a:t>Социальные сети (12.69%)</a:t>
            </a:r>
          </a:p>
          <a:p>
            <a:pPr lvl="2"/>
            <a:r>
              <a:rPr lang="ru-RU" altLang="ru-RU" sz="1600" dirty="0"/>
              <a:t>Игры (9.86%)</a:t>
            </a:r>
          </a:p>
          <a:p>
            <a:pPr lvl="1"/>
            <a:r>
              <a:rPr lang="ru-RU" altLang="ru-RU" sz="2000" dirty="0"/>
              <a:t>Каждую минуту</a:t>
            </a:r>
            <a:r>
              <a:rPr lang="en-US" altLang="ru-RU" sz="2000" dirty="0"/>
              <a:t>:</a:t>
            </a:r>
          </a:p>
          <a:p>
            <a:pPr lvl="2"/>
            <a:r>
              <a:rPr lang="ru-RU" altLang="ru-RU" sz="1600" dirty="0"/>
              <a:t>Отсылается 231.4 миллион писем</a:t>
            </a:r>
          </a:p>
          <a:p>
            <a:pPr lvl="2"/>
            <a:r>
              <a:rPr lang="ru-RU" altLang="ru-RU" sz="1600" dirty="0"/>
              <a:t>Проводится 104 600 часов в онлайн митингах</a:t>
            </a:r>
          </a:p>
          <a:p>
            <a:pPr lvl="2"/>
            <a:r>
              <a:rPr lang="ru-RU" altLang="ru-RU" sz="1600" dirty="0"/>
              <a:t>1.7 миллиона элементов контента публикуется в </a:t>
            </a:r>
            <a:r>
              <a:rPr lang="en-US" altLang="ru-RU" sz="1600" dirty="0"/>
              <a:t>Facebook</a:t>
            </a:r>
            <a:endParaRPr lang="ru-RU" altLang="ru-RU" sz="1600" dirty="0"/>
          </a:p>
          <a:p>
            <a:pPr lvl="2"/>
            <a:endParaRPr lang="ru-RU" altLang="ru-RU" sz="16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898085-5757-4E9D-AB87-5A09FCCAC0A7}"/>
              </a:ext>
            </a:extLst>
          </p:cNvPr>
          <p:cNvSpPr/>
          <p:nvPr/>
        </p:nvSpPr>
        <p:spPr>
          <a:xfrm>
            <a:off x="8956820" y="6611779"/>
            <a:ext cx="32351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000" dirty="0"/>
              <a:t>https://explodingtopics.com/blog/data-generated-per-day</a:t>
            </a:r>
            <a:endParaRPr lang="ru-RU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118CC-550D-9D8F-C338-01F38D4E6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131" y="1907218"/>
            <a:ext cx="4802816" cy="365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2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 только «котики» населяют Интернет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80C2C87C-F1D3-450E-9192-934111763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554" y="3086826"/>
            <a:ext cx="1633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Компоненты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FA2F721-D61C-4EDB-B9B7-D75C02B6B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405" y="3123597"/>
            <a:ext cx="1082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Данные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EC6C10D-E302-433C-9D81-A7FF9B9A7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84" y="5892110"/>
            <a:ext cx="21532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Поколения систем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D92C990-A803-4E97-AEDA-8EF521E52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131" y="6030609"/>
            <a:ext cx="1939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Уязвимости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D48AFE2-B0D2-4AC8-8526-A3556B51D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527" y="5996163"/>
            <a:ext cx="23156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Законодательство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CB81D116-1FCC-4484-8C5D-FE0FBF1DC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023" y="3095059"/>
            <a:ext cx="21136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Взаимодействие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474C6DBB-01D9-450A-A3C7-48514D71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471" y="3929108"/>
            <a:ext cx="1939887" cy="18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9">
            <a:extLst>
              <a:ext uri="{FF2B5EF4-FFF2-40B4-BE49-F238E27FC236}">
                <a16:creationId xmlns:a16="http://schemas.microsoft.com/office/drawing/2014/main" id="{E9801B08-0D4E-4F22-B9D7-64F8F2B6F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644" y="3919864"/>
            <a:ext cx="1395174" cy="2017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47099701-9035-419B-88AE-F4722D992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8749" y="3100600"/>
            <a:ext cx="24502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Arial" panose="020B0604020202020204" pitchFamily="34" charset="0"/>
              </a:rPr>
              <a:t>SW Dev &amp; Ops Tools</a:t>
            </a:r>
            <a:endParaRPr lang="ru-RU" altLang="ru-RU" sz="1800" b="1" dirty="0">
              <a:latin typeface="Arial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BDD3405-7294-413C-872C-7DA3A0D775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453" y="2089170"/>
            <a:ext cx="588080" cy="48663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FC76521-D47E-49DC-A56E-E6EA758FD5E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504" y="1940238"/>
            <a:ext cx="734187" cy="33575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EB27B5D-69A4-49C4-8F91-E7458BB36E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350" y="1263918"/>
            <a:ext cx="501525" cy="50152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89E2741-BEA2-4804-A516-8D9B85E34F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32497" y="1248228"/>
            <a:ext cx="424238" cy="424238"/>
          </a:xfrm>
          <a:prstGeom prst="rect">
            <a:avLst/>
          </a:prstGeom>
        </p:spPr>
      </p:pic>
      <p:sp>
        <p:nvSpPr>
          <p:cNvPr id="28" name="TextBox 4">
            <a:extLst>
              <a:ext uri="{FF2B5EF4-FFF2-40B4-BE49-F238E27FC236}">
                <a16:creationId xmlns:a16="http://schemas.microsoft.com/office/drawing/2014/main" id="{B0978E0B-B7B3-419D-8065-BEF93774A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4004" y="5996163"/>
            <a:ext cx="20999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Arial" panose="020B0604020202020204" pitchFamily="34" charset="0"/>
              </a:rPr>
              <a:t>Инфраструктура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1CE0F89-10DC-4FBA-B23B-A7DFE128004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774" y="3686732"/>
            <a:ext cx="1385729" cy="78011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739E353-7A19-4FBA-AC20-3FD420410A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008" y="4360833"/>
            <a:ext cx="1534529" cy="85933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CEE14E14-5AED-4EF2-81BB-8E752D7AA7B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201" y="5549605"/>
            <a:ext cx="1534530" cy="286226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B0648F3-0D26-4A54-8739-C083CB1A1ED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991" y="3880100"/>
            <a:ext cx="967003" cy="3590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A43CB61-C899-49AF-A9D2-B3A29EE1175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186" y="4446937"/>
            <a:ext cx="466204" cy="46620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4BB760A-932D-4678-97D0-FE81779FC86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717" y="1301299"/>
            <a:ext cx="609292" cy="32037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66DF7BF-FFEA-4EF4-8D8A-5FB90B1C46B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63" y="1808877"/>
            <a:ext cx="435062" cy="43506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A9FAB96-FD1A-4E90-8C37-54F2FA7FD9B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49" y="2655565"/>
            <a:ext cx="909074" cy="305233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06DD33-6313-4633-8410-4EF9CF2C674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43" y="5341839"/>
            <a:ext cx="902211" cy="3051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F0B1EAE-A749-465E-BCB2-06E1EEC4746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533" y="2453531"/>
            <a:ext cx="533541" cy="533541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583429B0-202B-4E6B-A251-37D2FAAB5D21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853" y="4469243"/>
            <a:ext cx="1373487" cy="929757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96550EF-0023-4D2F-BC3A-461D9A97196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1733" y="1174235"/>
            <a:ext cx="2037131" cy="1867762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6D90AB7-5B3D-4CB5-9E36-A745EB3916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3588" y="3889556"/>
            <a:ext cx="2144501" cy="196795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58F53D3-E8BA-4DFC-88F6-46BF6E1147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83674" y="1174235"/>
            <a:ext cx="1914049" cy="1853507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C62D5424-340B-4BA0-8335-C060F2D61A6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38892" y="1277615"/>
            <a:ext cx="1855918" cy="1821292"/>
          </a:xfrm>
          <a:prstGeom prst="rect">
            <a:avLst/>
          </a:prstGeom>
        </p:spPr>
      </p:pic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89D2742D-C9A2-4242-8DF8-BA22E453D1E1}"/>
              </a:ext>
            </a:extLst>
          </p:cNvPr>
          <p:cNvSpPr/>
          <p:nvPr/>
        </p:nvSpPr>
        <p:spPr>
          <a:xfrm>
            <a:off x="592828" y="3757209"/>
            <a:ext cx="2552536" cy="2781232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801830D2-8C3B-4B2C-BA5C-A576C0D5E56C}"/>
              </a:ext>
            </a:extLst>
          </p:cNvPr>
          <p:cNvSpPr/>
          <p:nvPr/>
        </p:nvSpPr>
        <p:spPr>
          <a:xfrm>
            <a:off x="620483" y="1027882"/>
            <a:ext cx="2552536" cy="2578801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E7D3A6C4-C7B0-4953-951C-764E467543D3}"/>
              </a:ext>
            </a:extLst>
          </p:cNvPr>
          <p:cNvSpPr/>
          <p:nvPr/>
        </p:nvSpPr>
        <p:spPr>
          <a:xfrm>
            <a:off x="3363821" y="1027882"/>
            <a:ext cx="2552536" cy="2578801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CFF73736-BD64-4285-A408-BC4B8E94322B}"/>
              </a:ext>
            </a:extLst>
          </p:cNvPr>
          <p:cNvSpPr/>
          <p:nvPr/>
        </p:nvSpPr>
        <p:spPr>
          <a:xfrm>
            <a:off x="6001125" y="1043087"/>
            <a:ext cx="2552536" cy="2578801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E25FCB97-A626-44A1-8F9D-5656C3185CE2}"/>
              </a:ext>
            </a:extLst>
          </p:cNvPr>
          <p:cNvSpPr/>
          <p:nvPr/>
        </p:nvSpPr>
        <p:spPr>
          <a:xfrm>
            <a:off x="8733234" y="1040021"/>
            <a:ext cx="2552536" cy="2578801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C1BA4D84-6E15-4FA6-837E-B4B7F86DDDAB}"/>
              </a:ext>
            </a:extLst>
          </p:cNvPr>
          <p:cNvSpPr/>
          <p:nvPr/>
        </p:nvSpPr>
        <p:spPr>
          <a:xfrm>
            <a:off x="8741991" y="3758250"/>
            <a:ext cx="2576981" cy="2769684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310736AF-60BD-45CB-903B-D872BA9BDB3F}"/>
              </a:ext>
            </a:extLst>
          </p:cNvPr>
          <p:cNvSpPr/>
          <p:nvPr/>
        </p:nvSpPr>
        <p:spPr>
          <a:xfrm>
            <a:off x="3316267" y="3762231"/>
            <a:ext cx="2549743" cy="2776209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ADC29FFA-BCF2-4071-8304-8C1020E4CCB8}"/>
              </a:ext>
            </a:extLst>
          </p:cNvPr>
          <p:cNvSpPr/>
          <p:nvPr/>
        </p:nvSpPr>
        <p:spPr>
          <a:xfrm>
            <a:off x="6011150" y="3768754"/>
            <a:ext cx="2561324" cy="2769685"/>
          </a:xfrm>
          <a:prstGeom prst="roundRect">
            <a:avLst>
              <a:gd name="adj" fmla="val 4129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194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Потому что есть пределы человеческих возможностей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E04947-545D-12C1-D23D-A66A6DA62541}"/>
              </a:ext>
            </a:extLst>
          </p:cNvPr>
          <p:cNvSpPr txBox="1"/>
          <p:nvPr/>
        </p:nvSpPr>
        <p:spPr>
          <a:xfrm>
            <a:off x="1523594" y="1720840"/>
            <a:ext cx="91448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В настоящее время человек обладает «информационной пропускной способностью» такой же, как и 100000 лет тому назад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 Когда у нас господствовал общественный строй, очень сильно ограничивающий информационными запретами и цензурой, я еще справлялся с поступлением информации, часто «контрабандной», которой в то время «информационной диеты» в сумме было не очень много. Сейчас, когда я могу свободно пользоваться традиционными источниками научной информации, а также получая регулярно «Природу», 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New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Scientist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», 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Scientific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American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», 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American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Scientist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», 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Science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et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Vie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 , научные приложения к таким изданиям, как 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International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Herald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 или 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Frankfurter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Allgemeine</a:t>
            </a:r>
            <a:r>
              <a:rPr lang="ru-RU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 , уже (хотя опять не очень много) вижу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громадящиеся</a:t>
            </a:r>
            <a:r>
              <a:rPr lang="ru-RU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у меня на бюро стопки изданий, которые пришли ко мне, но которые прочитать и переварить я не в состоянии.</a:t>
            </a:r>
          </a:p>
          <a:p>
            <a:pPr algn="r"/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С. </a:t>
            </a:r>
            <a:r>
              <a:rPr lang="ru-RU" dirty="0" err="1">
                <a:solidFill>
                  <a:srgbClr val="000000"/>
                </a:solidFill>
                <a:latin typeface="Georgia" panose="02040502050405020303" pitchFamily="18" charset="0"/>
              </a:rPr>
              <a:t>Лем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«Мегабитовая бомба»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6264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Люди перестают справляться…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41E70BE-EEE3-4FF8-8AE1-8F5B0805AF04}"/>
              </a:ext>
            </a:extLst>
          </p:cNvPr>
          <p:cNvSpPr/>
          <p:nvPr/>
        </p:nvSpPr>
        <p:spPr>
          <a:xfrm>
            <a:off x="6391418" y="1151739"/>
            <a:ext cx="5681663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/>
              <a:t>Защита</a:t>
            </a:r>
            <a:r>
              <a:rPr lang="en-US" sz="2800" dirty="0"/>
              <a:t>: tools (</a:t>
            </a:r>
            <a:r>
              <a:rPr lang="en-US" sz="2800" dirty="0" err="1"/>
              <a:t>ngX</a:t>
            </a:r>
            <a:r>
              <a:rPr lang="en-US" sz="2800" dirty="0"/>
              <a:t> – IDS, EDR, SOAR), Ops (reverse engineering, forensic, monitoring, automation), processes (0-trust model)</a:t>
            </a:r>
            <a:endParaRPr lang="ru-RU" sz="28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521150-75CA-45E3-B2A6-E330A2B09987}"/>
              </a:ext>
            </a:extLst>
          </p:cNvPr>
          <p:cNvSpPr/>
          <p:nvPr/>
        </p:nvSpPr>
        <p:spPr>
          <a:xfrm>
            <a:off x="544911" y="1151739"/>
            <a:ext cx="59974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800" dirty="0"/>
              <a:t>Атака: </a:t>
            </a:r>
            <a:r>
              <a:rPr lang="en-US" altLang="ru-RU" sz="2800" dirty="0"/>
              <a:t>SW (malware, tools), OPs (fishing, DGA, OSINT, reverse engineering), technologies (</a:t>
            </a:r>
            <a:r>
              <a:rPr lang="en-US" altLang="ru-RU" sz="2800" dirty="0" err="1"/>
              <a:t>DeepFake</a:t>
            </a:r>
            <a:r>
              <a:rPr lang="en-US" altLang="ru-RU" sz="2800" dirty="0"/>
              <a:t>), processes (APT, </a:t>
            </a:r>
            <a:r>
              <a:rPr lang="en-US" altLang="ru-RU" sz="2800" dirty="0" err="1"/>
              <a:t>bruteforce</a:t>
            </a:r>
            <a:r>
              <a:rPr lang="en-US" altLang="ru-RU" sz="2800" dirty="0"/>
              <a:t>)</a:t>
            </a:r>
            <a:endParaRPr lang="ru-RU" alt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E4ED93-3D70-4E53-B840-FD360C538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529" y="3202717"/>
            <a:ext cx="2497276" cy="23899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25863D-6870-4F50-B31C-1881BF36A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809" y="3264754"/>
            <a:ext cx="2441058" cy="244105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51D167-D1D3-4FA7-A637-C4868C592DEA}"/>
              </a:ext>
            </a:extLst>
          </p:cNvPr>
          <p:cNvSpPr/>
          <p:nvPr/>
        </p:nvSpPr>
        <p:spPr>
          <a:xfrm>
            <a:off x="544911" y="5762084"/>
            <a:ext cx="109682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Golos Text" panose="020B0503020202020204" pitchFamily="34" charset="-52"/>
              </a:rPr>
              <a:t>«</a:t>
            </a:r>
            <a:r>
              <a:rPr lang="ru-RU" sz="2000" dirty="0"/>
              <a:t>Ключевые области внимания в применении ИИ в кибербезопасности», </a:t>
            </a:r>
          </a:p>
          <a:p>
            <a:r>
              <a:rPr lang="ru-RU" sz="2000" dirty="0"/>
              <a:t>д.ф.-м.н., проф. Котенко И.В., </a:t>
            </a:r>
            <a:r>
              <a:rPr lang="en-US" sz="2000" dirty="0"/>
              <a:t>RusCrypto-2023</a:t>
            </a:r>
            <a:endParaRPr lang="ru-RU" sz="2000" dirty="0"/>
          </a:p>
          <a:p>
            <a:r>
              <a:rPr lang="en-US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</a:t>
            </a:r>
            <a:r>
              <a:rPr lang="ru-RU" sz="20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рускрипто.рф</a:t>
            </a:r>
            <a:r>
              <a:rPr lang="en-US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/resource/archive/rc2023/files/15_kotenko.pdf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133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Что же такое «анализ данных»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Рисунок 1">
            <a:extLst>
              <a:ext uri="{FF2B5EF4-FFF2-40B4-BE49-F238E27FC236}">
                <a16:creationId xmlns:a16="http://schemas.microsoft.com/office/drawing/2014/main" id="{1558EC1F-67FA-4281-A318-9F05C3454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7" y="1654760"/>
            <a:ext cx="4619625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llout: Line with Accent Bar 6">
            <a:extLst>
              <a:ext uri="{FF2B5EF4-FFF2-40B4-BE49-F238E27FC236}">
                <a16:creationId xmlns:a16="http://schemas.microsoft.com/office/drawing/2014/main" id="{D381830A-FCB7-F9D8-27DF-E6B8AFFF2E20}"/>
              </a:ext>
            </a:extLst>
          </p:cNvPr>
          <p:cNvSpPr/>
          <p:nvPr/>
        </p:nvSpPr>
        <p:spPr>
          <a:xfrm>
            <a:off x="9143999" y="1527243"/>
            <a:ext cx="1585609" cy="511277"/>
          </a:xfrm>
          <a:prstGeom prst="accentCallout1">
            <a:avLst>
              <a:gd name="adj1" fmla="val 18750"/>
              <a:gd name="adj2" fmla="val -8333"/>
              <a:gd name="adj3" fmla="val 114228"/>
              <a:gd name="adj4" fmla="val -701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Методы анализа</a:t>
            </a:r>
          </a:p>
        </p:txBody>
      </p:sp>
      <p:sp>
        <p:nvSpPr>
          <p:cNvPr id="13" name="Callout: Line with Accent Bar 12">
            <a:extLst>
              <a:ext uri="{FF2B5EF4-FFF2-40B4-BE49-F238E27FC236}">
                <a16:creationId xmlns:a16="http://schemas.microsoft.com/office/drawing/2014/main" id="{F56E08B7-87E3-915C-C20B-1C5CA13C9453}"/>
              </a:ext>
            </a:extLst>
          </p:cNvPr>
          <p:cNvSpPr/>
          <p:nvPr/>
        </p:nvSpPr>
        <p:spPr>
          <a:xfrm flipH="1">
            <a:off x="1387811" y="1527242"/>
            <a:ext cx="1585609" cy="511277"/>
          </a:xfrm>
          <a:prstGeom prst="accentCallout1">
            <a:avLst>
              <a:gd name="adj1" fmla="val 18750"/>
              <a:gd name="adj2" fmla="val -8333"/>
              <a:gd name="adj3" fmla="val 114228"/>
              <a:gd name="adj4" fmla="val -7015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Технологии анализа</a:t>
            </a:r>
          </a:p>
        </p:txBody>
      </p:sp>
      <p:sp>
        <p:nvSpPr>
          <p:cNvPr id="14" name="Callout: Line with Accent Bar 13">
            <a:extLst>
              <a:ext uri="{FF2B5EF4-FFF2-40B4-BE49-F238E27FC236}">
                <a16:creationId xmlns:a16="http://schemas.microsoft.com/office/drawing/2014/main" id="{3056826D-47F0-5140-CA69-01296E5877D3}"/>
              </a:ext>
            </a:extLst>
          </p:cNvPr>
          <p:cNvSpPr/>
          <p:nvPr/>
        </p:nvSpPr>
        <p:spPr>
          <a:xfrm>
            <a:off x="8351194" y="4780568"/>
            <a:ext cx="1989308" cy="511277"/>
          </a:xfrm>
          <a:prstGeom prst="accentCallout1">
            <a:avLst>
              <a:gd name="adj1" fmla="val 18750"/>
              <a:gd name="adj2" fmla="val -8333"/>
              <a:gd name="adj3" fmla="val 102812"/>
              <a:gd name="adj4" fmla="val -5401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Цели и смыслы анализа</a:t>
            </a:r>
          </a:p>
        </p:txBody>
      </p:sp>
    </p:spTree>
    <p:extLst>
      <p:ext uri="{BB962C8B-B14F-4D97-AF65-F5344CB8AC3E}">
        <p14:creationId xmlns:p14="http://schemas.microsoft.com/office/powerpoint/2010/main" val="38640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772B-231E-7F82-E48E-D4439EF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B9EABE-2566-6920-3429-DF3084FB93A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6EC6D7D-4ED4-C46F-A186-F0BF4C1E2104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869E14-D5D4-F4D9-1806-3E33E9EF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340BD92-CF6A-91A2-DCE5-27C86EF40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89095B-4316-95D9-BF1E-1636734C0230}"/>
              </a:ext>
            </a:extLst>
          </p:cNvPr>
          <p:cNvSpPr txBox="1"/>
          <p:nvPr/>
        </p:nvSpPr>
        <p:spPr>
          <a:xfrm>
            <a:off x="925620" y="1654629"/>
            <a:ext cx="1489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EventID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/>
              <a:t>4624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56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8584B-1124-450F-9FEA-BD2374DA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8DD5E6-6F19-1381-DDD5-2A40443D7E4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97C9D00-24E9-BD0A-B657-8DE0A189CAD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CB7FE-EB7F-135F-782F-B49644CF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72A0837-C4D1-849C-EF09-51CAE8DAD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DE34A8-DCC3-E705-9717-E706346545D3}"/>
              </a:ext>
            </a:extLst>
          </p:cNvPr>
          <p:cNvSpPr txBox="1"/>
          <p:nvPr/>
        </p:nvSpPr>
        <p:spPr>
          <a:xfrm>
            <a:off x="925620" y="1654629"/>
            <a:ext cx="1489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9133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2F2A-3441-A727-FE8A-B19DB81A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DFC3B2-5A55-E691-D63F-9B0D7EC2DE6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A10E827-BB92-D162-FDBA-5A968BDA452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FD1F7-45DD-9167-53F8-ACD14DA3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653D767-6695-0EA6-A658-EB818C124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5F3E3D-69AC-004E-FBC3-3860EE0B674E}"/>
              </a:ext>
            </a:extLst>
          </p:cNvPr>
          <p:cNvSpPr txBox="1"/>
          <p:nvPr/>
        </p:nvSpPr>
        <p:spPr>
          <a:xfrm>
            <a:off x="925620" y="1654629"/>
            <a:ext cx="37877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r>
              <a:rPr lang="en-US" dirty="0"/>
              <a:t>An account was successfully logged on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194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6880-BF0B-15BA-5C40-DA539C31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4FAA39-55D8-B2B9-768C-37BC0E57790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ACB45EA-8D50-D2C7-2EF9-BB416127312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D48D78-F55D-63C2-F2AA-651B500C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5869C22-EF67-E992-CF8C-98843673F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85CA50-4B98-D6CC-E1E5-7F09A06D109A}"/>
              </a:ext>
            </a:extLst>
          </p:cNvPr>
          <p:cNvSpPr txBox="1"/>
          <p:nvPr/>
        </p:nvSpPr>
        <p:spPr>
          <a:xfrm>
            <a:off x="925620" y="1654629"/>
            <a:ext cx="478887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r>
              <a:rPr lang="en-US" dirty="0"/>
              <a:t>An account was successfully logged on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bg1"/>
                </a:solidFill>
              </a:rPr>
              <a:t>TimeCreated</a:t>
            </a:r>
            <a:r>
              <a:rPr lang="en-US" dirty="0">
                <a:solidFill>
                  <a:schemeClr val="bg1"/>
                </a:solidFill>
              </a:rPr>
              <a:t>: 2026-01-01T00:24:35.079785200Z </a:t>
            </a:r>
          </a:p>
          <a:p>
            <a:endParaRPr lang="en-US" dirty="0"/>
          </a:p>
          <a:p>
            <a:r>
              <a:rPr lang="en-US" dirty="0" err="1"/>
              <a:t>TargetUserName</a:t>
            </a:r>
            <a:r>
              <a:rPr lang="en-US" dirty="0"/>
              <a:t>: Administrator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39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80F6-34E2-FFA8-2718-75A1239E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D454CB-ED39-1508-E792-BED1A5B975B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E7E4137-0998-A124-1E1D-021BE929B1E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692292-B56B-2516-9327-5BB97AF1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62CBAA4-1F31-02EA-29B1-C5F59B56B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DF6532-0723-E316-3771-49D74CF806E5}"/>
              </a:ext>
            </a:extLst>
          </p:cNvPr>
          <p:cNvSpPr txBox="1"/>
          <p:nvPr/>
        </p:nvSpPr>
        <p:spPr>
          <a:xfrm>
            <a:off x="925620" y="1654629"/>
            <a:ext cx="478887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r>
              <a:rPr lang="en-US" dirty="0"/>
              <a:t>An account was successfully logged on</a:t>
            </a:r>
          </a:p>
          <a:p>
            <a:endParaRPr lang="en-US" dirty="0"/>
          </a:p>
          <a:p>
            <a:r>
              <a:rPr lang="en-US" dirty="0" err="1"/>
              <a:t>TimeCreated</a:t>
            </a:r>
            <a:r>
              <a:rPr lang="en-US" dirty="0"/>
              <a:t>: 2026-01-01T00:24:35.079785200Z </a:t>
            </a:r>
          </a:p>
          <a:p>
            <a:endParaRPr lang="en-US" dirty="0"/>
          </a:p>
          <a:p>
            <a:r>
              <a:rPr lang="en-US" dirty="0" err="1"/>
              <a:t>TargetUserName</a:t>
            </a:r>
            <a:r>
              <a:rPr lang="en-US" dirty="0"/>
              <a:t>: Administrator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9833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F25B-4E6B-CF18-516A-220C0EE7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57607F-596E-1F6E-4911-BDD41EB619D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BA6E667-3375-4D13-F02D-44B4F650538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4FAA19-7A48-E060-B651-C15A13D2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84C9817-77E9-F002-4191-32A61D6C6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3CB279-3D42-5F59-1B8C-F36924E2524B}"/>
              </a:ext>
            </a:extLst>
          </p:cNvPr>
          <p:cNvSpPr txBox="1"/>
          <p:nvPr/>
        </p:nvSpPr>
        <p:spPr>
          <a:xfrm>
            <a:off x="925620" y="1654629"/>
            <a:ext cx="47888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r>
              <a:rPr lang="en-US" dirty="0"/>
              <a:t>An account was successfully logged on</a:t>
            </a:r>
          </a:p>
          <a:p>
            <a:endParaRPr lang="en-US" dirty="0"/>
          </a:p>
          <a:p>
            <a:r>
              <a:rPr lang="en-US" dirty="0" err="1"/>
              <a:t>TimeCreated</a:t>
            </a:r>
            <a:r>
              <a:rPr lang="en-US" dirty="0"/>
              <a:t>: 2026-01-01T00:24:35.079785200Z </a:t>
            </a:r>
          </a:p>
          <a:p>
            <a:endParaRPr lang="en-US" dirty="0"/>
          </a:p>
          <a:p>
            <a:r>
              <a:rPr lang="en-US" dirty="0" err="1"/>
              <a:t>TargetUserName</a:t>
            </a:r>
            <a:r>
              <a:rPr lang="en-US" dirty="0"/>
              <a:t>: Administrator</a:t>
            </a:r>
          </a:p>
          <a:p>
            <a:endParaRPr lang="en-US" dirty="0"/>
          </a:p>
          <a:p>
            <a:r>
              <a:rPr lang="en-US" dirty="0" err="1"/>
              <a:t>IpAddress</a:t>
            </a:r>
            <a:r>
              <a:rPr lang="en-US" dirty="0"/>
              <a:t>: 45.96.12.45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667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64B5-058A-98C5-7D9B-0B64D30B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7DBD38-E72D-19B5-70C5-14F3554AC67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4DCA19A-B454-FFE8-3E61-7E5A8D13814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Небольшой пример. Что можно извлечь из этого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88E66-8D32-5B13-E2E1-7CEFB88C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7B21852-0E39-5E49-2C49-7219A87D2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ADF3DA-C34E-0680-3F6F-489AFF1F4E94}"/>
              </a:ext>
            </a:extLst>
          </p:cNvPr>
          <p:cNvSpPr txBox="1"/>
          <p:nvPr/>
        </p:nvSpPr>
        <p:spPr>
          <a:xfrm>
            <a:off x="925620" y="1654629"/>
            <a:ext cx="47888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</a:p>
          <a:p>
            <a:r>
              <a:rPr lang="en-US" dirty="0"/>
              <a:t>An account was successfully logged on</a:t>
            </a:r>
          </a:p>
          <a:p>
            <a:endParaRPr lang="en-US" dirty="0"/>
          </a:p>
          <a:p>
            <a:r>
              <a:rPr lang="en-US" dirty="0" err="1"/>
              <a:t>TimeCreated</a:t>
            </a:r>
            <a:r>
              <a:rPr lang="en-US" dirty="0"/>
              <a:t>: 2026-01-01T00:24:35.079785200Z </a:t>
            </a:r>
          </a:p>
          <a:p>
            <a:endParaRPr lang="en-US" dirty="0"/>
          </a:p>
          <a:p>
            <a:r>
              <a:rPr lang="en-US" dirty="0" err="1"/>
              <a:t>TargetUserName</a:t>
            </a:r>
            <a:r>
              <a:rPr lang="en-US" dirty="0"/>
              <a:t>: Administrator</a:t>
            </a:r>
          </a:p>
          <a:p>
            <a:endParaRPr lang="en-US" dirty="0"/>
          </a:p>
          <a:p>
            <a:r>
              <a:rPr lang="en-US" dirty="0" err="1"/>
              <a:t>IpAddress</a:t>
            </a:r>
            <a:r>
              <a:rPr lang="en-US" dirty="0"/>
              <a:t>: 45.96.12.45</a:t>
            </a:r>
          </a:p>
          <a:p>
            <a:endParaRPr lang="ru-RU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54A14D-FC10-F9CE-201C-E726F2E8B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2947290"/>
            <a:ext cx="5905500" cy="36576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99AE74-56C9-ECD9-35EA-DF24FE1D6F8B}"/>
              </a:ext>
            </a:extLst>
          </p:cNvPr>
          <p:cNvCxnSpPr/>
          <p:nvPr/>
        </p:nvCxnSpPr>
        <p:spPr>
          <a:xfrm>
            <a:off x="3320057" y="3744686"/>
            <a:ext cx="1977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906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F1B8-A3FD-5D79-E73D-5661BB93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BC09BD-6FA0-B683-B9EA-C60CD4608EE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597AD9A-6235-8654-18C5-5BC1BB70CBB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Аспекты информации</a:t>
            </a:r>
            <a:r>
              <a:rPr lang="en-US" sz="2800" b="1" dirty="0">
                <a:solidFill>
                  <a:srgbClr val="FF0000"/>
                </a:solidFill>
              </a:rPr>
              <a:t>,</a:t>
            </a:r>
            <a:r>
              <a:rPr lang="ru-RU" sz="2800" b="1" dirty="0">
                <a:solidFill>
                  <a:srgbClr val="FF0000"/>
                </a:solidFill>
              </a:rPr>
              <a:t> данные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42FE7-BAF6-EF6E-BAC1-509DF93B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20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1B5356F-433C-2E85-15C8-0BFC301F8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5A2B78C-4E74-F6E5-AE05-AA66EA0D3E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4006307"/>
              </p:ext>
            </p:extLst>
          </p:nvPr>
        </p:nvGraphicFramePr>
        <p:xfrm>
          <a:off x="482600" y="1107951"/>
          <a:ext cx="928551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Right Bracket 9">
            <a:extLst>
              <a:ext uri="{FF2B5EF4-FFF2-40B4-BE49-F238E27FC236}">
                <a16:creationId xmlns:a16="http://schemas.microsoft.com/office/drawing/2014/main" id="{F840C2B1-32DF-FB1B-A744-ED91E72E8850}"/>
              </a:ext>
            </a:extLst>
          </p:cNvPr>
          <p:cNvSpPr/>
          <p:nvPr/>
        </p:nvSpPr>
        <p:spPr>
          <a:xfrm>
            <a:off x="9746343" y="4495436"/>
            <a:ext cx="562429" cy="2031182"/>
          </a:xfrm>
          <a:prstGeom prst="rightBracket">
            <a:avLst>
              <a:gd name="adj" fmla="val 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2DDEBA-D2A2-3135-8884-40046365B288}"/>
              </a:ext>
            </a:extLst>
          </p:cNvPr>
          <p:cNvSpPr txBox="1"/>
          <p:nvPr/>
        </p:nvSpPr>
        <p:spPr>
          <a:xfrm>
            <a:off x="10438112" y="5326361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3419884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1357-4351-FFD6-E3E7-C1989A0E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8249EA-6138-12BF-44BE-6172AD918DD3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4FE4054-5C30-52EF-2B8F-81871B2379A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 тезаурус, контекст и ценность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24940D-7744-B6F9-C375-1A53008E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21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ED6A5D8-856B-A52E-5F69-3BF4F9446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44693A-FB12-E45B-0BD1-BEEB3B8BDD6C}"/>
              </a:ext>
            </a:extLst>
          </p:cNvPr>
          <p:cNvSpPr txBox="1"/>
          <p:nvPr/>
        </p:nvSpPr>
        <p:spPr>
          <a:xfrm>
            <a:off x="925620" y="4048026"/>
            <a:ext cx="47965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EventID</a:t>
            </a:r>
            <a:r>
              <a:rPr lang="en-US" dirty="0"/>
              <a:t>: 4624</a:t>
            </a:r>
            <a:endParaRPr lang="ru-RU" dirty="0"/>
          </a:p>
          <a:p>
            <a:endParaRPr lang="en-US" dirty="0"/>
          </a:p>
          <a:p>
            <a:endParaRPr lang="ru-RU" dirty="0"/>
          </a:p>
          <a:p>
            <a:endParaRPr lang="en-US" dirty="0"/>
          </a:p>
          <a:p>
            <a:r>
              <a:rPr lang="en-US" dirty="0" err="1"/>
              <a:t>TimeCreated</a:t>
            </a:r>
            <a:r>
              <a:rPr lang="en-US" dirty="0"/>
              <a:t>: 2026-01-01T00:24:35.079785200Z </a:t>
            </a:r>
          </a:p>
          <a:p>
            <a:r>
              <a:rPr lang="en-US" dirty="0" err="1"/>
              <a:t>TargetUserName</a:t>
            </a:r>
            <a:r>
              <a:rPr lang="en-US" dirty="0"/>
              <a:t>: Administrator</a:t>
            </a:r>
          </a:p>
          <a:p>
            <a:r>
              <a:rPr lang="en-US" dirty="0" err="1"/>
              <a:t>IpAddress</a:t>
            </a:r>
            <a:r>
              <a:rPr lang="en-US" dirty="0"/>
              <a:t>: 45.96.12.45</a:t>
            </a:r>
          </a:p>
          <a:p>
            <a:endParaRPr lang="ru-RU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2E9CFE-735E-FDED-C620-C8C331CE7509}"/>
              </a:ext>
            </a:extLst>
          </p:cNvPr>
          <p:cNvCxnSpPr/>
          <p:nvPr/>
        </p:nvCxnSpPr>
        <p:spPr>
          <a:xfrm>
            <a:off x="1578363" y="1765261"/>
            <a:ext cx="1977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45F7C3-8988-FAB8-37DD-86C4728248BE}"/>
              </a:ext>
            </a:extLst>
          </p:cNvPr>
          <p:cNvSpPr txBox="1"/>
          <p:nvPr/>
        </p:nvSpPr>
        <p:spPr>
          <a:xfrm>
            <a:off x="925620" y="158059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4624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8E39D-6C35-ED9B-80BF-13EB11808051}"/>
              </a:ext>
            </a:extLst>
          </p:cNvPr>
          <p:cNvSpPr txBox="1"/>
          <p:nvPr/>
        </p:nvSpPr>
        <p:spPr>
          <a:xfrm>
            <a:off x="3556020" y="15697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account was successfully logged on</a:t>
            </a:r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7DE08C54-650F-AADB-67DE-91494DC8707B}"/>
              </a:ext>
            </a:extLst>
          </p:cNvPr>
          <p:cNvSpPr/>
          <p:nvPr/>
        </p:nvSpPr>
        <p:spPr>
          <a:xfrm>
            <a:off x="6874921" y="1397818"/>
            <a:ext cx="562429" cy="1339325"/>
          </a:xfrm>
          <a:prstGeom prst="rightBracket">
            <a:avLst>
              <a:gd name="adj" fmla="val 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718FF-6BC9-ECF6-E9EF-0F9F19A0DD07}"/>
              </a:ext>
            </a:extLst>
          </p:cNvPr>
          <p:cNvSpPr txBox="1"/>
          <p:nvPr/>
        </p:nvSpPr>
        <p:spPr>
          <a:xfrm>
            <a:off x="925620" y="2197825"/>
            <a:ext cx="263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45.96.12.45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5E93576-7917-4AAC-AF59-EB238C535535}"/>
              </a:ext>
            </a:extLst>
          </p:cNvPr>
          <p:cNvCxnSpPr>
            <a:cxnSpLocks/>
            <a:endCxn id="17" idx="3"/>
          </p:cNvCxnSpPr>
          <p:nvPr/>
        </p:nvCxnSpPr>
        <p:spPr>
          <a:xfrm>
            <a:off x="2240820" y="2382491"/>
            <a:ext cx="1315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24D30E-6BAA-EA4D-4E2A-10D51B03ACD7}"/>
              </a:ext>
            </a:extLst>
          </p:cNvPr>
          <p:cNvSpPr txBox="1"/>
          <p:nvPr/>
        </p:nvSpPr>
        <p:spPr>
          <a:xfrm>
            <a:off x="3556020" y="2197825"/>
            <a:ext cx="1498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Egypt, Cairo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C82781-1206-0FE4-DB0C-15A5CD4E1E06}"/>
              </a:ext>
            </a:extLst>
          </p:cNvPr>
          <p:cNvSpPr txBox="1"/>
          <p:nvPr/>
        </p:nvSpPr>
        <p:spPr>
          <a:xfrm>
            <a:off x="7575801" y="1882814"/>
            <a:ext cx="10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Тезаурус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6626BF-935B-5C59-8BE6-BA23280602C1}"/>
              </a:ext>
            </a:extLst>
          </p:cNvPr>
          <p:cNvCxnSpPr>
            <a:cxnSpLocks/>
          </p:cNvCxnSpPr>
          <p:nvPr/>
        </p:nvCxnSpPr>
        <p:spPr>
          <a:xfrm>
            <a:off x="1713884" y="4432931"/>
            <a:ext cx="0" cy="769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llout: Line with Accent Bar 24">
            <a:extLst>
              <a:ext uri="{FF2B5EF4-FFF2-40B4-BE49-F238E27FC236}">
                <a16:creationId xmlns:a16="http://schemas.microsoft.com/office/drawing/2014/main" id="{1AC57E37-2741-64BF-64FC-10675FC37851}"/>
              </a:ext>
            </a:extLst>
          </p:cNvPr>
          <p:cNvSpPr/>
          <p:nvPr/>
        </p:nvSpPr>
        <p:spPr>
          <a:xfrm>
            <a:off x="3106240" y="4164779"/>
            <a:ext cx="1585609" cy="511277"/>
          </a:xfrm>
          <a:prstGeom prst="accentCallout1">
            <a:avLst>
              <a:gd name="adj1" fmla="val 18750"/>
              <a:gd name="adj2" fmla="val -8333"/>
              <a:gd name="adj3" fmla="val 128422"/>
              <a:gd name="adj4" fmla="val -8022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</a:rPr>
              <a:t>Контекст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B218D70-2E86-E66D-CDAE-DE1C14343BC0}"/>
              </a:ext>
            </a:extLst>
          </p:cNvPr>
          <p:cNvCxnSpPr/>
          <p:nvPr/>
        </p:nvCxnSpPr>
        <p:spPr>
          <a:xfrm flipV="1">
            <a:off x="7678057" y="3429000"/>
            <a:ext cx="0" cy="2391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576189-7290-8DED-3612-C96081E68F25}"/>
              </a:ext>
            </a:extLst>
          </p:cNvPr>
          <p:cNvCxnSpPr>
            <a:cxnSpLocks/>
          </p:cNvCxnSpPr>
          <p:nvPr/>
        </p:nvCxnSpPr>
        <p:spPr>
          <a:xfrm>
            <a:off x="7678057" y="5822004"/>
            <a:ext cx="41128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297F7D-334F-3356-E1A9-06798FEE0BA9}"/>
              </a:ext>
            </a:extLst>
          </p:cNvPr>
          <p:cNvSpPr txBox="1"/>
          <p:nvPr/>
        </p:nvSpPr>
        <p:spPr>
          <a:xfrm>
            <a:off x="5917447" y="3234234"/>
            <a:ext cx="1707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Семантическая</a:t>
            </a:r>
          </a:p>
          <a:p>
            <a:pPr algn="r"/>
            <a:r>
              <a:rPr lang="ru-RU" b="1" dirty="0"/>
              <a:t>ценность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75816D-A97A-97F5-056F-E3B6A8874B71}"/>
              </a:ext>
            </a:extLst>
          </p:cNvPr>
          <p:cNvSpPr txBox="1"/>
          <p:nvPr/>
        </p:nvSpPr>
        <p:spPr>
          <a:xfrm>
            <a:off x="11039120" y="5834525"/>
            <a:ext cx="1152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Размер </a:t>
            </a:r>
          </a:p>
          <a:p>
            <a:r>
              <a:rPr lang="ru-RU" b="1" dirty="0"/>
              <a:t>тезауруса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4F4E07E-347F-196D-B790-ED05F7269318}"/>
              </a:ext>
            </a:extLst>
          </p:cNvPr>
          <p:cNvSpPr/>
          <p:nvPr/>
        </p:nvSpPr>
        <p:spPr>
          <a:xfrm>
            <a:off x="7692571" y="4065821"/>
            <a:ext cx="3661229" cy="1768922"/>
          </a:xfrm>
          <a:custGeom>
            <a:avLst/>
            <a:gdLst>
              <a:gd name="csX0" fmla="*/ 0 w 4281715"/>
              <a:gd name="csY0" fmla="*/ 1739893 h 1768922"/>
              <a:gd name="csX1" fmla="*/ 1103086 w 4281715"/>
              <a:gd name="csY1" fmla="*/ 288465 h 1768922"/>
              <a:gd name="csX2" fmla="*/ 2336800 w 4281715"/>
              <a:gd name="csY2" fmla="*/ 128808 h 1768922"/>
              <a:gd name="csX3" fmla="*/ 4281715 w 4281715"/>
              <a:gd name="csY3" fmla="*/ 1768922 h 1768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81715" h="1768922">
                <a:moveTo>
                  <a:pt x="0" y="1739893"/>
                </a:moveTo>
                <a:cubicBezTo>
                  <a:pt x="356809" y="1148436"/>
                  <a:pt x="713619" y="556979"/>
                  <a:pt x="1103086" y="288465"/>
                </a:cubicBezTo>
                <a:cubicBezTo>
                  <a:pt x="1492553" y="19951"/>
                  <a:pt x="1807029" y="-117935"/>
                  <a:pt x="2336800" y="128808"/>
                </a:cubicBezTo>
                <a:cubicBezTo>
                  <a:pt x="2866572" y="375551"/>
                  <a:pt x="3574143" y="1072236"/>
                  <a:pt x="4281715" y="176892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819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Данных много. Но данных мало…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BBB4BE21-2603-4775-ADB6-08BF47858F24}"/>
              </a:ext>
            </a:extLst>
          </p:cNvPr>
          <p:cNvSpPr txBox="1">
            <a:spLocks/>
          </p:cNvSpPr>
          <p:nvPr/>
        </p:nvSpPr>
        <p:spPr>
          <a:xfrm>
            <a:off x="201323" y="1519939"/>
            <a:ext cx="3871955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000" dirty="0"/>
              <a:t>Файлы</a:t>
            </a:r>
            <a:r>
              <a:rPr lang="en-US" altLang="ru-RU" sz="2000" dirty="0"/>
              <a:t> </a:t>
            </a:r>
            <a:r>
              <a:rPr lang="ru-RU" altLang="ru-RU" sz="2000" dirty="0"/>
              <a:t>различной структуры</a:t>
            </a:r>
          </a:p>
          <a:p>
            <a:r>
              <a:rPr lang="en-US" altLang="ru-RU" sz="2000" dirty="0"/>
              <a:t>XML/JSON</a:t>
            </a:r>
            <a:r>
              <a:rPr lang="ru-RU" altLang="ru-RU" sz="2000" dirty="0"/>
              <a:t> + </a:t>
            </a:r>
            <a:r>
              <a:rPr lang="en-US" altLang="ru-RU" sz="2000" dirty="0"/>
              <a:t>API</a:t>
            </a:r>
            <a:endParaRPr lang="ru-RU" altLang="ru-RU" sz="2000" dirty="0"/>
          </a:p>
          <a:p>
            <a:r>
              <a:rPr lang="ru-RU" altLang="ru-RU" sz="2000" dirty="0"/>
              <a:t>Телеметрия</a:t>
            </a:r>
            <a:r>
              <a:rPr lang="en-US" altLang="ru-RU" sz="2000" dirty="0"/>
              <a:t> (OPC, </a:t>
            </a:r>
            <a:r>
              <a:rPr lang="en-US" altLang="ru-RU" sz="2000" dirty="0" err="1"/>
              <a:t>snmp</a:t>
            </a:r>
            <a:r>
              <a:rPr lang="en-US" altLang="ru-RU" sz="2000" dirty="0"/>
              <a:t>, </a:t>
            </a:r>
            <a:r>
              <a:rPr lang="en-US" altLang="ru-RU" sz="2000" dirty="0" err="1"/>
              <a:t>modbus</a:t>
            </a:r>
            <a:r>
              <a:rPr lang="en-US" altLang="ru-RU" sz="2000" dirty="0"/>
              <a:t>, syslog)</a:t>
            </a:r>
            <a:endParaRPr lang="ru-RU" altLang="ru-RU" sz="2000" dirty="0"/>
          </a:p>
          <a:p>
            <a:r>
              <a:rPr lang="ru-RU" altLang="ru-RU" sz="2000" dirty="0"/>
              <a:t>Базы данных</a:t>
            </a:r>
            <a:r>
              <a:rPr lang="en-US" altLang="ru-RU" sz="2000" dirty="0"/>
              <a:t> (SQL, </a:t>
            </a:r>
            <a:r>
              <a:rPr lang="en-US" altLang="ru-RU" sz="2000" dirty="0" err="1"/>
              <a:t>noSQL</a:t>
            </a:r>
            <a:r>
              <a:rPr lang="en-US" altLang="ru-RU" sz="2000" dirty="0"/>
              <a:t>)</a:t>
            </a:r>
          </a:p>
          <a:p>
            <a:r>
              <a:rPr lang="en-US" altLang="ru-RU" sz="2000" dirty="0"/>
              <a:t>IoT</a:t>
            </a:r>
          </a:p>
          <a:p>
            <a:r>
              <a:rPr lang="ru-RU" altLang="ru-RU" sz="2000" dirty="0"/>
              <a:t>Физические системы безопасности (СВН, СКУД)</a:t>
            </a:r>
          </a:p>
          <a:p>
            <a:r>
              <a:rPr lang="ru-RU" altLang="ru-RU" sz="2000" dirty="0"/>
              <a:t>Данные из информационных систем</a:t>
            </a:r>
            <a:r>
              <a:rPr lang="en-US" altLang="ru-RU" sz="2000" dirty="0"/>
              <a:t> (CRM, ERP)</a:t>
            </a:r>
            <a:endParaRPr lang="ru-RU" altLang="ru-RU" sz="2000" dirty="0"/>
          </a:p>
          <a:p>
            <a:r>
              <a:rPr lang="ru-RU" altLang="ru-RU" sz="2000" dirty="0"/>
              <a:t>…</a:t>
            </a:r>
            <a:endParaRPr lang="en-US" altLang="ru-RU" sz="2000" dirty="0"/>
          </a:p>
        </p:txBody>
      </p:sp>
      <p:pic>
        <p:nvPicPr>
          <p:cNvPr id="10" name="Рисунок 4">
            <a:extLst>
              <a:ext uri="{FF2B5EF4-FFF2-40B4-BE49-F238E27FC236}">
                <a16:creationId xmlns:a16="http://schemas.microsoft.com/office/drawing/2014/main" id="{7AC9B5E0-F6DE-4AB5-8FAB-F2DDB50FB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448" y="3328194"/>
            <a:ext cx="4700588" cy="216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5">
            <a:extLst>
              <a:ext uri="{FF2B5EF4-FFF2-40B4-BE49-F238E27FC236}">
                <a16:creationId xmlns:a16="http://schemas.microsoft.com/office/drawing/2014/main" id="{FCDE85B7-7F6D-4E80-BC4B-1E994A15B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078" y="4356329"/>
            <a:ext cx="1593850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6">
            <a:extLst>
              <a:ext uri="{FF2B5EF4-FFF2-40B4-BE49-F238E27FC236}">
                <a16:creationId xmlns:a16="http://schemas.microsoft.com/office/drawing/2014/main" id="{CF8B2F26-5361-4488-90AE-48AA0A323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498" y="1032253"/>
            <a:ext cx="5484812" cy="120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2">
            <a:extLst>
              <a:ext uri="{FF2B5EF4-FFF2-40B4-BE49-F238E27FC236}">
                <a16:creationId xmlns:a16="http://schemas.microsoft.com/office/drawing/2014/main" id="{DDB7C5D0-9456-42F9-85AA-F763F899D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648" y="2398854"/>
            <a:ext cx="2977029" cy="13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9688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Особенно мало хороших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B5E9934B-FFF4-4B45-ACE3-BAD19AC420BE}"/>
              </a:ext>
            </a:extLst>
          </p:cNvPr>
          <p:cNvSpPr txBox="1">
            <a:spLocks/>
          </p:cNvSpPr>
          <p:nvPr/>
        </p:nvSpPr>
        <p:spPr>
          <a:xfrm>
            <a:off x="1095375" y="1921669"/>
            <a:ext cx="3333750" cy="3014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400" dirty="0"/>
              <a:t>Очистка от шумов</a:t>
            </a:r>
          </a:p>
          <a:p>
            <a:r>
              <a:rPr lang="ru-RU" altLang="ru-RU" sz="2400" dirty="0"/>
              <a:t>Анализ пиков</a:t>
            </a:r>
          </a:p>
          <a:p>
            <a:r>
              <a:rPr lang="ru-RU" altLang="ru-RU" sz="2400" dirty="0"/>
              <a:t>Регуляризация</a:t>
            </a:r>
          </a:p>
          <a:p>
            <a:r>
              <a:rPr lang="ru-RU" altLang="ru-RU" sz="2400" dirty="0"/>
              <a:t>Приведение типов</a:t>
            </a:r>
          </a:p>
          <a:p>
            <a:r>
              <a:rPr lang="ru-RU" altLang="ru-RU" sz="2400" dirty="0"/>
              <a:t>Прореживание</a:t>
            </a:r>
          </a:p>
          <a:p>
            <a:r>
              <a:rPr lang="ru-RU" altLang="ru-RU" sz="2400" dirty="0"/>
              <a:t>Обогащение</a:t>
            </a:r>
          </a:p>
        </p:txBody>
      </p:sp>
      <p:pic>
        <p:nvPicPr>
          <p:cNvPr id="10" name="image4.png">
            <a:extLst>
              <a:ext uri="{FF2B5EF4-FFF2-40B4-BE49-F238E27FC236}">
                <a16:creationId xmlns:a16="http://schemas.microsoft.com/office/drawing/2014/main" id="{05B412BA-339A-4E2F-BBC3-0A37954D9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875" y="1237004"/>
            <a:ext cx="3897756" cy="281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1">
            <a:extLst>
              <a:ext uri="{FF2B5EF4-FFF2-40B4-BE49-F238E27FC236}">
                <a16:creationId xmlns:a16="http://schemas.microsoft.com/office/drawing/2014/main" id="{DCCB08B6-A4F4-49A8-A399-1F106BC8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322" y="4342725"/>
            <a:ext cx="3957637" cy="184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5127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Что можно делать с данными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1911E992-A783-4615-9C07-413E34B01F15}"/>
              </a:ext>
            </a:extLst>
          </p:cNvPr>
          <p:cNvSpPr txBox="1">
            <a:spLocks/>
          </p:cNvSpPr>
          <p:nvPr/>
        </p:nvSpPr>
        <p:spPr>
          <a:xfrm>
            <a:off x="743210" y="1251752"/>
            <a:ext cx="5352790" cy="5165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dirty="0"/>
              <a:t>Поиск, извлечение, сбор</a:t>
            </a:r>
          </a:p>
          <a:p>
            <a:r>
              <a:rPr lang="ru-RU" altLang="ru-RU" dirty="0"/>
              <a:t>Обработка</a:t>
            </a:r>
          </a:p>
          <a:p>
            <a:r>
              <a:rPr lang="ru-RU" altLang="ru-RU" dirty="0"/>
              <a:t>Передача и хранение</a:t>
            </a:r>
          </a:p>
          <a:p>
            <a:r>
              <a:rPr lang="ru-RU" altLang="ru-RU" dirty="0"/>
              <a:t>Анализ, верификация, исправление ошибок, подготовка к использованию</a:t>
            </a:r>
          </a:p>
          <a:p>
            <a:r>
              <a:rPr lang="ru-RU" altLang="ru-RU" dirty="0"/>
              <a:t>Организация доступа</a:t>
            </a:r>
          </a:p>
          <a:p>
            <a:r>
              <a:rPr lang="ru-RU" altLang="ru-RU" dirty="0"/>
              <a:t>Использование</a:t>
            </a:r>
          </a:p>
          <a:p>
            <a:r>
              <a:rPr lang="ru-RU" altLang="ru-RU" dirty="0"/>
              <a:t>Создание полезного продукта (визуализация, аналитика, автоматизация)</a:t>
            </a:r>
          </a:p>
          <a:p>
            <a:endParaRPr lang="ru-RU" altLang="ru-RU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6493536-D35C-4EAE-9BD3-D9746273E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510" y="1251752"/>
            <a:ext cx="5174282" cy="2444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205F4BD-BECF-439A-9F3E-6C07574B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510" y="3811003"/>
            <a:ext cx="5183855" cy="249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366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01C0-FA7A-3623-C320-711F5F14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D26C56-559A-4EF7-6010-FF64E3A9E94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05BBB0F-A129-4893-83B8-0303916DE418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Задачи обработки данных. </a:t>
            </a:r>
            <a:r>
              <a:rPr lang="en-US" sz="2800" b="1" dirty="0">
                <a:solidFill>
                  <a:srgbClr val="FF0000"/>
                </a:solidFill>
              </a:rPr>
              <a:t>OLTP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0B3DC4-BB4F-B5B3-4AC5-926B80AC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E9599B1-20A6-D3CE-7D71-A0633D2C1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8C29BA26-B7FE-6606-F8A3-1FCB1BCA25FF}"/>
              </a:ext>
            </a:extLst>
          </p:cNvPr>
          <p:cNvSpPr txBox="1">
            <a:spLocks/>
          </p:cNvSpPr>
          <p:nvPr/>
        </p:nvSpPr>
        <p:spPr>
          <a:xfrm>
            <a:off x="534092" y="1960751"/>
            <a:ext cx="6095881" cy="4178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ru-RU" sz="1800" dirty="0"/>
              <a:t>OLTP – Online Transaction Processing, </a:t>
            </a:r>
            <a:r>
              <a:rPr lang="ru-RU" altLang="ru-RU" sz="1800" dirty="0"/>
              <a:t>системы оперативной обработки информации</a:t>
            </a:r>
            <a:endParaRPr lang="en-US" altLang="ru-RU" sz="1800" dirty="0"/>
          </a:p>
          <a:p>
            <a:r>
              <a:rPr lang="ru-RU" altLang="ru-RU" sz="1800" dirty="0"/>
              <a:t>Транзакция – некоторый̆ набор операций над базой̆ данных, который̆ рассматривается как единое завершенное, с точки зрения пользователя, действие над некоторой̆ информацией̆, обычно связанное с обращением к базе данных</a:t>
            </a:r>
          </a:p>
          <a:p>
            <a:r>
              <a:rPr lang="ru-RU" altLang="ru-RU" sz="1800" dirty="0"/>
              <a:t>Ключевые требования</a:t>
            </a:r>
            <a:r>
              <a:rPr lang="en-US" altLang="ru-RU" sz="1800" dirty="0"/>
              <a:t>: </a:t>
            </a:r>
            <a:r>
              <a:rPr lang="ru-RU" altLang="ru-RU" sz="1800" dirty="0"/>
              <a:t>быстрая обработка транзакций, простые алгоритмы работы</a:t>
            </a:r>
          </a:p>
          <a:p>
            <a:r>
              <a:rPr lang="ru-RU" altLang="ru-RU" sz="1800" dirty="0"/>
              <a:t>Ошибки допустимы (обработка в реальном времени)</a:t>
            </a:r>
          </a:p>
          <a:p>
            <a:r>
              <a:rPr lang="ru-RU" altLang="ru-RU" sz="1800" dirty="0"/>
              <a:t>Работа с типовыми запросами (изменение запроса = изменение системы)</a:t>
            </a:r>
            <a:endParaRPr lang="en-US" altLang="ru-RU" sz="1800" dirty="0"/>
          </a:p>
          <a:p>
            <a:r>
              <a:rPr lang="ru-RU" altLang="ru-RU" sz="1800" dirty="0"/>
              <a:t>Большое число абонентов</a:t>
            </a:r>
            <a:endParaRPr lang="en-US" altLang="ru-RU" sz="1800" dirty="0"/>
          </a:p>
          <a:p>
            <a:endParaRPr lang="ru-RU" altLang="ru-RU" sz="1800" dirty="0"/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5D585273-2EA1-0622-1A33-A928FBC71D8F}"/>
              </a:ext>
            </a:extLst>
          </p:cNvPr>
          <p:cNvSpPr/>
          <p:nvPr/>
        </p:nvSpPr>
        <p:spPr>
          <a:xfrm>
            <a:off x="7199086" y="3718719"/>
            <a:ext cx="4458822" cy="100371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данных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4E5510-42AB-0AFE-C9DD-3D94CB551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881" y="2370326"/>
            <a:ext cx="942975" cy="819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84E060-EE29-8615-B31E-79C9CC8AB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252" y="1960751"/>
            <a:ext cx="942975" cy="819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8B392D-50F6-1CEB-3026-DD989A784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623" y="2137383"/>
            <a:ext cx="942975" cy="81915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77BB61-BFE2-92DD-87E6-50697023DCE9}"/>
              </a:ext>
            </a:extLst>
          </p:cNvPr>
          <p:cNvCxnSpPr>
            <a:stCxn id="12" idx="2"/>
          </p:cNvCxnSpPr>
          <p:nvPr/>
        </p:nvCxnSpPr>
        <p:spPr>
          <a:xfrm>
            <a:off x="7461369" y="3189476"/>
            <a:ext cx="471487" cy="5292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1BF8BC-A0F6-1362-2235-E6D16DB28E10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9235739" y="2779901"/>
            <a:ext cx="1" cy="8135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BE039-8A44-CA8E-F406-E295CE0A318C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798629" y="2956533"/>
            <a:ext cx="211482" cy="6369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40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F88B-888D-7A3F-8208-E0BBF036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1691E4A-DDC0-DDB6-78F5-90FFFB7E914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D47832D-1125-CCE8-17EB-2918750A925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Задачи обработки данных. СППР</a:t>
            </a:r>
            <a:r>
              <a:rPr lang="en-US" sz="2800" b="1" dirty="0">
                <a:solidFill>
                  <a:srgbClr val="FF0000"/>
                </a:solidFill>
              </a:rPr>
              <a:t>/BI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D2048-616B-6031-1A63-F2C8ACCE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26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EB204EC-5F87-8D34-A684-8578A4E2A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169664EA-7E41-4F0C-ED41-EBA7C1ED5626}"/>
              </a:ext>
            </a:extLst>
          </p:cNvPr>
          <p:cNvSpPr txBox="1">
            <a:spLocks/>
          </p:cNvSpPr>
          <p:nvPr/>
        </p:nvSpPr>
        <p:spPr>
          <a:xfrm>
            <a:off x="533460" y="1256062"/>
            <a:ext cx="11468218" cy="41787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altLang="ru-RU" sz="1800" dirty="0"/>
              <a:t>СППР</a:t>
            </a:r>
            <a:r>
              <a:rPr lang="en-US" altLang="ru-RU" sz="1800" dirty="0"/>
              <a:t> – </a:t>
            </a:r>
            <a:r>
              <a:rPr lang="ru-RU" altLang="ru-RU" sz="1800" dirty="0"/>
              <a:t>система поддержки принятия решений</a:t>
            </a:r>
          </a:p>
          <a:p>
            <a:r>
              <a:rPr lang="ru-RU" altLang="ru-RU" sz="1800" dirty="0"/>
              <a:t>Аналитическая обработка накопленных данных (произвольные запросы, </a:t>
            </a:r>
            <a:r>
              <a:rPr lang="en-US" altLang="ru-RU" sz="1800" dirty="0"/>
              <a:t>OLAP</a:t>
            </a:r>
            <a:r>
              <a:rPr lang="ru-RU" altLang="ru-RU" sz="1800" dirty="0"/>
              <a:t>-кубы)</a:t>
            </a:r>
          </a:p>
          <a:p>
            <a:r>
              <a:rPr lang="ru-RU" altLang="ru-RU" sz="1800" dirty="0"/>
              <a:t>«Чистые» данные – ошибки недопустимы</a:t>
            </a:r>
          </a:p>
          <a:p>
            <a:r>
              <a:rPr lang="ru-RU" altLang="ru-RU" sz="1800" dirty="0"/>
              <a:t>Сложные запросы на всю глубину накопленных данных </a:t>
            </a:r>
            <a:endParaRPr lang="en-US" altLang="ru-RU" sz="1800" dirty="0"/>
          </a:p>
          <a:p>
            <a:endParaRPr lang="en-US" altLang="ru-RU" sz="1800" dirty="0"/>
          </a:p>
          <a:p>
            <a:endParaRPr lang="ru-RU" altLang="ru-RU" sz="1800" dirty="0"/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EA62AE87-0993-016B-DD0A-58857691241A}"/>
              </a:ext>
            </a:extLst>
          </p:cNvPr>
          <p:cNvSpPr/>
          <p:nvPr/>
        </p:nvSpPr>
        <p:spPr>
          <a:xfrm>
            <a:off x="3004458" y="3995043"/>
            <a:ext cx="2036652" cy="131320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данных </a:t>
            </a:r>
            <a:r>
              <a:rPr lang="en-US" dirty="0"/>
              <a:t>OLTP</a:t>
            </a:r>
            <a:endParaRPr lang="ru-R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5B39E7-E811-B9A7-00C6-72943CD04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890" y="4471468"/>
            <a:ext cx="942975" cy="819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B1AEFF-1934-A28B-5B7B-CB7B62129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891" y="5914572"/>
            <a:ext cx="942975" cy="8191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877A97-76AA-C833-0576-BB4A78A2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733" y="3163822"/>
            <a:ext cx="942975" cy="81915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CE1F9A-A634-EC6C-71D4-D6D31946E47F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498105" y="4651644"/>
            <a:ext cx="506353" cy="3034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E880CE-0DDC-967F-B39A-2AEFDB09D8D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2560866" y="5227702"/>
            <a:ext cx="506353" cy="10964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833441-7035-365E-5BBA-2982E38DB126}"/>
              </a:ext>
            </a:extLst>
          </p:cNvPr>
          <p:cNvCxnSpPr>
            <a:cxnSpLocks/>
          </p:cNvCxnSpPr>
          <p:nvPr/>
        </p:nvCxnSpPr>
        <p:spPr>
          <a:xfrm>
            <a:off x="2560865" y="3918476"/>
            <a:ext cx="443593" cy="3800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Magnetic Disk 28">
            <a:extLst>
              <a:ext uri="{FF2B5EF4-FFF2-40B4-BE49-F238E27FC236}">
                <a16:creationId xmlns:a16="http://schemas.microsoft.com/office/drawing/2014/main" id="{3E479D51-9390-DB0E-40B0-712089DA3686}"/>
              </a:ext>
            </a:extLst>
          </p:cNvPr>
          <p:cNvSpPr/>
          <p:nvPr/>
        </p:nvSpPr>
        <p:spPr>
          <a:xfrm>
            <a:off x="5936556" y="3995043"/>
            <a:ext cx="2036652" cy="131320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Хранилище данных СППР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DFD24C-BE63-FAA4-61E0-E67A41B07946}"/>
              </a:ext>
            </a:extLst>
          </p:cNvPr>
          <p:cNvSpPr/>
          <p:nvPr/>
        </p:nvSpPr>
        <p:spPr>
          <a:xfrm>
            <a:off x="8610600" y="3536270"/>
            <a:ext cx="2055475" cy="961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Оперативный (</a:t>
            </a:r>
            <a:r>
              <a:rPr lang="en-US" dirty="0"/>
              <a:t>OLAP) </a:t>
            </a:r>
            <a:r>
              <a:rPr lang="ru-RU" dirty="0"/>
              <a:t>анализ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109D3A-9621-D202-518D-EC6488A41A91}"/>
              </a:ext>
            </a:extLst>
          </p:cNvPr>
          <p:cNvSpPr/>
          <p:nvPr/>
        </p:nvSpPr>
        <p:spPr>
          <a:xfrm>
            <a:off x="8610600" y="4809886"/>
            <a:ext cx="2036652" cy="961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Интеллектуальный анализ (</a:t>
            </a:r>
            <a:r>
              <a:rPr lang="en-US" dirty="0"/>
              <a:t>Data mining)</a:t>
            </a:r>
            <a:endParaRPr lang="ru-RU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DD8951-CBFC-03E2-4034-1494C218015E}"/>
              </a:ext>
            </a:extLst>
          </p:cNvPr>
          <p:cNvCxnSpPr>
            <a:stCxn id="29" idx="4"/>
            <a:endCxn id="30" idx="1"/>
          </p:cNvCxnSpPr>
          <p:nvPr/>
        </p:nvCxnSpPr>
        <p:spPr>
          <a:xfrm flipV="1">
            <a:off x="7973208" y="4017002"/>
            <a:ext cx="637392" cy="634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F5E58B-D2DD-EE77-EB47-9764B64450BB}"/>
              </a:ext>
            </a:extLst>
          </p:cNvPr>
          <p:cNvCxnSpPr>
            <a:stCxn id="29" idx="4"/>
            <a:endCxn id="31" idx="1"/>
          </p:cNvCxnSpPr>
          <p:nvPr/>
        </p:nvCxnSpPr>
        <p:spPr>
          <a:xfrm>
            <a:off x="7973208" y="4651644"/>
            <a:ext cx="637392" cy="638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2F0745-19EB-BEC8-D49A-873301C5B37C}"/>
              </a:ext>
            </a:extLst>
          </p:cNvPr>
          <p:cNvCxnSpPr>
            <a:stCxn id="5" idx="4"/>
            <a:endCxn id="29" idx="2"/>
          </p:cNvCxnSpPr>
          <p:nvPr/>
        </p:nvCxnSpPr>
        <p:spPr>
          <a:xfrm>
            <a:off x="5041110" y="4651644"/>
            <a:ext cx="895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C3BE2FB5-85B8-5C1B-B906-97B075ED7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703" y="3508901"/>
            <a:ext cx="942975" cy="8191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015B1ED-B7E6-730D-8A46-0F0C13232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704" y="4881043"/>
            <a:ext cx="942975" cy="81915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E361135-3007-2E14-40DD-4714E3126CBA}"/>
              </a:ext>
            </a:extLst>
          </p:cNvPr>
          <p:cNvSpPr/>
          <p:nvPr/>
        </p:nvSpPr>
        <p:spPr>
          <a:xfrm>
            <a:off x="5689600" y="3163822"/>
            <a:ext cx="5254171" cy="31297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одержимое 2">
            <a:extLst>
              <a:ext uri="{FF2B5EF4-FFF2-40B4-BE49-F238E27FC236}">
                <a16:creationId xmlns:a16="http://schemas.microsoft.com/office/drawing/2014/main" id="{DC84F33D-A48D-074E-473F-C6892F236484}"/>
              </a:ext>
            </a:extLst>
          </p:cNvPr>
          <p:cNvSpPr txBox="1">
            <a:spLocks/>
          </p:cNvSpPr>
          <p:nvPr/>
        </p:nvSpPr>
        <p:spPr>
          <a:xfrm>
            <a:off x="5680586" y="3172291"/>
            <a:ext cx="3571768" cy="459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ru-RU" altLang="ru-RU" sz="1800" dirty="0"/>
              <a:t>Аналитическая система (СППР)</a:t>
            </a:r>
            <a:endParaRPr lang="en-US" altLang="ru-RU" sz="1800" dirty="0"/>
          </a:p>
          <a:p>
            <a:endParaRPr lang="ru-RU" altLang="ru-RU" sz="18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01EF1F-D3B4-2BC1-DF9C-33E5B5B852A1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10639026" y="3918476"/>
            <a:ext cx="419677" cy="985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BD1356F-1BCF-C8B2-5637-70A52B131F38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10647252" y="5290618"/>
            <a:ext cx="4114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16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Прочитать «роман» в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2" name="Содержимое 2">
            <a:extLst>
              <a:ext uri="{FF2B5EF4-FFF2-40B4-BE49-F238E27FC236}">
                <a16:creationId xmlns:a16="http://schemas.microsoft.com/office/drawing/2014/main" id="{06E6E911-FD56-490A-ADC0-1CE16AA0B424}"/>
              </a:ext>
            </a:extLst>
          </p:cNvPr>
          <p:cNvSpPr txBox="1">
            <a:spLocks/>
          </p:cNvSpPr>
          <p:nvPr/>
        </p:nvSpPr>
        <p:spPr>
          <a:xfrm>
            <a:off x="279400" y="1417638"/>
            <a:ext cx="32004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2400" dirty="0"/>
              <a:t>Разведка </a:t>
            </a:r>
            <a:r>
              <a:rPr lang="en-US" altLang="ru-RU" sz="2400" dirty="0"/>
              <a:t>EDA</a:t>
            </a:r>
            <a:endParaRPr lang="ru-RU" altLang="ru-RU" sz="2400" dirty="0"/>
          </a:p>
          <a:p>
            <a:r>
              <a:rPr lang="ru-RU" altLang="ru-RU" sz="2400" dirty="0"/>
              <a:t>Выявление скрытых закономерностей</a:t>
            </a:r>
            <a:endParaRPr lang="en-US" altLang="ru-RU" sz="2400" dirty="0"/>
          </a:p>
          <a:p>
            <a:r>
              <a:rPr lang="ru-RU" altLang="ru-RU" sz="2400" dirty="0"/>
              <a:t>Определение ключевых характеристик</a:t>
            </a:r>
          </a:p>
          <a:p>
            <a:r>
              <a:rPr lang="ru-RU" altLang="ru-RU" sz="2400" dirty="0"/>
              <a:t>Поиск взаимосвязей (корреляции)</a:t>
            </a:r>
          </a:p>
          <a:p>
            <a:r>
              <a:rPr lang="ru-RU" altLang="ru-RU" sz="2400" dirty="0"/>
              <a:t>Оптимизация, машинное обучение</a:t>
            </a:r>
          </a:p>
        </p:txBody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BF4FCB66-61BA-405D-A89E-0273F776C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06" y="1348096"/>
            <a:ext cx="3200400" cy="448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3">
            <a:extLst>
              <a:ext uri="{FF2B5EF4-FFF2-40B4-BE49-F238E27FC236}">
                <a16:creationId xmlns:a16="http://schemas.microsoft.com/office/drawing/2014/main" id="{2D44B70E-2FBD-4CB4-8C4B-C07BDC939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014" y="4393482"/>
            <a:ext cx="39719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4">
            <a:extLst>
              <a:ext uri="{FF2B5EF4-FFF2-40B4-BE49-F238E27FC236}">
                <a16:creationId xmlns:a16="http://schemas.microsoft.com/office/drawing/2014/main" id="{44FDF789-85A8-475E-B6EB-0E21E438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521" y="1191551"/>
            <a:ext cx="3592465" cy="303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8554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Посмотреть «картину» или «фильм» с данными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C7924E1C-C155-4F29-9BF9-02F29C8B51F8}"/>
              </a:ext>
            </a:extLst>
          </p:cNvPr>
          <p:cNvSpPr txBox="1">
            <a:spLocks/>
          </p:cNvSpPr>
          <p:nvPr/>
        </p:nvSpPr>
        <p:spPr>
          <a:xfrm>
            <a:off x="937334" y="1187490"/>
            <a:ext cx="473194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dirty="0"/>
              <a:t>Графики</a:t>
            </a:r>
          </a:p>
          <a:p>
            <a:r>
              <a:rPr lang="ru-RU" altLang="ru-RU" dirty="0"/>
              <a:t>Гистограммы</a:t>
            </a:r>
          </a:p>
          <a:p>
            <a:r>
              <a:rPr lang="ru-RU" altLang="ru-RU" dirty="0"/>
              <a:t>Сводные таблицы</a:t>
            </a:r>
          </a:p>
          <a:p>
            <a:r>
              <a:rPr lang="ru-RU" altLang="ru-RU" dirty="0"/>
              <a:t>Фильтры</a:t>
            </a:r>
          </a:p>
          <a:p>
            <a:r>
              <a:rPr lang="ru-RU" altLang="ru-RU" dirty="0"/>
              <a:t>Динамические </a:t>
            </a:r>
            <a:r>
              <a:rPr lang="ru-RU" altLang="ru-RU" dirty="0" err="1"/>
              <a:t>дашборды</a:t>
            </a:r>
            <a:endParaRPr lang="ru-RU" altLang="ru-RU" dirty="0"/>
          </a:p>
        </p:txBody>
      </p:sp>
      <p:pic>
        <p:nvPicPr>
          <p:cNvPr id="8" name="Рисунок 2">
            <a:extLst>
              <a:ext uri="{FF2B5EF4-FFF2-40B4-BE49-F238E27FC236}">
                <a16:creationId xmlns:a16="http://schemas.microsoft.com/office/drawing/2014/main" id="{F1EA5D88-0CFF-4C82-9FC9-ABB6AEE5F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130" y="1177320"/>
            <a:ext cx="1733550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3">
            <a:extLst>
              <a:ext uri="{FF2B5EF4-FFF2-40B4-BE49-F238E27FC236}">
                <a16:creationId xmlns:a16="http://schemas.microsoft.com/office/drawing/2014/main" id="{321BAED2-9CBA-4BF4-95F5-A1085F6DB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355" y="1177320"/>
            <a:ext cx="1733550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4">
            <a:extLst>
              <a:ext uri="{FF2B5EF4-FFF2-40B4-BE49-F238E27FC236}">
                <a16:creationId xmlns:a16="http://schemas.microsoft.com/office/drawing/2014/main" id="{CB459568-C7EC-4016-BF4D-BAE31E9E9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293" y="2604482"/>
            <a:ext cx="173355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Рисунок 5">
            <a:extLst>
              <a:ext uri="{FF2B5EF4-FFF2-40B4-BE49-F238E27FC236}">
                <a16:creationId xmlns:a16="http://schemas.microsoft.com/office/drawing/2014/main" id="{12076075-5B03-462E-8811-BC1F932E3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355" y="2475895"/>
            <a:ext cx="1387475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Прямоугольник 8">
            <a:extLst>
              <a:ext uri="{FF2B5EF4-FFF2-40B4-BE49-F238E27FC236}">
                <a16:creationId xmlns:a16="http://schemas.microsoft.com/office/drawing/2014/main" id="{D2C3666A-DEF6-4C77-BCAB-174B8FFA7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56" y="5828810"/>
            <a:ext cx="2224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https://grafana.com/</a:t>
            </a:r>
          </a:p>
        </p:txBody>
      </p:sp>
      <p:pic>
        <p:nvPicPr>
          <p:cNvPr id="15" name="Рисунок 9">
            <a:extLst>
              <a:ext uri="{FF2B5EF4-FFF2-40B4-BE49-F238E27FC236}">
                <a16:creationId xmlns:a16="http://schemas.microsoft.com/office/drawing/2014/main" id="{BB89BE86-883D-4BF8-9346-2FE2EDECE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05" y="3914170"/>
            <a:ext cx="3733800" cy="229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1738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Развитие СППР – цифровые двойники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C2D51-7396-4F4C-9E9F-470AB2B79FA6}"/>
              </a:ext>
            </a:extLst>
          </p:cNvPr>
          <p:cNvSpPr txBox="1"/>
          <p:nvPr/>
        </p:nvSpPr>
        <p:spPr>
          <a:xfrm>
            <a:off x="362720" y="941765"/>
            <a:ext cx="6909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Цифровая копия объекта позволяет не только анализировать текущие тренды, но и отрабатывать комплексные сценарии «что – если»</a:t>
            </a:r>
            <a:endParaRPr lang="en-US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DDCE6B-FD28-4E8C-B5CF-007BFFD76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76" y="1417796"/>
            <a:ext cx="3854204" cy="4308977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400880-D39D-4ADA-99DA-4F46B77AA30A}"/>
              </a:ext>
            </a:extLst>
          </p:cNvPr>
          <p:cNvSpPr/>
          <p:nvPr/>
        </p:nvSpPr>
        <p:spPr>
          <a:xfrm>
            <a:off x="8593824" y="5746777"/>
            <a:ext cx="29432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11111"/>
                </a:solidFill>
                <a:latin typeface="Roboto"/>
                <a:cs typeface="Times New Roman" panose="02020603050405020304" pitchFamily="18" charset="0"/>
              </a:rPr>
              <a:t>https://itrust.sutd.edu.sg </a:t>
            </a:r>
            <a:endParaRPr lang="ru-RU" dirty="0">
              <a:solidFill>
                <a:srgbClr val="111111"/>
              </a:solidFill>
              <a:latin typeface="Roboto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D897FA-E8A5-4751-858C-1D92C5CFE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20" y="2727421"/>
            <a:ext cx="7420560" cy="341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75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243150" y="2307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Уже почти все… Давайте подведем краткие итоги…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618EC86C-9A58-4647-B7FB-0BD4EF13EB60}"/>
              </a:ext>
            </a:extLst>
          </p:cNvPr>
          <p:cNvSpPr txBox="1">
            <a:spLocks/>
          </p:cNvSpPr>
          <p:nvPr/>
        </p:nvSpPr>
        <p:spPr>
          <a:xfrm>
            <a:off x="741355" y="1455509"/>
            <a:ext cx="10612445" cy="4900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dirty="0"/>
              <a:t>Данные окружают нас повсюду, НО не из каждого набора данных можно извлечь пользу</a:t>
            </a:r>
          </a:p>
          <a:p>
            <a:r>
              <a:rPr lang="ru-RU" altLang="ru-RU" dirty="0"/>
              <a:t>Во многих задачах (в т.ч. в информационной безопасности) разумная автоматизация позволяет решать задачи эффективнее, быстрее точнее</a:t>
            </a:r>
          </a:p>
          <a:p>
            <a:r>
              <a:rPr lang="ru-RU" altLang="ru-RU" dirty="0"/>
              <a:t>Существует множество готовых инструментов и библиотек для решения почти каждой задачи, но надо понимать границы их применения</a:t>
            </a:r>
          </a:p>
          <a:p>
            <a:r>
              <a:rPr lang="ru-RU" altLang="ru-RU" dirty="0"/>
              <a:t>ИИ это «</a:t>
            </a:r>
            <a:r>
              <a:rPr lang="ru-RU" altLang="ru-RU" dirty="0" err="1"/>
              <a:t>хайп</a:t>
            </a:r>
            <a:r>
              <a:rPr lang="ru-RU" altLang="ru-RU" dirty="0"/>
              <a:t>», но незаметно проникает почти везде</a:t>
            </a:r>
            <a:endParaRPr lang="en-US" altLang="ru-RU" dirty="0"/>
          </a:p>
          <a:p>
            <a:r>
              <a:rPr lang="ru-RU" altLang="ru-RU" dirty="0"/>
              <a:t>Часто и быстро появляются новые технологии (например, </a:t>
            </a:r>
            <a:r>
              <a:rPr lang="en-US" altLang="ru-RU" dirty="0"/>
              <a:t>LLM, </a:t>
            </a:r>
            <a:r>
              <a:rPr lang="ru-RU" altLang="ru-RU" dirty="0"/>
              <a:t>ИИ-агенты), влияние которых нельзя недооценивать</a:t>
            </a:r>
          </a:p>
        </p:txBody>
      </p:sp>
    </p:spTree>
    <p:extLst>
      <p:ext uri="{BB962C8B-B14F-4D97-AF65-F5344CB8AC3E}">
        <p14:creationId xmlns:p14="http://schemas.microsoft.com/office/powerpoint/2010/main" val="3891917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Что понадобится для эффективного прохождения курса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618EC86C-9A58-4647-B7FB-0BD4EF13EB60}"/>
              </a:ext>
            </a:extLst>
          </p:cNvPr>
          <p:cNvSpPr txBox="1">
            <a:spLocks/>
          </p:cNvSpPr>
          <p:nvPr/>
        </p:nvSpPr>
        <p:spPr>
          <a:xfrm>
            <a:off x="925620" y="1396069"/>
            <a:ext cx="10496067" cy="5282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ru-RU" sz="1800" dirty="0"/>
              <a:t>Математика: линейная алгебра (векторы, матрицы), математический анализ (производные, градиент, ряды, оптимизация функций), теория вероятности и статистика (вероятность, случайные величины и их характеристики, корреляция, статистические распределения)</a:t>
            </a:r>
          </a:p>
          <a:p>
            <a:r>
              <a:rPr lang="ru-RU" altLang="ru-RU" sz="1800" dirty="0"/>
              <a:t>Программирование</a:t>
            </a:r>
            <a:r>
              <a:rPr lang="en-US" altLang="ru-RU" sz="1800" dirty="0"/>
              <a:t>: python</a:t>
            </a:r>
            <a:r>
              <a:rPr lang="ru-RU" altLang="ru-RU" sz="1800" dirty="0"/>
              <a:t> и библиотеки</a:t>
            </a:r>
          </a:p>
          <a:p>
            <a:r>
              <a:rPr lang="ru-RU" altLang="ru-RU" sz="1800" dirty="0"/>
              <a:t>Инструменты для работы с данными</a:t>
            </a:r>
          </a:p>
          <a:p>
            <a:r>
              <a:rPr lang="ru-RU" altLang="ru-RU" sz="1800" dirty="0"/>
              <a:t>Английский язык</a:t>
            </a:r>
          </a:p>
          <a:p>
            <a:r>
              <a:rPr lang="ru-RU" altLang="ru-RU" sz="1800" dirty="0"/>
              <a:t>Предметная область: сети передачи данных, операционные системы, информационная безопасность</a:t>
            </a:r>
          </a:p>
          <a:p>
            <a:r>
              <a:rPr lang="ru-RU" altLang="ru-RU" sz="1800" dirty="0"/>
              <a:t>Любознательность и здравый смысл</a:t>
            </a:r>
            <a:endParaRPr lang="en-US" altLang="ru-RU" sz="1800" dirty="0"/>
          </a:p>
          <a:p>
            <a:r>
              <a:rPr lang="ru-RU" altLang="ru-RU" sz="1800" dirty="0"/>
              <a:t>Полезные ресурсы (стоит зарегистрироваться)</a:t>
            </a:r>
            <a:r>
              <a:rPr lang="en-US" altLang="ru-RU" sz="1800" dirty="0"/>
              <a:t>:</a:t>
            </a:r>
          </a:p>
          <a:p>
            <a:pPr lvl="1"/>
            <a:r>
              <a:rPr lang="en-US" altLang="ru-RU" sz="1800" dirty="0">
                <a:hlinkClick r:id="rId4"/>
              </a:rPr>
              <a:t>https://www.kaggle.com/</a:t>
            </a:r>
            <a:r>
              <a:rPr lang="en-US" altLang="ru-RU" sz="1800" dirty="0"/>
              <a:t> - </a:t>
            </a:r>
            <a:r>
              <a:rPr lang="ru-RU" altLang="ru-RU" sz="1800" dirty="0"/>
              <a:t>платформа для обучения </a:t>
            </a:r>
            <a:r>
              <a:rPr lang="en-US" altLang="ru-RU" sz="1800" dirty="0"/>
              <a:t>ML </a:t>
            </a:r>
            <a:r>
              <a:rPr lang="ru-RU" altLang="ru-RU" sz="1800" dirty="0"/>
              <a:t>и участия в соревнованиях по анализу данных</a:t>
            </a:r>
          </a:p>
          <a:p>
            <a:pPr lvl="1"/>
            <a:r>
              <a:rPr lang="en-US" altLang="ru-RU" sz="1800" dirty="0">
                <a:hlinkClick r:id="rId5"/>
              </a:rPr>
              <a:t>https://colab.research.google.com/</a:t>
            </a:r>
            <a:r>
              <a:rPr lang="ru-RU" altLang="ru-RU" sz="1800" dirty="0"/>
              <a:t> - бесплатное облачное решение для анализа данных (по типу </a:t>
            </a:r>
            <a:r>
              <a:rPr lang="en-US" altLang="ru-RU" sz="1800" dirty="0" err="1"/>
              <a:t>Jupyter</a:t>
            </a:r>
            <a:r>
              <a:rPr lang="en-US" altLang="ru-RU" sz="1800" dirty="0"/>
              <a:t> Notebook)</a:t>
            </a:r>
          </a:p>
          <a:p>
            <a:pPr lvl="1"/>
            <a:r>
              <a:rPr lang="en-US" altLang="ru-RU" sz="1800" dirty="0">
                <a:hlinkClick r:id="rId6"/>
              </a:rPr>
              <a:t>https://console.yandex.cloud/</a:t>
            </a:r>
            <a:r>
              <a:rPr lang="en-US" altLang="ru-RU" sz="1800" dirty="0"/>
              <a:t> - </a:t>
            </a:r>
            <a:r>
              <a:rPr lang="ru-RU" altLang="ru-RU" sz="1800" dirty="0"/>
              <a:t>облачная платформа, где можно получить немного бесплатного ресурса (если еще не регистрировались)</a:t>
            </a:r>
            <a:endParaRPr lang="en-US" altLang="ru-RU" sz="1800" dirty="0"/>
          </a:p>
          <a:p>
            <a:pPr lvl="1"/>
            <a:r>
              <a:rPr lang="en-US" altLang="ru-RU" sz="1800" dirty="0">
                <a:hlinkClick r:id="rId7"/>
              </a:rPr>
              <a:t>https://chat.deepseek.com/</a:t>
            </a:r>
            <a:r>
              <a:rPr lang="en-US" altLang="ru-RU" sz="1800" dirty="0"/>
              <a:t> - </a:t>
            </a:r>
            <a:r>
              <a:rPr lang="ru-RU" altLang="ru-RU" sz="1800" dirty="0"/>
              <a:t>бесплатная </a:t>
            </a:r>
            <a:r>
              <a:rPr lang="en-US" altLang="ru-RU" sz="1800" dirty="0"/>
              <a:t>LLM </a:t>
            </a:r>
            <a:r>
              <a:rPr lang="ru-RU" altLang="ru-RU" sz="1800" dirty="0"/>
              <a:t>со свободным доступом с территории РФ</a:t>
            </a:r>
          </a:p>
        </p:txBody>
      </p:sp>
    </p:spTree>
    <p:extLst>
      <p:ext uri="{BB962C8B-B14F-4D97-AF65-F5344CB8AC3E}">
        <p14:creationId xmlns:p14="http://schemas.microsoft.com/office/powerpoint/2010/main" val="2089905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603100" y="1878519"/>
            <a:ext cx="592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pic>
        <p:nvPicPr>
          <p:cNvPr id="7" name="Объект 1">
            <a:extLst>
              <a:ext uri="{FF2B5EF4-FFF2-40B4-BE49-F238E27FC236}">
                <a16:creationId xmlns:a16="http://schemas.microsoft.com/office/drawing/2014/main" id="{3D7E922A-E574-C847-BA5B-E66D8477CB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1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9523</TotalTime>
  <Words>1582</Words>
  <Application>Microsoft Office PowerPoint</Application>
  <PresentationFormat>Widescreen</PresentationFormat>
  <Paragraphs>278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Georgia</vt:lpstr>
      <vt:lpstr>Golos Text</vt:lpstr>
      <vt:lpstr>Roboto</vt:lpstr>
      <vt:lpstr>Tahoma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Михайлович Грязнов</dc:creator>
  <cp:lastModifiedBy>Николай Домуховский</cp:lastModifiedBy>
  <cp:revision>274</cp:revision>
  <dcterms:created xsi:type="dcterms:W3CDTF">2020-07-22T09:29:31Z</dcterms:created>
  <dcterms:modified xsi:type="dcterms:W3CDTF">2026-02-10T21:29:12Z</dcterms:modified>
</cp:coreProperties>
</file>